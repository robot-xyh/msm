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669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15B82"/>
                </a:solidFill>
                <a:latin typeface="Noto Sans CJK SC"/>
              </a:defRPr>
            </a:pPr>
            <a:r>
              <a:t>MSM 反无人机多无人机拦截科研仿真项目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4864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000" b="1">
                <a:solidFill>
                  <a:srgbClr val="1C2733"/>
                </a:solidFill>
                <a:latin typeface="Noto Sans CJK SC"/>
              </a:defRPr>
            </a:pPr>
            <a:r>
              <a:t>多无人机反无人机拦截体系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47548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0">
                <a:solidFill>
                  <a:srgbClr val="596673"/>
                </a:solidFill>
                <a:latin typeface="Noto Sans CJK SC"/>
              </a:defRPr>
            </a:pPr>
            <a:r>
              <a:t>阶段技术方案与仿真验证汇报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432304"/>
            <a:ext cx="777240" cy="54864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926080"/>
            <a:ext cx="4846320" cy="1965960"/>
          </a:xfrm>
          <a:prstGeom prst="rect">
            <a:avLst/>
          </a:prstGeom>
          <a:solidFill>
            <a:srgbClr val="F6F7F8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汇报范围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3127248"/>
            <a:ext cx="3383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总体架构、D1-D7 模块、AirSim 验证、下一阶段计划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19856"/>
            <a:ext cx="434340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当前阶段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3529584"/>
            <a:ext cx="3383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P1 性能收敛：2v2 闭合，M5N2 协同仍需标定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22191"/>
            <a:ext cx="434340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验证环境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931920"/>
            <a:ext cx="3383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质点模型 + AirSim ComputerVision / SimpleFlight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224528"/>
            <a:ext cx="434340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3425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汇报日期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334256"/>
            <a:ext cx="3383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2026 年 7 月 13 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658368"/>
            <a:ext cx="5486400" cy="5394960"/>
          </a:xfrm>
          <a:prstGeom prst="rect">
            <a:avLst/>
          </a:prstGeom>
          <a:solidFill>
            <a:srgbClr val="F7F9F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932688"/>
            <a:ext cx="18288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体系运行闭环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960120"/>
            <a:ext cx="2788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中心主控 · 二级连续 · 分布式保底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554480"/>
            <a:ext cx="2057400" cy="91440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65506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28777C"/>
                </a:solidFill>
                <a:latin typeface="Noto Sans CJK SC"/>
              </a:defRPr>
            </a:pPr>
            <a:r>
              <a:t>地面雷达 / 多源观测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1975104"/>
            <a:ext cx="1911095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位置、速度、协方差</a:t>
            </a:r>
            <a:br/>
            <a:r>
              <a:t>双时间戳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554480"/>
            <a:ext cx="2057400" cy="91440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165506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315B82"/>
                </a:solidFill>
                <a:latin typeface="Noto Sans CJK SC"/>
              </a:defRPr>
            </a:pPr>
            <a:r>
              <a:t>中心 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1975104"/>
            <a:ext cx="1911095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融合、关联、分配</a:t>
            </a:r>
            <a:br/>
            <a:r>
              <a:t>授权与审计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58200" y="2011680"/>
            <a:ext cx="484632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80960" y="2926080"/>
            <a:ext cx="2240280" cy="960120"/>
          </a:xfrm>
          <a:prstGeom prst="rect">
            <a:avLst/>
          </a:prstGeom>
          <a:solidFill>
            <a:srgbClr val="EFECF2"/>
          </a:solidFill>
          <a:ln w="2032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3026664"/>
            <a:ext cx="20939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62556F"/>
                </a:solidFill>
                <a:latin typeface="Noto Sans CJK SC"/>
              </a:defRPr>
            </a:pPr>
            <a:r>
              <a:t>机动高空侦察节点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3346704"/>
            <a:ext cx="20939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区域光电、通信中继</a:t>
            </a:r>
            <a:br/>
            <a:r>
              <a:t>中心失效后二级接管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326880" y="2514600"/>
            <a:ext cx="685800" cy="338328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006840" y="4434840"/>
            <a:ext cx="2057400" cy="96012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453542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477358"/>
                </a:solidFill>
                <a:latin typeface="Noto Sans CJK SC"/>
              </a:defRPr>
            </a:pPr>
            <a:r>
              <a:t>拦截无人机集群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4855464"/>
            <a:ext cx="1911095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D5 末端配准</a:t>
            </a:r>
            <a:br/>
            <a:r>
              <a:t>D7 位置 PN → 视觉 PNG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434840"/>
            <a:ext cx="1737360" cy="96012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535424"/>
            <a:ext cx="15910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A83B3B"/>
                </a:solidFill>
                <a:latin typeface="Noto Sans CJK SC"/>
              </a:defRPr>
            </a:pPr>
            <a:r>
              <a:t>目标群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855464"/>
            <a:ext cx="159105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交叉、机动、遮挡</a:t>
            </a:r>
            <a:br/>
            <a:r>
              <a:t>高威胁 M 对 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21040" y="4919472"/>
            <a:ext cx="621792" cy="0"/>
          </a:xfrm>
          <a:prstGeom prst="line">
            <a:avLst/>
          </a:prstGeom>
          <a:ln w="17780">
            <a:solidFill>
              <a:srgbClr val="A8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23960" y="3931920"/>
            <a:ext cx="640080" cy="438912"/>
          </a:xfrm>
          <a:prstGeom prst="line">
            <a:avLst/>
          </a:prstGeom>
          <a:ln w="15240">
            <a:solidFill>
              <a:srgbClr val="4773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400800" y="5596128"/>
            <a:ext cx="461772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623560"/>
            <a:ext cx="452628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30" b="1">
                <a:solidFill>
                  <a:srgbClr val="315B82"/>
                </a:solidFill>
                <a:latin typeface="Noto Sans CJK SC"/>
              </a:defRPr>
            </a:pPr>
            <a:r>
              <a:t>统一 GlobalTrack / AssignmentPlan / 版本与身份门控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80760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说明：本项目处于科研仿真阶段，不涉及实装处置与自动授权。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项目概况与阶段结论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本页数据均来自当前代码、模块测试和 AirSim 运行产物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9202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1. 项目概况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6400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" y="1975104"/>
            <a:ext cx="1234440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3664" y="1975104"/>
            <a:ext cx="5148072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0241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建设目标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112264"/>
            <a:ext cx="4800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建立多目标、多资源、可降级的反无人机拦截科研仿真体系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2578608"/>
            <a:ext cx="12344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83664" y="2578608"/>
            <a:ext cx="514807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43200"/>
            <a:ext cx="10241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系统组成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2715768"/>
            <a:ext cx="4800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中心 C2、高空侦察二级节点、拦截无人机集群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" y="3182112"/>
            <a:ext cx="1234440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664" y="3182112"/>
            <a:ext cx="5148072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46704"/>
            <a:ext cx="10241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技术主线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3319272"/>
            <a:ext cx="4800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多源融合、目标关联、动态分配、降级协同、视觉配准、比例导引、统一评估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" y="3785616"/>
            <a:ext cx="12344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83664" y="3785616"/>
            <a:ext cx="514807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50208"/>
            <a:ext cx="10241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运行方式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922776"/>
            <a:ext cx="4800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正常中心化；中心失效后由二级节点接管；二级失效后完全分布式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" y="4389120"/>
            <a:ext cx="1234440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83664" y="4389120"/>
            <a:ext cx="5148072" cy="585216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553712"/>
            <a:ext cx="10241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验证方式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9968" y="4526280"/>
            <a:ext cx="4800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C2733"/>
                </a:solidFill>
                <a:latin typeface="Noto Sans CJK SC"/>
              </a:defRPr>
            </a:pPr>
            <a:r>
              <a:t>质点模型验证算法闭环；AirSim 验证接口、视觉、状态机与 SimpleFlight 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572768"/>
            <a:ext cx="19202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2. 阶段状态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1965960"/>
            <a:ext cx="4160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2039112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模块与运行时回归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039112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1169 通过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304288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2459736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严格 crossing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45973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IDSW -54.6%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2724912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1231" y="2880360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D4 故障矩阵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2880360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60/60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3145536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1231" y="3300984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2v2 PNG-TTC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3300984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20/20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800" y="3566160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1231" y="3721608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M5N2 最佳联盟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5248" y="3721608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5/10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3986784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1231" y="4142232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原生 MOT 准入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5248" y="4142232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0 个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800" y="4407408"/>
            <a:ext cx="370332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1" y="4562856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P0 安全违规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4562856"/>
            <a:ext cx="12344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62556F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5349240"/>
            <a:ext cx="10881360" cy="658368"/>
          </a:xfrm>
          <a:prstGeom prst="rect">
            <a:avLst/>
          </a:prstGeom>
          <a:solidFill>
            <a:srgbClr val="F2F4F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53212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15B82"/>
                </a:solidFill>
                <a:latin typeface="Noto Sans CJK SC"/>
              </a:defRPr>
            </a:pPr>
            <a:r>
              <a:t>下一阶段主任务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5504688"/>
            <a:ext cx="85496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把第二 primary 的持续获取与 D5 锁定率提升到可支撑 M5N2 联盟 8/10。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任务场景与主要工程问题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目标多、链路异步、末端视场复杂，同时需要考虑中心节点失效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A83B3B"/>
                </a:solidFill>
                <a:latin typeface="Noto Sans CJK SC"/>
              </a:defRPr>
            </a:pPr>
            <a:r>
              <a:t>威胁侧</a:t>
            </a:r>
          </a:p>
        </p:txBody>
      </p:sp>
      <p:sp>
        <p:nvSpPr>
          <p:cNvPr id="8" name="Hexagon 7"/>
          <p:cNvSpPr/>
          <p:nvPr/>
        </p:nvSpPr>
        <p:spPr>
          <a:xfrm>
            <a:off x="914400" y="2194560"/>
            <a:ext cx="566928" cy="420624"/>
          </a:xfrm>
          <a:prstGeom prst="hexagon">
            <a:avLst/>
          </a:prstGeom>
          <a:solidFill>
            <a:srgbClr val="A83B3B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T1</a:t>
            </a:r>
          </a:p>
        </p:txBody>
      </p:sp>
      <p:sp>
        <p:nvSpPr>
          <p:cNvPr id="10" name="Hexagon 9"/>
          <p:cNvSpPr/>
          <p:nvPr/>
        </p:nvSpPr>
        <p:spPr>
          <a:xfrm>
            <a:off x="1417320" y="2971800"/>
            <a:ext cx="566928" cy="420624"/>
          </a:xfrm>
          <a:prstGeom prst="hexagon">
            <a:avLst/>
          </a:prstGeom>
          <a:solidFill>
            <a:srgbClr val="A83B3B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05409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T2</a:t>
            </a:r>
          </a:p>
        </p:txBody>
      </p:sp>
      <p:sp>
        <p:nvSpPr>
          <p:cNvPr id="12" name="Hexagon 11"/>
          <p:cNvSpPr/>
          <p:nvPr/>
        </p:nvSpPr>
        <p:spPr>
          <a:xfrm>
            <a:off x="841248" y="3840480"/>
            <a:ext cx="566928" cy="420624"/>
          </a:xfrm>
          <a:prstGeom prst="hexagon">
            <a:avLst/>
          </a:prstGeom>
          <a:solidFill>
            <a:srgbClr val="A83B3B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2277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T3</a:t>
            </a:r>
          </a:p>
        </p:txBody>
      </p:sp>
      <p:sp>
        <p:nvSpPr>
          <p:cNvPr id="14" name="Hexagon 13"/>
          <p:cNvSpPr/>
          <p:nvPr/>
        </p:nvSpPr>
        <p:spPr>
          <a:xfrm>
            <a:off x="1600200" y="4480560"/>
            <a:ext cx="566928" cy="420624"/>
          </a:xfrm>
          <a:prstGeom prst="hexagon">
            <a:avLst/>
          </a:prstGeom>
          <a:solidFill>
            <a:srgbClr val="A83B3B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56285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T4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20640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多目标交叉 / 机动 / 遮挡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828800"/>
            <a:ext cx="1920240" cy="123444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1929384"/>
            <a:ext cx="17739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中心节点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249424"/>
            <a:ext cx="1773936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全局航迹</a:t>
            </a:r>
            <a:br/>
            <a:r>
              <a:t>统一分配</a:t>
            </a:r>
            <a:br/>
            <a:r>
              <a:t>授权与审计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977639"/>
            <a:ext cx="1920240" cy="123444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4078224"/>
            <a:ext cx="17739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高空侦察节点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4398264"/>
            <a:ext cx="1773936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全局光电视野</a:t>
            </a:r>
            <a:br/>
            <a:r>
              <a:t>二级接管</a:t>
            </a:r>
            <a:br/>
            <a:r>
              <a:t>区域视频/数据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60020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477358"/>
                </a:solidFill>
                <a:latin typeface="Noto Sans CJK SC"/>
              </a:defRPr>
            </a:pPr>
            <a:r>
              <a:t>拦截资源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2148840"/>
            <a:ext cx="1325880" cy="713232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2249424"/>
            <a:ext cx="11795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INT-1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569464"/>
            <a:ext cx="11795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雷达中段 PN</a:t>
            </a:r>
            <a:br/>
            <a:r>
              <a:t>相机末端 PNG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697480"/>
            <a:ext cx="1325880" cy="713232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2798064"/>
            <a:ext cx="11795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INT-2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3118104"/>
            <a:ext cx="11795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雷达中段 PN</a:t>
            </a:r>
            <a:br/>
            <a:r>
              <a:t>相机末端 PNG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49039"/>
            <a:ext cx="1325880" cy="713232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849624"/>
            <a:ext cx="11795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INT-3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169663"/>
            <a:ext cx="11795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雷达中段 PN</a:t>
            </a:r>
            <a:br/>
            <a:r>
              <a:t>相机末端 PNG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4389120"/>
            <a:ext cx="1325880" cy="713232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4489704"/>
            <a:ext cx="11795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INT-4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4809744"/>
            <a:ext cx="11795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雷达中段 PN</a:t>
            </a:r>
            <a:br/>
            <a:r>
              <a:t>相机末端 PNG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2240280" y="2468880"/>
            <a:ext cx="2377440" cy="822960"/>
          </a:xfrm>
          <a:prstGeom prst="line">
            <a:avLst/>
          </a:prstGeom>
          <a:ln w="19050">
            <a:solidFill>
              <a:srgbClr val="A8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75120" y="2468880"/>
            <a:ext cx="1508759" cy="457200"/>
          </a:xfrm>
          <a:prstGeom prst="line">
            <a:avLst/>
          </a:prstGeom>
          <a:ln w="19050">
            <a:solidFill>
              <a:srgbClr val="315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75120" y="4160520"/>
            <a:ext cx="1508759" cy="320040"/>
          </a:xfrm>
          <a:prstGeom prst="line">
            <a:avLst/>
          </a:prstGeom>
          <a:ln w="19050">
            <a:solidFill>
              <a:srgbClr val="287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69280" y="3090672"/>
            <a:ext cx="0" cy="795528"/>
          </a:xfrm>
          <a:prstGeom prst="line">
            <a:avLst/>
          </a:prstGeom>
          <a:ln w="15240">
            <a:solidFill>
              <a:srgbClr val="59667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834640" y="5394960"/>
            <a:ext cx="6492240" cy="658368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34640" y="5394960"/>
            <a:ext cx="64008" cy="658368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9232" y="5532120"/>
            <a:ext cx="6199631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主要约束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5916168"/>
            <a:ext cx="6199631" cy="182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在不确定、异步和局部视野条件下，保持目标身份、任务版本和控制授权一致。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三层节点体系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中心最优、二级连续、分布式保底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0561320" cy="960120"/>
          </a:xfrm>
          <a:prstGeom prst="rect">
            <a:avLst/>
          </a:prstGeom>
          <a:solidFill>
            <a:srgbClr val="EAF0F5"/>
          </a:solidFill>
          <a:ln w="1905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64792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315B82"/>
                </a:solidFill>
                <a:latin typeface="Noto Sans CJK SC"/>
              </a:defRPr>
            </a:pPr>
            <a:r>
              <a:t>一级：中心 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64792"/>
            <a:ext cx="7132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1C2733"/>
                </a:solidFill>
                <a:latin typeface="Noto Sans CJK SC"/>
              </a:defRPr>
            </a:pPr>
            <a:r>
              <a:t>多传感器融合、全局航迹、动态分配、授权与评估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07792"/>
            <a:ext cx="10561320" cy="960120"/>
          </a:xfrm>
          <a:prstGeom prst="rect">
            <a:avLst/>
          </a:prstGeom>
          <a:solidFill>
            <a:srgbClr val="EAF2F2"/>
          </a:solidFill>
          <a:ln w="1905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72384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28777C"/>
                </a:solidFill>
                <a:latin typeface="Noto Sans CJK SC"/>
              </a:defRPr>
            </a:pPr>
            <a:r>
              <a:t>二级：机动高空侦察节点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72384"/>
            <a:ext cx="7132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1C2733"/>
                </a:solidFill>
                <a:latin typeface="Noto Sans CJK SC"/>
              </a:defRPr>
            </a:pPr>
            <a:r>
              <a:t>高性能光电云台、区域全局视野、二级计划 owner、视频/数据中继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24528"/>
            <a:ext cx="10561320" cy="960120"/>
          </a:xfrm>
          <a:prstGeom prst="rect">
            <a:avLst/>
          </a:prstGeom>
          <a:solidFill>
            <a:srgbClr val="EBF1ED"/>
          </a:solidFill>
          <a:ln w="1905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29718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477358"/>
                </a:solidFill>
                <a:latin typeface="Noto Sans CJK SC"/>
              </a:defRPr>
            </a:pPr>
            <a:r>
              <a:t>三级：拦截无人机集群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89120"/>
            <a:ext cx="7132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1C2733"/>
                </a:solidFill>
                <a:latin typeface="Noto Sans CJK SC"/>
              </a:defRPr>
            </a:pPr>
            <a:r>
              <a:t>局部视觉、多机通信、完全分布式联盟、位置 PN 与视觉 PNG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587752"/>
            <a:ext cx="0" cy="246888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3895344"/>
            <a:ext cx="0" cy="256032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0120" y="5623560"/>
            <a:ext cx="219456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正常：中心主控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623560"/>
            <a:ext cx="256032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5650992"/>
            <a:ext cx="246887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中心失效：二级接管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5623560"/>
            <a:ext cx="274320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650992"/>
            <a:ext cx="265176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二级失效：完全分布式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5623560"/>
            <a:ext cx="2011680" cy="310896"/>
          </a:xfrm>
          <a:prstGeom prst="rect">
            <a:avLst/>
          </a:prstGeom>
          <a:solidFill>
            <a:srgbClr val="F4EAEA"/>
          </a:solidFill>
          <a:ln>
            <a:solidFill>
              <a:srgbClr val="F4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5650992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Noto Sans CJK SC"/>
              </a:defRPr>
            </a:pPr>
            <a:r>
              <a:t>全程版本化 + fail-closed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D1-D7 端到端技术架构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每个模块只做一件事，统一通过带时间戳、协方差和版本的数据合同协同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03120" y="2788920"/>
            <a:ext cx="292608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77639" y="2788920"/>
            <a:ext cx="292609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52160" y="2788920"/>
            <a:ext cx="292608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26679" y="2788920"/>
            <a:ext cx="292609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0" y="2788920"/>
            <a:ext cx="292608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" y="2331720"/>
            <a:ext cx="1554480" cy="96012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28777C"/>
                </a:solidFill>
                <a:latin typeface="Noto Sans CJK SC"/>
              </a:defRPr>
            </a:pPr>
            <a:r>
              <a:t>D1  多源融合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GlobalTrack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331720"/>
            <a:ext cx="1554480" cy="96012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315B82"/>
                </a:solidFill>
                <a:latin typeface="Noto Sans CJK SC"/>
              </a:defRPr>
            </a:pPr>
            <a:r>
              <a:t>D2  数据关联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稳定全局ID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331720"/>
            <a:ext cx="1554480" cy="96012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A97422"/>
                </a:solidFill>
                <a:latin typeface="Noto Sans CJK SC"/>
              </a:defRPr>
            </a:pPr>
            <a:r>
              <a:t>D3  资源分配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AssignmentPlan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1554480" cy="960120"/>
          </a:xfrm>
          <a:prstGeom prst="rect">
            <a:avLst/>
          </a:prstGeom>
          <a:solidFill>
            <a:srgbClr val="EFECF2"/>
          </a:solidFill>
          <a:ln w="2032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62556F"/>
                </a:solidFill>
                <a:latin typeface="Noto Sans CJK SC"/>
              </a:defRPr>
            </a:pPr>
            <a:r>
              <a:t>D4  降级协同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C2/联盟状态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331720"/>
            <a:ext cx="1554480" cy="96012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A83B3B"/>
                </a:solidFill>
                <a:latin typeface="Noto Sans CJK SC"/>
              </a:defRPr>
            </a:pPr>
            <a:r>
              <a:t>D5  视觉配准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TerminalAssociation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331720"/>
            <a:ext cx="1554480" cy="96012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2432303"/>
            <a:ext cx="14081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477358"/>
                </a:solidFill>
                <a:latin typeface="Noto Sans CJK SC"/>
              </a:defRPr>
            </a:pPr>
            <a:r>
              <a:t>D7  比例导引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752344"/>
            <a:ext cx="14081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PN → PNG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4251960"/>
            <a:ext cx="2423160" cy="914400"/>
          </a:xfrm>
          <a:prstGeom prst="rect">
            <a:avLst/>
          </a:prstGeom>
          <a:solidFill>
            <a:srgbClr val="FFFFFF"/>
          </a:solidFill>
          <a:ln w="2032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65192" y="4352544"/>
            <a:ext cx="22768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D6 系统评估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5192" y="4672584"/>
            <a:ext cx="22768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消费全链路日志</a:t>
            </a:r>
            <a:br/>
            <a:r>
              <a:t>不参与控制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71600" y="3383280"/>
            <a:ext cx="4709160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46120" y="3383280"/>
            <a:ext cx="2834640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0" y="3383280"/>
            <a:ext cx="960120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080760" y="3383280"/>
            <a:ext cx="914399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080760" y="3383280"/>
            <a:ext cx="2788920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80760" y="3383280"/>
            <a:ext cx="4663440" cy="804672"/>
          </a:xfrm>
          <a:prstGeom prst="line">
            <a:avLst/>
          </a:prstGeom>
          <a:ln w="1143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77240" y="1527048"/>
            <a:ext cx="10652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1627632"/>
            <a:ext cx="2834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596673"/>
                </a:solidFill>
                <a:latin typeface="Noto Sans CJK SC"/>
              </a:defRPr>
            </a:pPr>
            <a:r>
              <a:t>雷达 / 声学 / 光电 / LiDAR（可选）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1627632"/>
            <a:ext cx="7223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统一 NED / 双时间戳 / 协方差 / global_track_id / 计划版本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48840" y="5532120"/>
            <a:ext cx="7909560" cy="64008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48840" y="5532120"/>
            <a:ext cx="64008" cy="64008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5669280"/>
            <a:ext cx="7616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接口约束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6053328"/>
            <a:ext cx="7616952" cy="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D5/D7 不改写 global_track_id；拒绝过期计划；证据不足时保持 hold，不允许自行换绑。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通信拓扑与统一数据总线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视频用于发现与复核，结构化摘要用于决策；控制权限始终受版本和身份约束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0600" y="1572768"/>
            <a:ext cx="2057400" cy="96012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2" y="1673352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中心 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1993392"/>
            <a:ext cx="1911095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GlobalTrack</a:t>
            </a:r>
            <a:br/>
            <a:r>
              <a:t>AssignmentPlan</a:t>
            </a:r>
            <a:br/>
            <a:r>
              <a:t>授权/审计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944368"/>
            <a:ext cx="2103120" cy="100584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3044952"/>
            <a:ext cx="195681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高空侦察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3364992"/>
            <a:ext cx="1956815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区域视频</a:t>
            </a:r>
            <a:br/>
            <a:r>
              <a:t>ReconImageCue</a:t>
            </a:r>
            <a:br/>
            <a:r>
              <a:t>二级计划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944368"/>
            <a:ext cx="2103120" cy="100584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044952"/>
            <a:ext cx="195681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高空侦察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364992"/>
            <a:ext cx="1956815" cy="521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区域视频</a:t>
            </a:r>
            <a:br/>
            <a:r>
              <a:t>TrackSummary</a:t>
            </a:r>
            <a:br/>
            <a:r>
              <a:t>通信中继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46320"/>
            <a:ext cx="1874519" cy="82296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946904"/>
            <a:ext cx="17282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477358"/>
                </a:solidFill>
                <a:latin typeface="Noto Sans CJK SC"/>
              </a:defRPr>
            </a:pPr>
            <a:r>
              <a:t>拦截机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266944"/>
            <a:ext cx="172821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LocalVisualTrack</a:t>
            </a:r>
            <a:br/>
            <a:r>
              <a:t>ResourceSummary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846320"/>
            <a:ext cx="1874519" cy="82296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2112" y="4946904"/>
            <a:ext cx="17282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477358"/>
                </a:solidFill>
                <a:latin typeface="Noto Sans CJK SC"/>
              </a:defRPr>
            </a:pPr>
            <a:r>
              <a:t>拦截机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5266944"/>
            <a:ext cx="172821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LocalVisualTrack</a:t>
            </a:r>
            <a:br/>
            <a:r>
              <a:t>ResourceSummary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846320"/>
            <a:ext cx="1874519" cy="82296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946904"/>
            <a:ext cx="17282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477358"/>
                </a:solidFill>
                <a:latin typeface="Noto Sans CJK SC"/>
              </a:defRPr>
            </a:pPr>
            <a:r>
              <a:t>拦截机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266944"/>
            <a:ext cx="172821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LocalVisualTrack</a:t>
            </a:r>
            <a:br/>
            <a:r>
              <a:t>ResourceSummary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4846320"/>
            <a:ext cx="1874519" cy="82296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4946904"/>
            <a:ext cx="17282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50" b="1">
                <a:solidFill>
                  <a:srgbClr val="477358"/>
                </a:solidFill>
                <a:latin typeface="Noto Sans CJK SC"/>
              </a:defRPr>
            </a:pPr>
            <a:r>
              <a:t>拦截机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5266944"/>
            <a:ext cx="172821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LocalVisualTrack</a:t>
            </a:r>
            <a:br/>
            <a:r>
              <a:t>ResourceSummary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977639" y="2240280"/>
            <a:ext cx="777241" cy="704088"/>
          </a:xfrm>
          <a:prstGeom prst="line">
            <a:avLst/>
          </a:prstGeom>
          <a:ln w="15240">
            <a:solidFill>
              <a:srgbClr val="315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03720" y="2240280"/>
            <a:ext cx="1280159" cy="704088"/>
          </a:xfrm>
          <a:prstGeom prst="line">
            <a:avLst/>
          </a:prstGeom>
          <a:ln w="15240">
            <a:solidFill>
              <a:srgbClr val="315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600200" y="3977639"/>
            <a:ext cx="1280160" cy="822961"/>
          </a:xfrm>
          <a:prstGeom prst="line">
            <a:avLst/>
          </a:prstGeom>
          <a:ln w="12700">
            <a:solidFill>
              <a:srgbClr val="287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80360" y="3977639"/>
            <a:ext cx="1143000" cy="822961"/>
          </a:xfrm>
          <a:prstGeom prst="line">
            <a:avLst/>
          </a:prstGeom>
          <a:ln w="12700">
            <a:solidFill>
              <a:srgbClr val="287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86600" y="3977639"/>
            <a:ext cx="2194560" cy="822961"/>
          </a:xfrm>
          <a:prstGeom prst="line">
            <a:avLst/>
          </a:prstGeom>
          <a:ln w="12700">
            <a:solidFill>
              <a:srgbClr val="287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81160" y="3977639"/>
            <a:ext cx="228600" cy="822961"/>
          </a:xfrm>
          <a:prstGeom prst="line">
            <a:avLst/>
          </a:prstGeom>
          <a:ln w="12700">
            <a:solidFill>
              <a:srgbClr val="2877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06040" y="5257800"/>
            <a:ext cx="457200" cy="0"/>
          </a:xfrm>
          <a:prstGeom prst="line">
            <a:avLst/>
          </a:prstGeom>
          <a:ln w="12700">
            <a:solidFill>
              <a:srgbClr val="47735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29200" y="5257800"/>
            <a:ext cx="1097280" cy="0"/>
          </a:xfrm>
          <a:prstGeom prst="line">
            <a:avLst/>
          </a:prstGeom>
          <a:ln w="12700">
            <a:solidFill>
              <a:srgbClr val="47735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92440" y="5257800"/>
            <a:ext cx="457200" cy="0"/>
          </a:xfrm>
          <a:prstGeom prst="line">
            <a:avLst/>
          </a:prstGeom>
          <a:ln w="12700">
            <a:solidFill>
              <a:srgbClr val="47735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77240" y="5989320"/>
            <a:ext cx="150876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016752"/>
            <a:ext cx="14173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TrackSummary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5989320"/>
            <a:ext cx="173736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6016752"/>
            <a:ext cx="16459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ResourceSummary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5989320"/>
            <a:ext cx="1554480" cy="310896"/>
          </a:xfrm>
          <a:prstGeom prst="rect">
            <a:avLst/>
          </a:prstGeom>
          <a:solidFill>
            <a:srgbClr val="F4EAEA"/>
          </a:solidFill>
          <a:ln>
            <a:solidFill>
              <a:srgbClr val="F4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6016752"/>
            <a:ext cx="14630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IdentityClaim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989320"/>
            <a:ext cx="1828800" cy="310896"/>
          </a:xfrm>
          <a:prstGeom prst="rect">
            <a:avLst/>
          </a:prstGeom>
          <a:solidFill>
            <a:srgbClr val="EFECF2"/>
          </a:solidFill>
          <a:ln>
            <a:solidFill>
              <a:srgbClr val="EF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6016752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62556F"/>
                </a:solidFill>
                <a:latin typeface="Noto Sans CJK SC"/>
              </a:defRPr>
            </a:pPr>
            <a:r>
              <a:t>CoalitionCommit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5989320"/>
            <a:ext cx="1417320" cy="310896"/>
          </a:xfrm>
          <a:prstGeom prst="rect">
            <a:avLst/>
          </a:prstGeom>
          <a:solidFill>
            <a:srgbClr val="F5F0E6"/>
          </a:solidFill>
          <a:ln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6016752"/>
            <a:ext cx="132588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A97422"/>
                </a:solidFill>
                <a:latin typeface="Noto Sans CJK SC"/>
              </a:defRPr>
            </a:pPr>
            <a:r>
              <a:t>EventRecord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38360" y="5989320"/>
            <a:ext cx="155448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6016752"/>
            <a:ext cx="14630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视频/图像 cue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正常运行、主动降级与被动降级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主动降级由不确定性和末端不一致触发；被动降级由节点失效触发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2148840" cy="804672"/>
          </a:xfrm>
          <a:prstGeom prst="rect">
            <a:avLst/>
          </a:prstGeom>
          <a:solidFill>
            <a:srgbClr val="EAF0F5"/>
          </a:solidFill>
          <a:ln w="1524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19293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315B82"/>
                </a:solidFill>
                <a:latin typeface="Noto Sans CJK SC"/>
              </a:defRPr>
            </a:pPr>
            <a:r>
              <a:t>中心正常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中心计划持续有效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627632"/>
            <a:ext cx="2148840" cy="804672"/>
          </a:xfrm>
          <a:prstGeom prst="rect">
            <a:avLst/>
          </a:prstGeom>
          <a:solidFill>
            <a:srgbClr val="F5F0E6"/>
          </a:solidFill>
          <a:ln w="1524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737360"/>
            <a:ext cx="19293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A97422"/>
                </a:solidFill>
                <a:latin typeface="Noto Sans CJK SC"/>
              </a:defRPr>
            </a:pPr>
            <a:r>
              <a:t>主动降级判断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039112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D1/D2不确定度 + D5不一致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627632"/>
            <a:ext cx="2148840" cy="804672"/>
          </a:xfrm>
          <a:prstGeom prst="rect">
            <a:avLst/>
          </a:prstGeom>
          <a:solidFill>
            <a:srgbClr val="EAF2F2"/>
          </a:solidFill>
          <a:ln w="1524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1737360"/>
            <a:ext cx="19293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8777C"/>
                </a:solidFill>
                <a:latin typeface="Noto Sans CJK SC"/>
              </a:defRPr>
            </a:pPr>
            <a:r>
              <a:t>二级节点接管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2039112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高空侦察节点发布新版本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27632"/>
            <a:ext cx="2148840" cy="804672"/>
          </a:xfrm>
          <a:prstGeom prst="rect">
            <a:avLst/>
          </a:prstGeom>
          <a:solidFill>
            <a:srgbClr val="EBF1ED"/>
          </a:solidFill>
          <a:ln w="1524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737360"/>
            <a:ext cx="19293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477358"/>
                </a:solidFill>
                <a:latin typeface="Noto Sans CJK SC"/>
              </a:defRPr>
            </a:pPr>
            <a:r>
              <a:t>完全分布式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039112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peer联盟 ACK/commit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52928" y="2029968"/>
            <a:ext cx="274320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21808" y="2029968"/>
            <a:ext cx="274320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90688" y="2029968"/>
            <a:ext cx="274320" cy="0"/>
          </a:xfrm>
          <a:prstGeom prst="line">
            <a:avLst/>
          </a:prstGeom>
          <a:ln w="2032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7240" y="3063240"/>
            <a:ext cx="3200400" cy="109728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063240"/>
            <a:ext cx="64008" cy="109728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200400"/>
            <a:ext cx="29077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继续执行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584448"/>
            <a:ext cx="29077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中心/二级分配与 D5 末端关联一致，计划版本新鲜，联盟证据有效。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063240"/>
            <a:ext cx="3200400" cy="109728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063240"/>
            <a:ext cx="64008" cy="109728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200400"/>
            <a:ext cx="29077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请求重规划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584448"/>
            <a:ext cx="29077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中心仍在线，但跟踪不确定性、计划延时或视觉证据表明原计划失效。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063240"/>
            <a:ext cx="3200400" cy="109728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063240"/>
            <a:ext cx="64008" cy="109728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3200400"/>
            <a:ext cx="29077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保守阻断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584448"/>
            <a:ext cx="290779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缺 ACK、旧 epoch、过期 lease、身份冲突或网络分区时 fail-closed。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709160"/>
            <a:ext cx="9966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956048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62556F"/>
                </a:solidFill>
                <a:latin typeface="Noto Sans CJK SC"/>
              </a:defRPr>
            </a:pPr>
            <a:r>
              <a:t>切换规则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892040"/>
            <a:ext cx="81838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结果一致时继续执行；结果不一致时进入仲裁；证据不足时不授权；中心恢复后先完成双轨校验。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D1 多传感器融合与目标配准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把异步、异构、不同参考系的观测统一成可信 GlobalTrack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EAF2F2"/>
          </a:solidFill>
          <a:ln w="1270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28777C"/>
                </a:solidFill>
                <a:latin typeface="Noto Sans CJK SC"/>
              </a:defRPr>
            </a:pPr>
            <a: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多源融合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观测 → GlobalTrack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828800" cy="86868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43784"/>
            <a:ext cx="16824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雷达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63824"/>
            <a:ext cx="168249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三维位置/速度</a:t>
            </a:r>
            <a:br/>
            <a:r>
              <a:t>距离相关协方差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1828800" cy="86868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86784"/>
            <a:ext cx="16824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97422"/>
                </a:solidFill>
                <a:latin typeface="Noto Sans CJK SC"/>
              </a:defRPr>
            </a:pPr>
            <a:r>
              <a:t>声学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306824"/>
            <a:ext cx="168249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粗方位 + 声纹</a:t>
            </a:r>
            <a:br/>
            <a:r>
              <a:t>低空辅助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1828800" cy="86868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129784"/>
            <a:ext cx="16824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83B3B"/>
                </a:solidFill>
                <a:latin typeface="Noto Sans CJK SC"/>
              </a:defRPr>
            </a:pPr>
            <a:r>
              <a:t>光电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449824"/>
            <a:ext cx="1682496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像素框 + 相机参数</a:t>
            </a:r>
            <a:br/>
            <a:r>
              <a:t>局部确认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06040" y="3182112"/>
            <a:ext cx="1051560" cy="73152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606040" y="4114800"/>
            <a:ext cx="1051560" cy="201168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606040" y="4315968"/>
            <a:ext cx="1051560" cy="1152144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03320" y="3429000"/>
            <a:ext cx="2240280" cy="132588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3529584"/>
            <a:ext cx="20939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时空对齐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3849624"/>
            <a:ext cx="2093976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measurement / arrival 双时间戳</a:t>
            </a:r>
            <a:br/>
            <a:r>
              <a:t>sensor frame → NED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096512"/>
            <a:ext cx="73152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766560" y="3429000"/>
            <a:ext cx="2194560" cy="1325880"/>
          </a:xfrm>
          <a:prstGeom prst="rect">
            <a:avLst/>
          </a:prstGeom>
          <a:solidFill>
            <a:srgbClr val="EFECF2"/>
          </a:solidFill>
          <a:ln w="2032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3529584"/>
            <a:ext cx="204825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62556F"/>
                </a:solidFill>
                <a:latin typeface="Noto Sans CJK SC"/>
              </a:defRPr>
            </a:pPr>
            <a:r>
              <a:t>轻量 EKF / OOSM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3849624"/>
            <a:ext cx="2048255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延迟补偿</a:t>
            </a:r>
            <a:br/>
            <a:r>
              <a:t>协方差传播</a:t>
            </a:r>
            <a:br/>
            <a:r>
              <a:t>source lineage 去重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096512"/>
            <a:ext cx="59436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646920" y="3429000"/>
            <a:ext cx="1828800" cy="132588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3529584"/>
            <a:ext cx="16824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477358"/>
                </a:solidFill>
                <a:latin typeface="Noto Sans CJK SC"/>
              </a:defRPr>
            </a:pPr>
            <a:r>
              <a:t>GlobalTrack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3849624"/>
            <a:ext cx="1682496" cy="8412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position / velocity</a:t>
            </a:r>
            <a:br/>
            <a:r>
              <a:t>covariance</a:t>
            </a:r>
            <a:br/>
            <a:r>
              <a:t>track quality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5257800"/>
            <a:ext cx="1143000" cy="310896"/>
          </a:xfrm>
          <a:prstGeom prst="rect">
            <a:avLst/>
          </a:prstGeom>
          <a:solidFill>
            <a:srgbClr val="F5F0E6"/>
          </a:solidFill>
          <a:ln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285232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A97422"/>
                </a:solidFill>
                <a:latin typeface="Noto Sans CJK SC"/>
              </a:defRPr>
            </a:pPr>
            <a:r>
              <a:t>coarse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5257800"/>
            <a:ext cx="114300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5285232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stable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257800"/>
            <a:ext cx="132588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285232"/>
            <a:ext cx="12344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handover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5212080"/>
            <a:ext cx="3429000" cy="73152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79" y="5212080"/>
            <a:ext cx="64008" cy="73152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9871" y="5349240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9871" y="5733288"/>
            <a:ext cx="3136392" cy="91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后续关联、分配、视觉门控与安全决策都使用“均值 + 不确定性”，而不是只追一个点。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D1 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延迟补偿与融合结果可量化，当前主线保持轻量可解释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55778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cks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666494"/>
            <a:ext cx="5504688" cy="41285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1572768"/>
            <a:ext cx="52303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mse_latency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698" y="1609344"/>
            <a:ext cx="4485132" cy="29900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4818888"/>
            <a:ext cx="2468880" cy="105156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818888"/>
            <a:ext cx="64008" cy="105156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4956048"/>
            <a:ext cx="21762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5340096"/>
            <a:ext cx="217627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双时间戳、NED、协方差、延迟/OOSM、距离相关噪声、航迹分级、governed replay。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818888"/>
            <a:ext cx="2468880" cy="105156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4818888"/>
            <a:ext cx="64008" cy="105156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4956048"/>
            <a:ext cx="21762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仍需标定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5340096"/>
            <a:ext cx="217627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真实长 replay、复杂遮挡、多节点公共信息相关性和长期阈值治理。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图：D1 质点融合航迹与延迟补偿消融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D2 多目标跟踪与数据关联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目标交叉时保持身份连续，避免重复分配和错误末端锁定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EAF0F5"/>
          </a:solidFill>
          <a:ln w="1270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315B82"/>
                </a:solidFill>
                <a:latin typeface="Noto Sans CJK SC"/>
              </a:defRPr>
            </a:pPr>
            <a:r>
              <a:t>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航迹关联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稳定 global_track_id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315B82"/>
                </a:solidFill>
                <a:latin typeface="Noto Sans CJK SC"/>
              </a:defRPr>
            </a:pPr>
            <a:r>
              <a:t>预测航迹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A83B3B"/>
                </a:solidFill>
                <a:latin typeface="Noto Sans CJK SC"/>
              </a:defRPr>
            </a:pPr>
            <a:r>
              <a:t>新观测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54680"/>
            <a:ext cx="1508760" cy="384048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55264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315B82"/>
                </a:solidFill>
                <a:latin typeface="Noto Sans CJK SC"/>
              </a:defRPr>
            </a:pPr>
            <a:r>
              <a:t>Track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75304"/>
            <a:ext cx="1362456" cy="-100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状态 + 协方差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1508760" cy="384048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758184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315B82"/>
                </a:solidFill>
                <a:latin typeface="Noto Sans CJK SC"/>
              </a:defRPr>
            </a:pPr>
            <a:r>
              <a:t>Track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078224"/>
            <a:ext cx="1362456" cy="-100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状态 + 协方差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60520"/>
            <a:ext cx="1508760" cy="384048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61104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315B82"/>
                </a:solidFill>
                <a:latin typeface="Noto Sans CJK SC"/>
              </a:defRPr>
            </a:pPr>
            <a:r>
              <a:t>Track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81144"/>
            <a:ext cx="1362456" cy="-1005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状态 + 协方差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10912"/>
            <a:ext cx="1508760" cy="329184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111496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1">
                <a:solidFill>
                  <a:srgbClr val="A83B3B"/>
                </a:solidFill>
                <a:latin typeface="Noto Sans CJK SC"/>
              </a:defRPr>
            </a:pPr>
            <a:r>
              <a:t>Detection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431536"/>
            <a:ext cx="1362456" cy="-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measurement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440680"/>
            <a:ext cx="1508760" cy="329184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541264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1">
                <a:solidFill>
                  <a:srgbClr val="A83B3B"/>
                </a:solidFill>
                <a:latin typeface="Noto Sans CJK SC"/>
              </a:defRPr>
            </a:pPr>
            <a:r>
              <a:t>Detection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861304"/>
            <a:ext cx="1362456" cy="-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measurement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870448"/>
            <a:ext cx="1508760" cy="329184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971032"/>
            <a:ext cx="13624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80" b="1">
                <a:solidFill>
                  <a:srgbClr val="A83B3B"/>
                </a:solidFill>
                <a:latin typeface="Noto Sans CJK SC"/>
              </a:defRPr>
            </a:pPr>
            <a:r>
              <a:t>Detection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6291072"/>
            <a:ext cx="1362456" cy="-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measurement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310128"/>
            <a:ext cx="1645920" cy="841248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9272" y="3410712"/>
            <a:ext cx="14996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马氏门限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3730752"/>
            <a:ext cx="1499616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排除不可能候选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310128"/>
            <a:ext cx="1737360" cy="841248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2392" y="3410712"/>
            <a:ext cx="15910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97422"/>
                </a:solidFill>
                <a:latin typeface="Noto Sans CJK SC"/>
              </a:defRPr>
            </a:pPr>
            <a:r>
              <a:t>代价矩阵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2392" y="3730752"/>
            <a:ext cx="1591056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运动 + 类别 + 时间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310128"/>
            <a:ext cx="1874519" cy="841248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62672" y="3410712"/>
            <a:ext cx="17282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GNN / Hungarian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3730752"/>
            <a:ext cx="1728216" cy="3566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默认硬关联主线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3200400"/>
            <a:ext cx="1600200" cy="105156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3300984"/>
            <a:ext cx="14538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477358"/>
                </a:solidFill>
                <a:latin typeface="Noto Sans CJK SC"/>
              </a:defRPr>
            </a:pPr>
            <a:r>
              <a:t>航迹生命周期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3621024"/>
            <a:ext cx="1453896" cy="566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tentative → confirmed</a:t>
            </a:r>
            <a:br/>
            <a:r>
              <a:t>engageable → lost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468880" y="3657600"/>
            <a:ext cx="713232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68880" y="3913632"/>
            <a:ext cx="713232" cy="1389888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37760" y="3730752"/>
            <a:ext cx="365760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32320" y="3730752"/>
            <a:ext cx="411480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509760" y="3730752"/>
            <a:ext cx="365760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291840" y="4800600"/>
            <a:ext cx="224028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828032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默认：GNN/Hungarian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800600"/>
            <a:ext cx="150876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4828032"/>
            <a:ext cx="14173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升级：JPDA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79" y="4800600"/>
            <a:ext cx="1691640" cy="310896"/>
          </a:xfrm>
          <a:prstGeom prst="rect">
            <a:avLst/>
          </a:prstGeom>
          <a:solidFill>
            <a:srgbClr val="EFECF2"/>
          </a:solidFill>
          <a:ln>
            <a:solidFill>
              <a:srgbClr val="EF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4828032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62556F"/>
                </a:solidFill>
                <a:latin typeface="Noto Sans CJK SC"/>
              </a:defRPr>
            </a:pPr>
            <a:r>
              <a:t>研究对照：MHT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5532120"/>
            <a:ext cx="5669280" cy="59436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0" y="5532120"/>
            <a:ext cx="64008" cy="59436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22191" y="5669280"/>
            <a:ext cx="5376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强制指标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22191" y="6053328"/>
            <a:ext cx="5376672" cy="-4571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id_switch_count、track_continuity、duplicate_assignment_count 全程显式记录。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D2 严格交叉场景验证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4 m / 2 m 间距各 20 seeds；在线控制链不使用 AirSim truth 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92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15B82"/>
                </a:solidFill>
                <a:latin typeface="Noto Sans CJK SC"/>
              </a:defRPr>
            </a:pPr>
            <a:r>
              <a:t>身份指标对比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596673"/>
                </a:solidFill>
                <a:latin typeface="Noto Sans CJK SC"/>
              </a:defRPr>
            </a:pPr>
            <a:r>
              <a:t>ID Switch（越低越好）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4480560" cy="384048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4480560" cy="384048"/>
          </a:xfrm>
          <a:prstGeom prst="rect">
            <a:avLst/>
          </a:prstGeom>
          <a:solidFill>
            <a:srgbClr val="F4EAEA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16352"/>
            <a:ext cx="2011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基线 GNN  1.3583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73552"/>
            <a:ext cx="2029968" cy="384048"/>
          </a:xfrm>
          <a:prstGeom prst="rect">
            <a:avLst/>
          </a:prstGeom>
          <a:solidFill>
            <a:srgbClr val="EAF0F5"/>
          </a:solidFill>
          <a:ln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46704"/>
            <a:ext cx="20116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候选 GNN  0.6167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999232"/>
            <a:ext cx="123444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026663"/>
            <a:ext cx="11430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下降 54.6%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596673"/>
                </a:solidFill>
                <a:latin typeface="Noto Sans CJK SC"/>
              </a:defRPr>
            </a:pPr>
            <a:r>
              <a:t>身份连续性（越高越好）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462272"/>
            <a:ext cx="5074920" cy="347472"/>
          </a:xfrm>
          <a:prstGeom prst="rect">
            <a:avLst/>
          </a:prstGeom>
          <a:solidFill>
            <a:srgbClr val="EAF2F2"/>
          </a:solidFill>
          <a:ln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4517136"/>
            <a:ext cx="566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0.9810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983480"/>
            <a:ext cx="5093208" cy="347472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5038344"/>
            <a:ext cx="566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0.9840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468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1">
                <a:solidFill>
                  <a:srgbClr val="1C2733"/>
                </a:solidFill>
                <a:latin typeface="Noto Sans CJK SC"/>
              </a:defRPr>
            </a:pPr>
            <a:r>
              <a:t>P95 循环时延：24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1755648"/>
            <a:ext cx="1645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1865376"/>
            <a:ext cx="149961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315B82"/>
                </a:solidFill>
                <a:latin typeface="Noto Sans CJK SC"/>
              </a:defRPr>
            </a:pPr>
            <a: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340864"/>
            <a:ext cx="149961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真实 AirSim episode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755648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1865376"/>
            <a:ext cx="16824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28777C"/>
                </a:solidFill>
                <a:latin typeface="Noto Sans CJK SC"/>
              </a:defRPr>
            </a:pPr>
            <a:r>
              <a:t>10200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340864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离线 truth 样本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3154680"/>
            <a:ext cx="3703320" cy="114300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3154680"/>
            <a:ext cx="64008" cy="114300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3291840"/>
            <a:ext cx="34107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当前结论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675888"/>
            <a:ext cx="34107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IDSW 明显下降，但 continuity 只从 0.9810 提升到 0.9840，未达到冻结的 +0.10 晋级门槛。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4526280"/>
            <a:ext cx="3703320" cy="114300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4526280"/>
            <a:ext cx="64008" cy="114300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1" y="4663440"/>
            <a:ext cx="34107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主线不变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1" y="5047488"/>
            <a:ext cx="34107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继续使用 GNN/Hungarian；轻量 JPDA、Stone Soup 和 FilterPy 保持离线对照，不进入默认运行时。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D3 集中式资源—目标分配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从一次性 N 对 N，升级为动态 M 对 N、带迟滞和角色的滚动计划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F5F0E6"/>
          </a:solidFill>
          <a:ln w="1270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A97422"/>
                </a:solidFill>
                <a:latin typeface="Noto Sans CJK SC"/>
              </a:defRPr>
            </a:pPr>
            <a:r>
              <a:t>D3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动态分配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GlobalTrack → AssignmentPlan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627632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A97422"/>
                </a:solidFill>
                <a:latin typeface="Noto Sans CJK SC"/>
              </a:defRPr>
            </a:pPr>
            <a:r>
              <a:t>代价组成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057400"/>
            <a:ext cx="169164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84831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315B82"/>
                </a:solidFill>
                <a:latin typeface="Noto Sans CJK SC"/>
              </a:defRPr>
            </a:pPr>
            <a:r>
              <a:t>拦截窗口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057400"/>
            <a:ext cx="169164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2084831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28777C"/>
                </a:solidFill>
                <a:latin typeface="Noto Sans CJK SC"/>
              </a:defRPr>
            </a:pPr>
            <a:r>
              <a:t>航迹不确定性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057400"/>
            <a:ext cx="1691640" cy="310896"/>
          </a:xfrm>
          <a:prstGeom prst="rect">
            <a:avLst/>
          </a:prstGeom>
          <a:solidFill>
            <a:srgbClr val="F4EAEA"/>
          </a:solidFill>
          <a:ln>
            <a:solidFill>
              <a:srgbClr val="F4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084831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A83B3B"/>
                </a:solidFill>
                <a:latin typeface="Noto Sans CJK SC"/>
              </a:defRPr>
            </a:pPr>
            <a:r>
              <a:t>目标威胁度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807208"/>
            <a:ext cx="169164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834639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477358"/>
                </a:solidFill>
                <a:latin typeface="Noto Sans CJK SC"/>
              </a:defRPr>
            </a:pPr>
            <a:r>
              <a:t>资源状态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807208"/>
            <a:ext cx="1691640" cy="310896"/>
          </a:xfrm>
          <a:prstGeom prst="rect">
            <a:avLst/>
          </a:prstGeom>
          <a:solidFill>
            <a:srgbClr val="EFECF2"/>
          </a:solidFill>
          <a:ln>
            <a:solidFill>
              <a:srgbClr val="EF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834639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62556F"/>
                </a:solidFill>
                <a:latin typeface="Noto Sans CJK SC"/>
              </a:defRPr>
            </a:pPr>
            <a:r>
              <a:t>视场确认难度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807208"/>
            <a:ext cx="1691640" cy="310896"/>
          </a:xfrm>
          <a:prstGeom prst="rect">
            <a:avLst/>
          </a:prstGeom>
          <a:solidFill>
            <a:srgbClr val="F5F0E6"/>
          </a:solidFill>
          <a:ln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39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50" b="1">
                <a:solidFill>
                  <a:srgbClr val="A97422"/>
                </a:solidFill>
                <a:latin typeface="Noto Sans CJK SC"/>
              </a:defRPr>
            </a:pPr>
            <a:r>
              <a:t>资源冲突风险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2423160" cy="105156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803904"/>
            <a:ext cx="22768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97422"/>
                </a:solidFill>
                <a:latin typeface="Noto Sans CJK SC"/>
              </a:defRPr>
            </a:pPr>
            <a:r>
              <a:t>Demand-slot Hungarian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123944"/>
            <a:ext cx="2276856" cy="566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按目标需求复制任务槽</a:t>
            </a:r>
            <a:br/>
            <a:r>
              <a:t>支持 M ≠ 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66560" y="4224528"/>
            <a:ext cx="86868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680960" y="3703320"/>
            <a:ext cx="2148840" cy="105156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3803904"/>
            <a:ext cx="20025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版本化计划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123944"/>
            <a:ext cx="2002536" cy="5669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plan id / version / owner</a:t>
            </a:r>
            <a:br/>
            <a:r>
              <a:t>拒绝 stale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971800"/>
            <a:ext cx="2377440" cy="141732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2971800"/>
            <a:ext cx="64008" cy="141732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3108960"/>
            <a:ext cx="2084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迟滞策略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3493008"/>
            <a:ext cx="2084832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新计划收益必须超过阈值，并满足最小驻留时间，避免目标轻微变化造成频繁换绑。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09160"/>
            <a:ext cx="2377440" cy="123444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709160"/>
            <a:ext cx="64008" cy="123444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846320"/>
            <a:ext cx="208483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角色保持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5230368"/>
            <a:ext cx="2084832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primary 健康时保持原角色，仅在 reserve 软失败时局部重解，减少联盟抖动。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166360"/>
            <a:ext cx="3429000" cy="68580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3800" y="5166360"/>
            <a:ext cx="64008" cy="68580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8392" y="5303520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输出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5687568"/>
            <a:ext cx="3136392" cy="45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主资源、备份资源、波次、时间窗、联盟版本和人工授权状态。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高威胁目标的 M 对 N 联盟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默认研究方案：2 个 primary 同批接近 + 1 个 reserve 待命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0600" y="1600200"/>
            <a:ext cx="2560320" cy="82296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2" y="1700784"/>
            <a:ext cx="241401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83B3B"/>
                </a:solidFill>
                <a:latin typeface="Noto Sans CJK SC"/>
              </a:defRPr>
            </a:pPr>
            <a:r>
              <a:t>高威胁目标 T001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2020824"/>
            <a:ext cx="2414015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required resource count =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063240"/>
            <a:ext cx="2057400" cy="91440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16382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477358"/>
                </a:solidFill>
                <a:latin typeface="Noto Sans CJK SC"/>
              </a:defRPr>
            </a:pPr>
            <a:r>
              <a:t>Primary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483864"/>
            <a:ext cx="1911095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第一波</a:t>
            </a:r>
            <a:br/>
            <a:r>
              <a:t>独立 PN/PNG 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3063240"/>
            <a:ext cx="2057400" cy="914400"/>
          </a:xfrm>
          <a:prstGeom prst="rect">
            <a:avLst/>
          </a:prstGeom>
          <a:solidFill>
            <a:srgbClr val="EBF1ED"/>
          </a:solidFill>
          <a:ln w="2032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316382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477358"/>
                </a:solidFill>
                <a:latin typeface="Noto Sans CJK SC"/>
              </a:defRPr>
            </a:pPr>
            <a:r>
              <a:t>Primary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483864"/>
            <a:ext cx="1911095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第一波</a:t>
            </a:r>
            <a:br/>
            <a:r>
              <a:t>独立 PN/PNG 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63240"/>
            <a:ext cx="2057400" cy="91440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163824"/>
            <a:ext cx="191109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97422"/>
                </a:solidFill>
                <a:latin typeface="Noto Sans CJK SC"/>
              </a:defRPr>
            </a:pPr>
            <a:r>
              <a:t>Reserve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483864"/>
            <a:ext cx="1911095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第二波/补位</a:t>
            </a:r>
            <a:br/>
            <a:r>
              <a:t>默认 standby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063240"/>
            <a:ext cx="1965960" cy="91440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3163824"/>
            <a:ext cx="181965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普通目标 T002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3483864"/>
            <a:ext cx="181965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单 primary 独立拦截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011680" y="2468880"/>
            <a:ext cx="4069080" cy="530352"/>
          </a:xfrm>
          <a:prstGeom prst="line">
            <a:avLst/>
          </a:prstGeom>
          <a:ln w="15875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09160" y="2468880"/>
            <a:ext cx="1371600" cy="530352"/>
          </a:xfrm>
          <a:prstGeom prst="line">
            <a:avLst/>
          </a:prstGeom>
          <a:ln w="15875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080760" y="2468880"/>
            <a:ext cx="1325880" cy="530352"/>
          </a:xfrm>
          <a:prstGeom prst="line">
            <a:avLst/>
          </a:prstGeom>
          <a:ln w="15875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960" y="4736592"/>
            <a:ext cx="3337560" cy="1051560"/>
          </a:xfrm>
          <a:prstGeom prst="rect">
            <a:avLst/>
          </a:prstGeom>
          <a:solidFill>
            <a:srgbClr val="EFEC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736592"/>
            <a:ext cx="64008" cy="1051560"/>
          </a:xfrm>
          <a:prstGeom prst="rect">
            <a:avLst/>
          </a:prstGeom>
          <a:solidFill>
            <a:srgbClr val="62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87375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原子激活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257800"/>
            <a:ext cx="304495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全部必要成员 ACK 且 lease 有效，联盟才进入 committed / executing。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2" y="4736592"/>
            <a:ext cx="3337560" cy="105156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16552" y="4736592"/>
            <a:ext cx="64008" cy="105156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1144" y="487375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协同定位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5257800"/>
            <a:ext cx="304495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多个无人机视角可提供 bearing、bbox 历史和几何质量，但不得重复计算公共信息。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4736592"/>
            <a:ext cx="3337560" cy="105156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4736592"/>
            <a:ext cx="64008" cy="105156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487375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安全边界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5257800"/>
            <a:ext cx="304495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reserve 未激活不得切换；合法协同多锁不算错误 duplicate；成员退出需重构。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D3 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迟滞降低重分配抖动，M 对 N 合同已进入统一运行时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6446520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st_re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22" y="1609344"/>
            <a:ext cx="6191794" cy="43342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60920" y="17830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34072" y="1892807"/>
            <a:ext cx="16824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477358"/>
                </a:solidFill>
                <a:latin typeface="Noto Sans CJK SC"/>
              </a:defRPr>
            </a:pPr>
            <a:r>
              <a:t>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072" y="2368296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需求满足率（合同场景）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78308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1472" y="1892807"/>
            <a:ext cx="16824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315B82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2368296"/>
            <a:ext cx="16824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错误重复分配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3246120"/>
            <a:ext cx="3886200" cy="96012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3246120"/>
            <a:ext cx="64008" cy="96012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3383279"/>
            <a:ext cx="3593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P1 已完成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3767328"/>
            <a:ext cx="3593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demand-slot、增量规划、role-aware primary、current-binding、版本拒绝与 M5N2 候选 profile。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4407408"/>
            <a:ext cx="3886200" cy="9601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4407408"/>
            <a:ext cx="64008" cy="96012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4544568"/>
            <a:ext cx="3593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P1 仍开放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4928616"/>
            <a:ext cx="35935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逐时刻 plan/coalition history、D5 反馈权重、动态 N/M 与长期迟滞标定。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596128"/>
            <a:ext cx="2057400" cy="310896"/>
          </a:xfrm>
          <a:prstGeom prst="rect">
            <a:avLst/>
          </a:prstGeom>
          <a:solidFill>
            <a:srgbClr val="F5F0E6"/>
          </a:solidFill>
          <a:ln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5623560"/>
            <a:ext cx="196596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A97422"/>
                </a:solidFill>
                <a:latin typeface="Noto Sans CJK SC"/>
              </a:defRPr>
            </a:pPr>
            <a:r>
              <a:t>默认：SciPy Hungarian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5596128"/>
            <a:ext cx="1783080" cy="310896"/>
          </a:xfrm>
          <a:prstGeom prst="rect">
            <a:avLst/>
          </a:prstGeom>
          <a:solidFill>
            <a:srgbClr val="EFECF2"/>
          </a:solidFill>
          <a:ln>
            <a:solidFill>
              <a:srgbClr val="EF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5623560"/>
            <a:ext cx="16916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19" b="1">
                <a:solidFill>
                  <a:srgbClr val="62556F"/>
                </a:solidFill>
                <a:latin typeface="Noto Sans CJK SC"/>
              </a:defRPr>
            </a:pPr>
            <a:r>
              <a:t>P2：OR-Tools 仅接口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D4 分布式协同与降级接管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不是简单“中心掉线后拍卖”，而是有健康判定、接管优先级和原子联盟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EFECF2"/>
          </a:solidFill>
          <a:ln w="1270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62556F"/>
                </a:solidFill>
                <a:latin typeface="Noto Sans CJK SC"/>
              </a:defRPr>
            </a:pPr>
            <a:r>
              <a:t>D4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降级协同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中心 → 二级 → peer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331720"/>
            <a:ext cx="475488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63640" y="2331720"/>
            <a:ext cx="475488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331720"/>
            <a:ext cx="475488" cy="0"/>
          </a:xfrm>
          <a:prstGeom prst="line">
            <a:avLst/>
          </a:prstGeom>
          <a:ln w="1524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80360" y="1920240"/>
            <a:ext cx="1463040" cy="82296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020824"/>
            <a:ext cx="13167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315B82"/>
                </a:solidFill>
                <a:latin typeface="Noto Sans CJK SC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340864"/>
            <a:ext cx="13167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heartbeat / track / plan timeout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920240"/>
            <a:ext cx="1463040" cy="82296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20824"/>
            <a:ext cx="13167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A97422"/>
                </a:solidFill>
                <a:latin typeface="Noto Sans CJK SC"/>
              </a:defRPr>
            </a:pPr>
            <a:r>
              <a:t>degraded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340864"/>
            <a:ext cx="13167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heartbeat / track / plan timeout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920240"/>
            <a:ext cx="1463040" cy="82296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2020824"/>
            <a:ext cx="13167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A83B3B"/>
                </a:solidFill>
                <a:latin typeface="Noto Sans CJK SC"/>
              </a:defRPr>
            </a:pPr>
            <a:r>
              <a:t>suspect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340864"/>
            <a:ext cx="13167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heartbeat / track / plan timeout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920240"/>
            <a:ext cx="1463040" cy="822960"/>
          </a:xfrm>
          <a:prstGeom prst="rect">
            <a:avLst/>
          </a:prstGeom>
          <a:solidFill>
            <a:srgbClr val="E9ECEF"/>
          </a:solidFill>
          <a:ln w="2032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2020824"/>
            <a:ext cx="13167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263746"/>
                </a:solidFill>
                <a:latin typeface="Noto Sans CJK SC"/>
              </a:defRPr>
            </a:pPr>
            <a:r>
              <a:t>failed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340864"/>
            <a:ext cx="131673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heartbeat / track / plan timeout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44368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62556F"/>
                </a:solidFill>
                <a:latin typeface="Noto Sans CJK SC"/>
              </a:defRPr>
            </a:pPr>
            <a:r>
              <a:t>C2Health 状态机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749039"/>
            <a:ext cx="2331720" cy="914400"/>
          </a:xfrm>
          <a:prstGeom prst="rect">
            <a:avLst/>
          </a:prstGeom>
          <a:solidFill>
            <a:srgbClr val="EAF0F5"/>
          </a:solidFill>
          <a:ln w="1270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3886200"/>
            <a:ext cx="365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315B82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91363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C2733"/>
                </a:solidFill>
                <a:latin typeface="Noto Sans CJK SC"/>
              </a:defRPr>
            </a:pPr>
            <a:r>
              <a:t>地面备份中心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749039"/>
            <a:ext cx="2331720" cy="914400"/>
          </a:xfrm>
          <a:prstGeom prst="rect">
            <a:avLst/>
          </a:prstGeom>
          <a:solidFill>
            <a:srgbClr val="EAF2F2"/>
          </a:solidFill>
          <a:ln w="1270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886200"/>
            <a:ext cx="365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28777C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391363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C2733"/>
                </a:solidFill>
                <a:latin typeface="Noto Sans CJK SC"/>
              </a:defRPr>
            </a:pPr>
            <a:r>
              <a:t>高空侦察节点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49039"/>
            <a:ext cx="2331720" cy="914400"/>
          </a:xfrm>
          <a:prstGeom prst="rect">
            <a:avLst/>
          </a:prstGeom>
          <a:solidFill>
            <a:srgbClr val="EBF1ED"/>
          </a:solidFill>
          <a:ln w="1270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886200"/>
            <a:ext cx="365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477358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91363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C2733"/>
                </a:solidFill>
                <a:latin typeface="Noto Sans CJK SC"/>
              </a:defRPr>
            </a:pPr>
            <a:r>
              <a:t>资源集群代表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749039"/>
            <a:ext cx="2331720" cy="914400"/>
          </a:xfrm>
          <a:prstGeom prst="rect">
            <a:avLst/>
          </a:prstGeom>
          <a:solidFill>
            <a:srgbClr val="F5F0E6"/>
          </a:solidFill>
          <a:ln w="1270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886200"/>
            <a:ext cx="365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>
                <a:solidFill>
                  <a:srgbClr val="A97422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391363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C2733"/>
                </a:solidFill>
                <a:latin typeface="Noto Sans CJK SC"/>
              </a:defRPr>
            </a:pPr>
            <a:r>
              <a:t>拍卖/CBBA 保底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5230368"/>
            <a:ext cx="4983480" cy="749808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8680" y="5230368"/>
            <a:ext cx="64008" cy="749808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" y="5367528"/>
            <a:ext cx="46908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主动降级输入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1" y="5751576"/>
            <a:ext cx="469087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D1/D2 不确定性、D3 计划新鲜度、D5 视觉一致性、通信与二级 readiness。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230368"/>
            <a:ext cx="5074920" cy="749808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230368"/>
            <a:ext cx="64008" cy="749808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5367528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恢复原则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751576"/>
            <a:ext cx="478231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中心恢复后先双轨合并和 digest 校验，确认稳定后再恢复主控。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D4 运行时故障矩阵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六类 episode-time 故障场景，共 60 case；安全结果全部通过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675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62556F"/>
                </a:solidFill>
                <a:latin typeface="Noto Sans CJK SC"/>
              </a:defRPr>
            </a:pPr>
            <a:r>
              <a:t>每类 10 seeds 的安全结果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中心正常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2395728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3230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53512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中心失效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8" y="2907792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944368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465576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中心+二级失效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3419856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56432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77640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0.5 s 延迟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3931920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68496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489704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30% 丢包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4443984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001768"/>
            <a:ext cx="1508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1C2733"/>
                </a:solidFill>
                <a:latin typeface="Noto Sans CJK SC"/>
              </a:defRPr>
            </a:pPr>
            <a:r>
              <a:t>分区恢复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7168" y="4956048"/>
            <a:ext cx="3749039" cy="310896"/>
          </a:xfrm>
          <a:prstGeom prst="rect">
            <a:avLst/>
          </a:prstGeom>
          <a:solidFill>
            <a:srgbClr val="EBF1ED"/>
          </a:solidFill>
          <a:ln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992624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10/10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17556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865376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477358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340864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错误主动降级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1755648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7192" y="1865376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315B82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2340864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重复 plan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3063240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3172968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62556F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3648456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分裂脑防护失败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3063240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37192" y="3172968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28777C"/>
                </a:solidFill>
                <a:latin typeface="Noto Sans CJK SC"/>
              </a:defRPr>
            </a:pPr>
            <a:r>
              <a:t>60/60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192" y="3648456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安全结果通过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4462272"/>
            <a:ext cx="3429000" cy="1207008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4462272"/>
            <a:ext cx="64008" cy="1207008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9831" y="4599432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验证边界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1" y="4983480"/>
            <a:ext cx="313639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596673"/>
                </a:solidFill>
                <a:latin typeface="Noto Sans CJK SC"/>
              </a:defRPr>
            </a:pPr>
            <a:r>
              <a:t>当前是 AirSim episode 时钟下的延迟、丢包、失联与恢复注入；不能等价为真实 RF、时钟漂移和重传验证。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D5 终端视觉配准与身份认证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相机看到的最近目标，不一定是中心分配的目标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F4EAEA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A83B3B"/>
                </a:solidFill>
                <a:latin typeface="Noto Sans CJK SC"/>
              </a:defRPr>
            </a:pPr>
            <a:r>
              <a:t>D5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末端配准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GlobalTrack → 图像 → 锁定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63240"/>
            <a:ext cx="2011680" cy="960120"/>
          </a:xfrm>
          <a:prstGeom prst="rect">
            <a:avLst/>
          </a:prstGeom>
          <a:solidFill>
            <a:srgbClr val="EAF0F5"/>
          </a:solidFill>
          <a:ln w="2032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163824"/>
            <a:ext cx="18653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中心 GlobalTrack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83864"/>
            <a:ext cx="186537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预测位置 + 协方差</a:t>
            </a:r>
            <a:br/>
            <a:r>
              <a:t>当前 assignment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3547872"/>
            <a:ext cx="82296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03320" y="3063240"/>
            <a:ext cx="2103120" cy="96012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3163824"/>
            <a:ext cx="1956815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相机几何投影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483864"/>
            <a:ext cx="1956815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K / R / t / distortion</a:t>
            </a:r>
            <a:br/>
            <a:r>
              <a:t>协方差传播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3547872"/>
            <a:ext cx="82296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20840" y="3063240"/>
            <a:ext cx="2148840" cy="960120"/>
          </a:xfrm>
          <a:prstGeom prst="rect">
            <a:avLst/>
          </a:prstGeom>
          <a:solidFill>
            <a:srgbClr val="F5F0E6"/>
          </a:solidFill>
          <a:ln w="2032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163824"/>
            <a:ext cx="20025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97422"/>
                </a:solidFill>
                <a:latin typeface="Noto Sans CJK SC"/>
              </a:defRPr>
            </a:pPr>
            <a:r>
              <a:t>局部 MOT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483864"/>
            <a:ext cx="200253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YOLO / ByteTrack / BoT-SORT</a:t>
            </a:r>
            <a:br/>
            <a:r>
              <a:t>LocalVisualTrack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15400" y="3547872"/>
            <a:ext cx="640080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601200" y="3063240"/>
            <a:ext cx="1828800" cy="960120"/>
          </a:xfrm>
          <a:prstGeom prst="rect">
            <a:avLst/>
          </a:prstGeom>
          <a:solidFill>
            <a:srgbClr val="F4EAEA"/>
          </a:solidFill>
          <a:ln w="2032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3163824"/>
            <a:ext cx="16824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A83B3B"/>
                </a:solidFill>
                <a:latin typeface="Noto Sans CJK SC"/>
              </a:defRPr>
            </a:pPr>
            <a:r>
              <a:t>保守决策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483864"/>
            <a:ext cx="1682496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locked / ambiguous</a:t>
            </a:r>
            <a:br/>
            <a:r>
              <a:t>hold / reacquire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617720"/>
            <a:ext cx="3154680" cy="105156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4617720"/>
            <a:ext cx="64008" cy="105156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4754880"/>
            <a:ext cx="28620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匹配代价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5138928"/>
            <a:ext cx="286207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像素马氏距离 + 角速度一致性 + 时间戳 + 类别 + 友方冲突。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4617720"/>
            <a:ext cx="3154680" cy="105156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64008" cy="105156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4754880"/>
            <a:ext cx="28620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身份原则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138928"/>
            <a:ext cx="286207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Remote ID / 签名 / 视觉标签只做正向确认；未知不等于敌方。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4617720"/>
            <a:ext cx="3154680" cy="105156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4617720"/>
            <a:ext cx="64008" cy="105156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4754880"/>
            <a:ext cx="28620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系统纪律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5138928"/>
            <a:ext cx="286207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D5 不自行换绑或改写 global_track_id；冲突时上报中心/二级节点。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多相机视场重叠时如何关联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无人机1看到 1/2/3，无人机2看到 2/3/4：先局部跟踪，再通过全局几何与时间一致性注册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3977639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相机 A / 拦截机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59152"/>
            <a:ext cx="347472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2743200"/>
            <a:ext cx="512064" cy="512064"/>
          </a:xfrm>
          <a:prstGeom prst="ellipse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834640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331720" y="3401568"/>
            <a:ext cx="512064" cy="512064"/>
          </a:xfrm>
          <a:prstGeom prst="ellipse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493008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429000" y="2651760"/>
            <a:ext cx="512064" cy="512064"/>
          </a:xfrm>
          <a:prstGeom prst="ellipse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743200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691640"/>
            <a:ext cx="3977639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1874519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A83B3B"/>
                </a:solidFill>
                <a:latin typeface="Noto Sans CJK SC"/>
              </a:defRPr>
            </a:pPr>
            <a:r>
              <a:t>相机 B / 拦截机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359152"/>
            <a:ext cx="347472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3879" y="3401568"/>
            <a:ext cx="512064" cy="512064"/>
          </a:xfrm>
          <a:prstGeom prst="ellipse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493008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2651760"/>
            <a:ext cx="512064" cy="512064"/>
          </a:xfrm>
          <a:prstGeom prst="ellipse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10149840" y="3337560"/>
            <a:ext cx="512064" cy="512064"/>
          </a:xfrm>
          <a:prstGeom prst="ellipse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3429000"/>
            <a:ext cx="51206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2103120"/>
            <a:ext cx="2011680" cy="1600200"/>
          </a:xfrm>
          <a:prstGeom prst="rect">
            <a:avLst/>
          </a:prstGeom>
          <a:solidFill>
            <a:srgbClr val="EAF2F2"/>
          </a:solidFill>
          <a:ln w="2032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8072" y="2203703"/>
            <a:ext cx="186537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跨视角注册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2523744"/>
            <a:ext cx="1865376" cy="11155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GlobalTrack 投影</a:t>
            </a:r>
            <a:br/>
            <a:r>
              <a:t>时间对齐</a:t>
            </a:r>
            <a:br/>
            <a:r>
              <a:t>协方差门限</a:t>
            </a:r>
            <a:br/>
            <a:r>
              <a:t>bbox 历史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663440" y="2926080"/>
            <a:ext cx="365760" cy="201168"/>
          </a:xfrm>
          <a:prstGeom prst="line">
            <a:avLst/>
          </a:prstGeom>
          <a:ln w="15240">
            <a:solidFill>
              <a:srgbClr val="315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132320" y="2926080"/>
            <a:ext cx="320040" cy="201168"/>
          </a:xfrm>
          <a:prstGeom prst="line">
            <a:avLst/>
          </a:prstGeom>
          <a:ln w="15240">
            <a:solidFill>
              <a:srgbClr val="A8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114800" y="4096512"/>
            <a:ext cx="155448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123944"/>
            <a:ext cx="14630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目标2：A↔B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4096512"/>
            <a:ext cx="155448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123944"/>
            <a:ext cx="146303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目标3：A↔B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230368"/>
            <a:ext cx="4892040" cy="749808"/>
          </a:xfrm>
          <a:prstGeom prst="rect">
            <a:avLst/>
          </a:prstGeom>
          <a:solidFill>
            <a:srgbClr val="EFEC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5230368"/>
            <a:ext cx="64008" cy="749808"/>
          </a:xfrm>
          <a:prstGeom prst="rect">
            <a:avLst/>
          </a:prstGeom>
          <a:solidFill>
            <a:srgbClr val="62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5367528"/>
            <a:ext cx="4599431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完全无中心时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751576"/>
            <a:ext cx="4599431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各无人机交换带时间戳的局部轨迹摘要、bbox 尺度历史和候选集合；D4 原子联盟确认后才能执行。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230368"/>
            <a:ext cx="5074920" cy="749808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5230368"/>
            <a:ext cx="64008" cy="749808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5367528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不采用的捷径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5751576"/>
            <a:ext cx="4782312" cy="1097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不使用 AirSim detection truth ID 在线匹配；不把本地 MOT ID 当 global_track_id；不因“最近”自动换目标。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D5 末端视觉漏斗与当前断点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M5N2 共 120 个 active-primary 机会；可见不等于关联，更不等于控制许可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537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A83B3B"/>
                </a:solidFill>
                <a:latin typeface="Noto Sans CJK SC"/>
              </a:defRPr>
            </a:pPr>
            <a:r>
              <a:t>active-primary 漏斗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已分配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2423160"/>
            <a:ext cx="3794760" cy="365760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21408" y="2423160"/>
            <a:ext cx="3794760" cy="365760"/>
          </a:xfrm>
          <a:prstGeom prst="rect">
            <a:avLst/>
          </a:prstGeom>
          <a:solidFill>
            <a:srgbClr val="315B82"/>
          </a:solidFill>
          <a:ln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2478024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120/120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5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可见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3035808"/>
            <a:ext cx="3794760" cy="365760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1408" y="3035808"/>
            <a:ext cx="3794760" cy="365760"/>
          </a:xfrm>
          <a:prstGeom prst="rect">
            <a:avLst/>
          </a:prstGeom>
          <a:solidFill>
            <a:srgbClr val="28777C"/>
          </a:solidFill>
          <a:ln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3090672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120/120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12464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配准/锁定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08" y="3648456"/>
            <a:ext cx="3794760" cy="365760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21408" y="3648456"/>
            <a:ext cx="2341366" cy="365760"/>
          </a:xfrm>
          <a:prstGeom prst="rect">
            <a:avLst/>
          </a:prstGeom>
          <a:solidFill>
            <a:srgbClr val="A97422"/>
          </a:solidFill>
          <a:ln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3703320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A97422"/>
                </a:solidFill>
                <a:latin typeface="Noto Sans CJK SC"/>
              </a:defRPr>
            </a:pPr>
            <a:r>
              <a:t>74/120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25112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合同允许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1408" y="4261104"/>
            <a:ext cx="3794760" cy="365760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21408" y="4261104"/>
            <a:ext cx="1108069" cy="365760"/>
          </a:xfrm>
          <a:prstGeom prst="rect">
            <a:avLst/>
          </a:prstGeom>
          <a:solidFill>
            <a:srgbClr val="62556F"/>
          </a:solidFill>
          <a:ln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6752" y="4315968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62556F"/>
                </a:solidFill>
                <a:latin typeface="Noto Sans CJK SC"/>
              </a:defRPr>
            </a:pPr>
            <a:r>
              <a:t>35/120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C2733"/>
                </a:solidFill>
                <a:latin typeface="Noto Sans CJK SC"/>
              </a:defRPr>
            </a:pPr>
            <a:r>
              <a:t>控制允许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4873752"/>
            <a:ext cx="3794760" cy="365760"/>
          </a:xfrm>
          <a:prstGeom prst="rect">
            <a:avLst/>
          </a:prstGeom>
          <a:solidFill>
            <a:srgbClr val="EEF1F4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21408" y="4873752"/>
            <a:ext cx="220096" cy="365760"/>
          </a:xfrm>
          <a:prstGeom prst="rect">
            <a:avLst/>
          </a:prstGeom>
          <a:solidFill>
            <a:srgbClr val="A83B3B"/>
          </a:solidFill>
          <a:ln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4928616"/>
            <a:ext cx="685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7/120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41264"/>
            <a:ext cx="5852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物理接近 62/120 不反推前置合同；D6 保持四层结果独立。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1737360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1847088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315B82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322576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global ID 改写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1737360"/>
            <a:ext cx="1600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1847088"/>
            <a:ext cx="145389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477358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2" y="2322576"/>
            <a:ext cx="145389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在线 truth 使用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27248"/>
            <a:ext cx="3429000" cy="105156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3127248"/>
            <a:ext cx="64008" cy="105156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08392" y="3264408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原生 MOT 筛选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648456"/>
            <a:ext cx="313639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30" b="0">
                <a:solidFill>
                  <a:srgbClr val="596673"/>
                </a:solidFill>
                <a:latin typeface="Noto Sans CJK SC"/>
              </a:defRPr>
            </a:pPr>
            <a:r>
              <a:t>ByteTrack / BoT-SORT 在 20 m 可连续跟踪且 IDSW=0；P95 约 7.4 / 16.2 ms。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4370832"/>
            <a:ext cx="3429000" cy="1170432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4370832"/>
            <a:ext cx="64008" cy="1170432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4507992"/>
            <a:ext cx="31363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未通过准入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4892040"/>
            <a:ext cx="313639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30" b="0">
                <a:solidFill>
                  <a:srgbClr val="596673"/>
                </a:solidFill>
                <a:latin typeface="Noto Sans CJK SC"/>
              </a:defRPr>
            </a:pPr>
            <a:r>
              <a:t>20 m precision/recall 约 0.26-0.33；30/50 m 无检测，18 个工况中 0 个候选进入 confirmation。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742432"/>
            <a:ext cx="33375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A97422"/>
                </a:solidFill>
                <a:latin typeface="Noto Sans CJK SC"/>
              </a:defRPr>
            </a:pPr>
            <a:r>
              <a:t>默认仍使用 AirSim simGetDetections；YOLO/MOT 不因已接线而自动晋级。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D7 比例导引：雷达中段到视觉末端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保持经典 PN/PNG 核心公式，切换由 D3/D4/D5 合同和平台能力共同约束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EBF1ED"/>
          </a:solidFill>
          <a:ln w="1270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477358"/>
                </a:solidFill>
                <a:latin typeface="Noto Sans CJK SC"/>
              </a:defRPr>
            </a:pPr>
            <a:r>
              <a:t>D7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比例导引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位置 PN → 视觉 PNG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43200"/>
            <a:ext cx="2011680" cy="804672"/>
          </a:xfrm>
          <a:prstGeom prst="rect">
            <a:avLst/>
          </a:prstGeom>
          <a:solidFill>
            <a:srgbClr val="EAF0F5"/>
          </a:solidFill>
          <a:ln w="1524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52928"/>
            <a:ext cx="17922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315B82"/>
                </a:solidFill>
                <a:latin typeface="Noto Sans CJK SC"/>
              </a:defRPr>
            </a:pPr>
            <a:r>
              <a:t>雷达中段 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54680"/>
            <a:ext cx="17922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GlobalTrack 位置/速度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743200"/>
            <a:ext cx="2011680" cy="804672"/>
          </a:xfrm>
          <a:prstGeom prst="rect">
            <a:avLst/>
          </a:prstGeom>
          <a:solidFill>
            <a:srgbClr val="F5F0E6"/>
          </a:solidFill>
          <a:ln w="1524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2852928"/>
            <a:ext cx="17922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A97422"/>
                </a:solidFill>
                <a:latin typeface="Noto Sans CJK SC"/>
              </a:defRPr>
            </a:pPr>
            <a:r>
              <a:t>交接准备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154680"/>
            <a:ext cx="17922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距离/检测框稳定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2743200"/>
            <a:ext cx="2011680" cy="804672"/>
          </a:xfrm>
          <a:prstGeom prst="rect">
            <a:avLst/>
          </a:prstGeom>
          <a:solidFill>
            <a:srgbClr val="EFECF2"/>
          </a:solidFill>
          <a:ln w="1524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1848" y="2852928"/>
            <a:ext cx="17922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62556F"/>
                </a:solidFill>
                <a:latin typeface="Noto Sans CJK SC"/>
              </a:defRPr>
            </a:pPr>
            <a:r>
              <a:t>D3/D4/D5 门控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3154680"/>
            <a:ext cx="17922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身份/版本/联盟/机动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743200"/>
            <a:ext cx="2011680" cy="804672"/>
          </a:xfrm>
          <a:prstGeom prst="rect">
            <a:avLst/>
          </a:prstGeom>
          <a:solidFill>
            <a:srgbClr val="EBF1ED"/>
          </a:solidFill>
          <a:ln w="1524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852928"/>
            <a:ext cx="17922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477358"/>
                </a:solidFill>
                <a:latin typeface="Noto Sans CJK SC"/>
              </a:defRPr>
            </a:pPr>
            <a:r>
              <a:t>视觉 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154680"/>
            <a:ext cx="17922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LOS rate + TTC/VM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16352" y="3154680"/>
            <a:ext cx="292608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93792" y="3154680"/>
            <a:ext cx="292608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1231" y="3154680"/>
            <a:ext cx="292609" cy="0"/>
          </a:xfrm>
          <a:prstGeom prst="line">
            <a:avLst/>
          </a:prstGeom>
          <a:ln w="1778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160520"/>
            <a:ext cx="4937760" cy="105156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160520"/>
            <a:ext cx="64008" cy="105156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297680"/>
            <a:ext cx="46451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切换必须同时满足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81728"/>
            <a:ext cx="464515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分配一致、联盟 committed、D5 locked、相机质量、LOS 稳定、机动余量和剩余窗口。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60520"/>
            <a:ext cx="4937760" cy="105156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160520"/>
            <a:ext cx="64008" cy="105156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297680"/>
            <a:ext cx="46451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任何一项不满足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81728"/>
            <a:ext cx="4645152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保持 radar_midcourse / hold / reacquire；不得绕过门控，不得激活 standby reserve。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5623560"/>
            <a:ext cx="214884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650992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477358"/>
                </a:solidFill>
                <a:latin typeface="Noto Sans CJK SC"/>
              </a:defRPr>
            </a:pPr>
            <a:r>
              <a:t>2v2 PNG-TTC：20/20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1880" y="5623560"/>
            <a:ext cx="2331720" cy="310896"/>
          </a:xfrm>
          <a:prstGeom prst="rect">
            <a:avLst/>
          </a:prstGeom>
          <a:solidFill>
            <a:srgbClr val="F4EAEA"/>
          </a:solidFill>
          <a:ln>
            <a:solidFill>
              <a:srgbClr val="F4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650992"/>
            <a:ext cx="224027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M5N2 最佳联盟：5/10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623560"/>
            <a:ext cx="2423160" cy="310896"/>
          </a:xfrm>
          <a:prstGeom prst="rect">
            <a:avLst/>
          </a:prstGeom>
          <a:solidFill>
            <a:srgbClr val="EFECF2"/>
          </a:solidFill>
          <a:ln>
            <a:solidFill>
              <a:srgbClr val="EF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650992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30" b="1">
                <a:solidFill>
                  <a:srgbClr val="62556F"/>
                </a:solidFill>
                <a:latin typeface="Noto Sans CJK SC"/>
              </a:defRPr>
            </a:pPr>
            <a:r>
              <a:t>P2：3D / True PN / APN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650992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596673"/>
                </a:solidFill>
                <a:latin typeface="Noto Sans CJK SC"/>
              </a:defRPr>
            </a:pPr>
            <a:r>
              <a:t>P2 只做离线质点对照，不替换位置 PN / 视觉 PNG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全流程仿真已经形成可回放闭环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质点模型用于算法闭环，AirSim 用于接口、视觉和 SimpleFlight 控制验证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lobal_process_2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29399"/>
            <a:ext cx="5413248" cy="37672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9360" y="1572768"/>
            <a:ext cx="52852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rsim_3d_intercept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154065"/>
            <a:ext cx="5212080" cy="33179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37360" y="6053328"/>
            <a:ext cx="246888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6080760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28777C"/>
                </a:solidFill>
                <a:latin typeface="Noto Sans CJK SC"/>
              </a:defRPr>
            </a:pPr>
            <a:r>
              <a:t>左：2D 全局流程 GIF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6053328"/>
            <a:ext cx="260604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6080760"/>
            <a:ext cx="25146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右：AirSim 受控 3D 轨迹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D6 系统级评估指标体系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检测、跟踪、分配、降级、末端视觉、安全和物理结果统一进入评估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1920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18488"/>
            <a:ext cx="502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1C2733"/>
                </a:solidFill>
                <a:latin typeface="Noto Sans CJK SC"/>
              </a:defRPr>
            </a:pPr>
            <a:r>
              <a:t>D6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600200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评估指标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92807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596673"/>
                </a:solidFill>
                <a:latin typeface="Noto Sans CJK SC"/>
              </a:defRPr>
            </a:pPr>
            <a:r>
              <a:t>日志消费与批量报告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43200"/>
            <a:ext cx="3337560" cy="86868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43200"/>
            <a:ext cx="64008" cy="86868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60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探测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264408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Pd / FAR / 漏检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743200"/>
            <a:ext cx="3337560" cy="86868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64008" cy="86868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880360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跟踪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264408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RMSE / continuity / IDSW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743200"/>
            <a:ext cx="3337560" cy="86868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743200"/>
            <a:ext cx="64008" cy="86868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2880360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264408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重复 / 未分配高威胁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13632"/>
            <a:ext cx="3337560" cy="868680"/>
          </a:xfrm>
          <a:prstGeom prst="rect">
            <a:avLst/>
          </a:prstGeom>
          <a:solidFill>
            <a:srgbClr val="EFEC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13632"/>
            <a:ext cx="64008" cy="868680"/>
          </a:xfrm>
          <a:prstGeom prst="rect">
            <a:avLst/>
          </a:prstGeom>
          <a:solidFill>
            <a:srgbClr val="62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05079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降级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434840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接管时间 / ACK / 共识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913632"/>
            <a:ext cx="3337560" cy="86868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913632"/>
            <a:ext cx="64008" cy="86868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05079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末端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434840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锁定 / 模糊 / hold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3913632"/>
            <a:ext cx="3337560" cy="86868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3913632"/>
            <a:ext cx="64008" cy="86868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4050792"/>
            <a:ext cx="3044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434840"/>
            <a:ext cx="30449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约束 / 人工覆盖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5285232"/>
            <a:ext cx="10149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68112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A83B3B"/>
                </a:solidFill>
                <a:latin typeface="Noto Sans CJK SC"/>
              </a:defRPr>
            </a:pPr>
            <a:r>
              <a:t>四层结果必须分开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5458968"/>
            <a:ext cx="1737360" cy="310896"/>
          </a:xfrm>
          <a:prstGeom prst="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486400"/>
            <a:ext cx="16459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contract_allowed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5458968"/>
            <a:ext cx="1645920" cy="310896"/>
          </a:xfrm>
          <a:prstGeom prst="rect">
            <a:avLst/>
          </a:prstGeom>
          <a:solidFill>
            <a:srgbClr val="EAF2F2"/>
          </a:solidFill>
          <a:ln>
            <a:solidFill>
              <a:srgbClr val="EA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59" y="5486400"/>
            <a:ext cx="155448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19" b="1">
                <a:solidFill>
                  <a:srgbClr val="28777C"/>
                </a:solidFill>
                <a:latin typeface="Noto Sans CJK SC"/>
              </a:defRPr>
            </a:pPr>
            <a:r>
              <a:t>control_allowed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5458968"/>
            <a:ext cx="1508760" cy="310896"/>
          </a:xfrm>
          <a:prstGeom prst="rect">
            <a:avLst/>
          </a:prstGeom>
          <a:solidFill>
            <a:srgbClr val="F5F0E6"/>
          </a:solidFill>
          <a:ln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5486400"/>
            <a:ext cx="14173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19" b="1">
                <a:solidFill>
                  <a:srgbClr val="A97422"/>
                </a:solidFill>
                <a:latin typeface="Noto Sans CJK SC"/>
              </a:defRPr>
            </a:pPr>
            <a:r>
              <a:t>mode_switched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5458968"/>
            <a:ext cx="1965960" cy="310896"/>
          </a:xfrm>
          <a:prstGeom prst="rect">
            <a:avLst/>
          </a:prstGeom>
          <a:solidFill>
            <a:srgbClr val="EBF1ED"/>
          </a:solidFill>
          <a:ln>
            <a:solidFill>
              <a:srgbClr val="EB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5486400"/>
            <a:ext cx="1874519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19" b="1">
                <a:solidFill>
                  <a:srgbClr val="477358"/>
                </a:solidFill>
                <a:latin typeface="Noto Sans CJK SC"/>
              </a:defRPr>
            </a:pPr>
            <a:r>
              <a:t>physical_intercept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6099048"/>
            <a:ext cx="813816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本轮统一展开：D2 3660 行、D4 60 行、D5 160 行、D7 164 行；缺失数据保持 unavailable。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2026-07-13 AirSim 验证总览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同一套运行时分别验证身份、降级、协同闭环和真实视觉后端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2487168" cy="182880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64208"/>
            <a:ext cx="64008" cy="182880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013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严格 dense crossing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85416"/>
            <a:ext cx="219456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40 episode</a:t>
            </a:r>
            <a:br/>
            <a:r>
              <a:t>IDSW 下降 54.6%</a:t>
            </a:r>
            <a:br/>
            <a:r>
              <a:t>候选未晋级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1664208"/>
            <a:ext cx="2487168" cy="1828800"/>
          </a:xfrm>
          <a:prstGeom prst="rect">
            <a:avLst/>
          </a:prstGeom>
          <a:solidFill>
            <a:srgbClr val="EFEC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664208"/>
            <a:ext cx="64008" cy="1828800"/>
          </a:xfrm>
          <a:prstGeom prst="rect">
            <a:avLst/>
          </a:prstGeom>
          <a:solidFill>
            <a:srgbClr val="625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18013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D4 故障矩阵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185416"/>
            <a:ext cx="219456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60 case</a:t>
            </a:r>
            <a:br/>
            <a:r>
              <a:t>安全结果 60/60</a:t>
            </a:r>
            <a:br/>
            <a:r>
              <a:t>误降级/重复 owner=0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664208"/>
            <a:ext cx="2487168" cy="182880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8504" y="1664208"/>
            <a:ext cx="64008" cy="182880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8013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M5N2 协同闭环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185416"/>
            <a:ext cx="219456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40 episode</a:t>
            </a:r>
            <a:br/>
            <a:r>
              <a:t>最佳 profile 5/10</a:t>
            </a:r>
            <a:br/>
            <a:r>
              <a:t>目标门槛 8/10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1664208"/>
            <a:ext cx="2487168" cy="1828800"/>
          </a:xfrm>
          <a:prstGeom prst="rect">
            <a:avLst/>
          </a:prstGeom>
          <a:solidFill>
            <a:srgbClr val="F5F0E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1664208"/>
            <a:ext cx="64008" cy="1828800"/>
          </a:xfrm>
          <a:prstGeom prst="rect">
            <a:avLst/>
          </a:prstGeom>
          <a:solidFill>
            <a:srgbClr val="A97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8013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C2733"/>
                </a:solidFill>
                <a:latin typeface="Noto Sans CJK SC"/>
              </a:defRPr>
            </a:pPr>
            <a:r>
              <a:t>原生 MOT 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185416"/>
            <a:ext cx="219456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596673"/>
                </a:solidFill>
                <a:latin typeface="Noto Sans CJK SC"/>
              </a:defRPr>
            </a:pPr>
            <a:r>
              <a:t>18 case</a:t>
            </a:r>
            <a:br/>
            <a:r>
              <a:t>20 m 可跟踪</a:t>
            </a:r>
            <a:br/>
            <a:r>
              <a:t>30/50 m 无检测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40480"/>
            <a:ext cx="10927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16459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C2733"/>
                </a:solidFill>
                <a:latin typeface="Noto Sans CJK SC"/>
              </a:defRPr>
            </a:pPr>
            <a:r>
              <a:t>系统证据结论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041648"/>
            <a:ext cx="8549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477358"/>
                </a:solidFill>
                <a:latin typeface="Noto Sans CJK SC"/>
              </a:defRPr>
            </a:pPr>
            <a:r>
              <a:t>P0 安全合同保持：reserve 越权=0、global_track_id 改写=0、在线 truth 使用=0。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34840"/>
            <a:ext cx="8549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A83B3B"/>
                </a:solidFill>
                <a:latin typeface="Noto Sans CJK SC"/>
              </a:defRPr>
            </a:pPr>
            <a:r>
              <a:t>P1 主要断点：第二 primary 的 D5 锁定与末端 detection acquisition timeout。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257800"/>
            <a:ext cx="3246120" cy="77724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257800"/>
            <a:ext cx="64008" cy="77724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394960"/>
            <a:ext cx="2953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已经证明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779008"/>
            <a:ext cx="295351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596673"/>
                </a:solidFill>
                <a:latin typeface="Noto Sans CJK SC"/>
              </a:defRPr>
            </a:pPr>
            <a:r>
              <a:t>运行时合同、版本/身份安全、故障注入与统一离线验收可重复执行。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7408" y="5257800"/>
            <a:ext cx="3246120" cy="77724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5257800"/>
            <a:ext cx="64008" cy="77724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394960"/>
            <a:ext cx="2953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尚未证明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779008"/>
            <a:ext cx="295351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596673"/>
                </a:solidFill>
                <a:latin typeface="Noto Sans CJK SC"/>
              </a:defRPr>
            </a:pPr>
            <a:r>
              <a:t>M5N2 在真实视觉链路下达到 8/10；原生 YOLO/MOT 可替代 detect。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28431" y="5257800"/>
            <a:ext cx="3246120" cy="77724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28431" y="5257800"/>
            <a:ext cx="64008" cy="77724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3" y="5394960"/>
            <a:ext cx="29535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默认策略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3" y="5779008"/>
            <a:ext cx="295351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19" b="0">
                <a:solidFill>
                  <a:srgbClr val="596673"/>
                </a:solidFill>
                <a:latin typeface="Noto Sans CJK SC"/>
              </a:defRPr>
            </a:pPr>
            <a:r>
              <a:t>GNN/Hungarian、SciPy、保守 D4/D5、AirSim detect、现有 PN/PNG 不变。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P1 / P2 成熟度与技术边界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已完成的不夸大，未完成的可量化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27632"/>
            <a:ext cx="1280160" cy="457200"/>
          </a:xfrm>
          <a:prstGeom prst="rect">
            <a:avLst/>
          </a:prstGeom>
          <a:solidFill>
            <a:srgbClr val="1C2733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46504"/>
            <a:ext cx="118871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627632"/>
            <a:ext cx="2560320" cy="457200"/>
          </a:xfrm>
          <a:prstGeom prst="rect">
            <a:avLst/>
          </a:prstGeom>
          <a:solidFill>
            <a:srgbClr val="1C2733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746504"/>
            <a:ext cx="2468879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P1 合同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627632"/>
            <a:ext cx="3291840" cy="457200"/>
          </a:xfrm>
          <a:prstGeom prst="rect">
            <a:avLst/>
          </a:prstGeom>
          <a:solidFill>
            <a:srgbClr val="1C2733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46504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P1 物理/长期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627632"/>
            <a:ext cx="3337560" cy="457200"/>
          </a:xfrm>
          <a:prstGeom prst="rect">
            <a:avLst/>
          </a:prstGeom>
          <a:solidFill>
            <a:srgbClr val="1C2733"/>
          </a:solidFill>
          <a:ln w="12700">
            <a:solidFill>
              <a:srgbClr val="1C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46504"/>
            <a:ext cx="3246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P2 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48840"/>
            <a:ext cx="1280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258568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148840"/>
            <a:ext cx="2560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2264" y="2258568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148840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258568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长 replay / 协方差治理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148840"/>
            <a:ext cx="3337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2258568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FilterPy/Stone Soup 可选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88336"/>
            <a:ext cx="12801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2798064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688336"/>
            <a:ext cx="256032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12264" y="2798064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2688336"/>
            <a:ext cx="329184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5464" y="2798064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候选未过晋级门槛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688336"/>
            <a:ext cx="33375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2798064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JPDA/MHT 离线对照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227832"/>
            <a:ext cx="1280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3337560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3227832"/>
            <a:ext cx="2560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12264" y="3337560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3227832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55464" y="3337560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plan history / 动态 N/M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227832"/>
            <a:ext cx="3337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4" y="3337560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OR-Tools 仅接口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767328"/>
            <a:ext cx="12801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" y="3877056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3767328"/>
            <a:ext cx="256032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12264" y="3877056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60/60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3767328"/>
            <a:ext cx="329184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5464" y="3877056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真实 RF / 时钟 / 重传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767328"/>
            <a:ext cx="33375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0184" y="3877056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外部 CBBA 未接入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306824"/>
            <a:ext cx="1280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4416552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4306824"/>
            <a:ext cx="2560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12264" y="4416552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74/120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4306824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5464" y="4416552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第二 primary / 30-50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4306824"/>
            <a:ext cx="3337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4416552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MOT 0 个准入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846320"/>
            <a:ext cx="12801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" y="4956048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4846320"/>
            <a:ext cx="256032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2264" y="4956048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完成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600" y="4846320"/>
            <a:ext cx="329184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55464" y="4956048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长期趋势 / schema 治理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4846320"/>
            <a:ext cx="3337560" cy="475488"/>
          </a:xfrm>
          <a:prstGeom prst="rect">
            <a:avLst/>
          </a:prstGeom>
          <a:solidFill>
            <a:srgbClr val="EEF1F4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0184" y="4956048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motmetrics 可选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5385816"/>
            <a:ext cx="1280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" y="5495544"/>
            <a:ext cx="117043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D7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5385816"/>
            <a:ext cx="2560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12264" y="5495544"/>
            <a:ext cx="2450591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1">
                <a:solidFill>
                  <a:srgbClr val="477358"/>
                </a:solidFill>
                <a:latin typeface="Noto Sans CJK SC"/>
              </a:defRPr>
            </a:pPr>
            <a:r>
              <a:t>2v2 20/20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00600" y="5385816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55464" y="5495544"/>
            <a:ext cx="31821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M5N2 最佳 5/10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5385816"/>
            <a:ext cx="33375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0184" y="5495544"/>
            <a:ext cx="32278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19" b="0">
                <a:solidFill>
                  <a:srgbClr val="1C2733"/>
                </a:solidFill>
                <a:latin typeface="Noto Sans CJK SC"/>
              </a:defRPr>
            </a:pPr>
            <a:r>
              <a:t>3D/APN/FRPN 质点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0120" y="5989320"/>
            <a:ext cx="10241280" cy="438912"/>
          </a:xfrm>
          <a:prstGeom prst="rect">
            <a:avLst/>
          </a:prstGeom>
          <a:solidFill>
            <a:srgbClr val="EAF0F5"/>
          </a:solidFill>
          <a:ln w="1270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70432" y="6099048"/>
            <a:ext cx="9829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315B82"/>
                </a:solidFill>
                <a:latin typeface="Noto Sans CJK SC"/>
              </a:defRPr>
            </a:pPr>
            <a:r>
              <a:t>总体判断：当前无运行级 P0 blocker；P1 主线转为 M5N2 第二 primary 视觉获取与联盟完成率；P2 不替换默认算法。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下一阶段工作计划与资源建议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先关闭物理闭环，再进入更真实飞控和硬件联试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514600" cy="804672"/>
          </a:xfrm>
          <a:prstGeom prst="rect">
            <a:avLst/>
          </a:prstGeom>
          <a:solidFill>
            <a:srgbClr val="F4EAEA"/>
          </a:solidFill>
          <a:ln w="1524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01368"/>
            <a:ext cx="22951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A83B3B"/>
                </a:solidFill>
                <a:latin typeface="Noto Sans CJK SC"/>
              </a:defRPr>
            </a:pPr>
            <a:r>
              <a:t>阶段 1：第二主资源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03120"/>
            <a:ext cx="229514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持续 detection / D5 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691640"/>
            <a:ext cx="2514600" cy="804672"/>
          </a:xfrm>
          <a:prstGeom prst="rect">
            <a:avLst/>
          </a:prstGeom>
          <a:solidFill>
            <a:srgbClr val="F5F0E6"/>
          </a:solidFill>
          <a:ln w="1524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01368"/>
            <a:ext cx="22951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A97422"/>
                </a:solidFill>
                <a:latin typeface="Noto Sans CJK SC"/>
              </a:defRPr>
            </a:pPr>
            <a:r>
              <a:t>阶段 2：M5N2 收敛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03120"/>
            <a:ext cx="229514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最佳 profile 达到 8/10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2514600" cy="804672"/>
          </a:xfrm>
          <a:prstGeom prst="rect">
            <a:avLst/>
          </a:prstGeom>
          <a:solidFill>
            <a:srgbClr val="EAF2F2"/>
          </a:solidFill>
          <a:ln w="1524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01368"/>
            <a:ext cx="22951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8777C"/>
                </a:solidFill>
                <a:latin typeface="Noto Sans CJK SC"/>
              </a:defRPr>
            </a:pPr>
            <a:r>
              <a:t>阶段 3：通信实装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229514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时钟 / 带宽 / 乱序 / 恢复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691640"/>
            <a:ext cx="2331720" cy="804672"/>
          </a:xfrm>
          <a:prstGeom prst="rect">
            <a:avLst/>
          </a:prstGeom>
          <a:solidFill>
            <a:srgbClr val="EAF0F5"/>
          </a:solidFill>
          <a:ln w="1524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1801368"/>
            <a:ext cx="2112263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315B82"/>
                </a:solidFill>
                <a:latin typeface="Noto Sans CJK SC"/>
              </a:defRPr>
            </a:pPr>
            <a:r>
              <a:t>阶段 4：工程化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2103120"/>
            <a:ext cx="211226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596673"/>
                </a:solidFill>
                <a:latin typeface="Noto Sans CJK SC"/>
              </a:defRPr>
            </a:pPr>
            <a:r>
              <a:t>PX4 / ROS 2 / 硬件在环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73552" y="2084831"/>
            <a:ext cx="219456" cy="0"/>
          </a:xfrm>
          <a:prstGeom prst="line">
            <a:avLst/>
          </a:prstGeom>
          <a:ln w="1905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62472" y="2084831"/>
            <a:ext cx="219456" cy="0"/>
          </a:xfrm>
          <a:prstGeom prst="line">
            <a:avLst/>
          </a:prstGeom>
          <a:ln w="1905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51392" y="2084831"/>
            <a:ext cx="219456" cy="0"/>
          </a:xfrm>
          <a:prstGeom prst="line">
            <a:avLst/>
          </a:prstGeom>
          <a:ln w="19050">
            <a:solidFill>
              <a:srgbClr val="596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3063240"/>
            <a:ext cx="1645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C2733"/>
                </a:solidFill>
                <a:latin typeface="Noto Sans CJK SC"/>
              </a:defRPr>
            </a:pPr>
            <a:r>
              <a:t>资源与组织建议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566160"/>
            <a:ext cx="5074920" cy="868680"/>
          </a:xfrm>
          <a:prstGeom prst="rect">
            <a:avLst/>
          </a:prstGeom>
          <a:solidFill>
            <a:srgbClr val="F4EAEA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566160"/>
            <a:ext cx="64008" cy="86868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03320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资源聚焦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087368"/>
            <a:ext cx="4782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优先提高第二 primary 获取率，不再把二级全局观察作为远距分配前置条件。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66160"/>
            <a:ext cx="5074920" cy="868680"/>
          </a:xfrm>
          <a:prstGeom prst="rect">
            <a:avLst/>
          </a:prstGeom>
          <a:solidFill>
            <a:srgbClr val="EBF1ED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566160"/>
            <a:ext cx="64008" cy="868680"/>
          </a:xfrm>
          <a:prstGeom prst="rect">
            <a:avLst/>
          </a:prstGeom>
          <a:solidFill>
            <a:srgbClr val="47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703320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验证门槛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087368"/>
            <a:ext cx="4782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M5N2 最佳 profile 至少 8/10，且身份、版本和 reserve 安全违规保持 0。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645152"/>
            <a:ext cx="5074920" cy="868680"/>
          </a:xfrm>
          <a:prstGeom prst="rect">
            <a:avLst/>
          </a:prstGeom>
          <a:solidFill>
            <a:srgbClr val="EAF0F5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4645152"/>
            <a:ext cx="64008" cy="868680"/>
          </a:xfrm>
          <a:prstGeom prst="rect">
            <a:avLst/>
          </a:prstGeom>
          <a:solidFill>
            <a:srgbClr val="315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782312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算法准入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166360"/>
            <a:ext cx="4782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ByteTrack/BoT-SORT 先解决 30/50 m 召回，再进入多 seed confirmation。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645152"/>
            <a:ext cx="5074920" cy="868680"/>
          </a:xfrm>
          <a:prstGeom prst="rect">
            <a:avLst/>
          </a:prstGeom>
          <a:solidFill>
            <a:srgbClr val="EAF2F2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645152"/>
            <a:ext cx="64008" cy="868680"/>
          </a:xfrm>
          <a:prstGeom prst="rect">
            <a:avLst/>
          </a:prstGeom>
          <a:solidFill>
            <a:srgbClr val="28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782312"/>
            <a:ext cx="478231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C2733"/>
                </a:solidFill>
                <a:latin typeface="Noto Sans CJK SC"/>
              </a:defRPr>
            </a:pPr>
            <a:r>
              <a:t>工程准备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5166360"/>
            <a:ext cx="47823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596673"/>
                </a:solidFill>
                <a:latin typeface="Noto Sans CJK SC"/>
              </a:defRPr>
            </a:pPr>
            <a:r>
              <a:t>冻结相机 K/R/t、时间同步、链路延迟与平台机动能力配置，支撑硬件在环。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833872"/>
            <a:ext cx="10241280" cy="530352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971032"/>
            <a:ext cx="9784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阶段验收目标：M5N2 联盟完成率达到 8/10，P0 安全指标继续保持零违规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领导汇报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附录 A：主要节点能力指标建议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指标来自当前 D1-D7 处理周期、AirSim 验证条件和工程样机需求分解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5349240" cy="2011680"/>
          </a:xfrm>
          <a:prstGeom prst="rect">
            <a:avLst/>
          </a:prstGeom>
          <a:solidFill>
            <a:srgbClr val="FFFFFF"/>
          </a:solidFill>
          <a:ln w="1651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5349240" cy="438912"/>
          </a:xfrm>
          <a:prstGeom prst="rect">
            <a:avLst/>
          </a:prstGeom>
          <a:solidFill>
            <a:srgbClr val="EAF0F5"/>
          </a:solidFill>
          <a:ln w="1016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82495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中心节点 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9696"/>
            <a:ext cx="4892040" cy="123444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CPU：16-32 核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内存：64-128 GB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存储：4-8 TB NVMe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GPU：NVIDIA L4 / RTX 6000 Ada 级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航迹到新计划：&lt;300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572768"/>
            <a:ext cx="5349240" cy="2011680"/>
          </a:xfrm>
          <a:prstGeom prst="rect">
            <a:avLst/>
          </a:prstGeom>
          <a:solidFill>
            <a:srgbClr val="FFFFFF"/>
          </a:solidFill>
          <a:ln w="1651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572768"/>
            <a:ext cx="5349240" cy="438912"/>
          </a:xfrm>
          <a:prstGeom prst="rect">
            <a:avLst/>
          </a:prstGeom>
          <a:solidFill>
            <a:srgbClr val="EAF2F2"/>
          </a:solidFill>
          <a:ln w="10160">
            <a:solidFill>
              <a:srgbClr val="28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82495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28777C"/>
                </a:solidFill>
                <a:latin typeface="Noto Sans CJK SC"/>
              </a:defRPr>
            </a:pPr>
            <a:r>
              <a:t>地面雷达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39696"/>
            <a:ext cx="4892040" cy="123444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更新率：10 Hz 或更高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角精度：约 0.5 deg 级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距离误差：1-6 m 量级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端到端延时：&lt;100-200 ms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必须输出时间戳、协方差和质量状态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04487"/>
            <a:ext cx="5349240" cy="2011680"/>
          </a:xfrm>
          <a:prstGeom prst="rect">
            <a:avLst/>
          </a:prstGeom>
          <a:solidFill>
            <a:srgbClr val="FFFFFF"/>
          </a:solidFill>
          <a:ln w="1651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04487"/>
            <a:ext cx="5349240" cy="438912"/>
          </a:xfrm>
          <a:prstGeom prst="rect">
            <a:avLst/>
          </a:prstGeom>
          <a:solidFill>
            <a:srgbClr val="EFECF2"/>
          </a:solidFill>
          <a:ln w="10160">
            <a:solidFill>
              <a:srgbClr val="625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14215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2556F"/>
                </a:solidFill>
                <a:latin typeface="Noto Sans CJK SC"/>
              </a:defRPr>
            </a:pPr>
            <a:r>
              <a:t>高空侦察二级节点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71416"/>
            <a:ext cx="4892040" cy="123444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试验高度：50-200 m 分档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续航：机动平台 30-60 min；系留备选 24-50 h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载荷：2-5 kg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EO/IR：4K/40MP + 热成像 + 云台/LRF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数据链：MANET；系留备选可提供 100 Mbps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04487"/>
            <a:ext cx="5349240" cy="2011680"/>
          </a:xfrm>
          <a:prstGeom prst="rect">
            <a:avLst/>
          </a:prstGeom>
          <a:solidFill>
            <a:srgbClr val="FFFFFF"/>
          </a:solidFill>
          <a:ln w="1651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904487"/>
            <a:ext cx="5349240" cy="438912"/>
          </a:xfrm>
          <a:prstGeom prst="rect">
            <a:avLst/>
          </a:prstGeom>
          <a:solidFill>
            <a:srgbClr val="EBF1ED"/>
          </a:solidFill>
          <a:ln w="10160">
            <a:solidFill>
              <a:srgbClr val="47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14215"/>
            <a:ext cx="4983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477358"/>
                </a:solidFill>
                <a:latin typeface="Noto Sans CJK SC"/>
              </a:defRPr>
            </a:pPr>
            <a:r>
              <a:t>拦截无人机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71416"/>
            <a:ext cx="4892040" cy="1234440"/>
          </a:xfrm>
          <a:prstGeom prst="rect">
            <a:avLst/>
          </a:prstGeom>
          <a:noFill/>
        </p:spPr>
        <p:txBody>
          <a:bodyPr wrap="square" lIns="36576" rIns="18288" tIns="18288">
            <a:spAutoFit/>
          </a:bodyPr>
          <a:lstStyle/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速度比：拦截机/目标 &gt;=1.5-2.0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相机：2-4 MP 全局快门、60 fps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机载算力：Orin Nano/NX 级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续航：10-20 min 热备/巡逻</a:t>
            </a:r>
          </a:p>
          <a:p>
            <a:pPr>
              <a:lnSpc>
                <a:spcPct val="100000"/>
              </a:lnSpc>
              <a:spcAft>
                <a:spcPts val="472"/>
              </a:spcAft>
              <a:defRPr sz="1050">
                <a:solidFill>
                  <a:srgbClr val="1C2733"/>
                </a:solidFill>
                <a:latin typeface="Noto Sans CJK SC"/>
              </a:defRPr>
            </a:pPr>
            <a:r>
              <a:t>• 热备起飞响应：2-10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281928"/>
            <a:ext cx="10972800" cy="201168"/>
          </a:xfrm>
          <a:prstGeom prst="rect">
            <a:avLst/>
          </a:prstGeom>
          <a:solidFill>
            <a:srgbClr val="F2F4F6"/>
          </a:solidFill>
          <a:ln w="1270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6172200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596673"/>
                </a:solidFill>
                <a:latin typeface="Noto Sans CJK SC"/>
              </a:defRPr>
            </a:pPr>
            <a:r>
              <a:t>工程含义：D1-D4 的数学计算量较小，主要资源消耗集中在 D5 多路视频/MOT、二级视频 cue 和 D6 批量日志。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附录 B：通信带宽与响应时间预算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默认传输结构化元数据；视频只在指定区域、指定资源之间定向传输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05740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19476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链路/模块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00200"/>
            <a:ext cx="228600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728216"/>
            <a:ext cx="21762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结构化数据预算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600200"/>
            <a:ext cx="324612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1728216"/>
            <a:ext cx="3136391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工程建议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600200"/>
            <a:ext cx="315468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1728216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时延/响应要求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093976"/>
            <a:ext cx="20574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1">
                <a:solidFill>
                  <a:srgbClr val="1C2733"/>
                </a:solidFill>
                <a:latin typeface="Noto Sans CJK SC"/>
              </a:defRPr>
            </a:pPr>
            <a:r>
              <a:t>C2—雷达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093976"/>
            <a:ext cx="22860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212848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&lt;10 Mbps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093976"/>
            <a:ext cx="324612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212848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1 GbE/专线 + 时间同步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093976"/>
            <a:ext cx="315468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2212848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雷达端到端 &lt;100-200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15184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34056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C2—二级节点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61518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7208" y="2734056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1-10 Mbps metadata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615184"/>
            <a:ext cx="3246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4648" y="2734056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10-100 Mbps MANET + 双链路备份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615184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2734056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heartbeat stale 约 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136391"/>
            <a:ext cx="20574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255263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二级—拦截机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136391"/>
            <a:ext cx="22860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3255263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1-10 Mbps metadata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136391"/>
            <a:ext cx="324612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3255263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10-100 Mbps MANET；视频定向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3136391"/>
            <a:ext cx="315468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3255263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跨相机 skew &lt;50-100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657600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776472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C2—拦截机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65760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07208" y="3776472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0.5-2 Mbps/架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3657600"/>
            <a:ext cx="3246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84648" y="3776472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控制/状态 QoS 高于视频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657600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8" y="3776472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计划与 bbox &lt;100-200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178808"/>
            <a:ext cx="20574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4297680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拦截机—拦截机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178808"/>
            <a:ext cx="22860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07208" y="4297680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0.1-1 Mbps/架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0" y="4178808"/>
            <a:ext cx="324612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84648" y="4297680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低时延 MANET；丢包可观测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4178808"/>
            <a:ext cx="315468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22208" y="4297680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CBBA round 约 0.5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700016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818888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D7 单 pair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70001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07208" y="4818888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20-50 kB/s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4700016"/>
            <a:ext cx="3246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84648" y="4818888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只传 Track/Plan/bbox，不传 PNG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4700016"/>
            <a:ext cx="3154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4818888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单 pair 计算 &lt;5 ms；上限 0.35 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5221224"/>
            <a:ext cx="20574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5340096"/>
            <a:ext cx="19293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视频 cue / replay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5221224"/>
            <a:ext cx="22860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07208" y="5340096"/>
            <a:ext cx="21579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5-50 Mbps/路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5221224"/>
            <a:ext cx="324612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84648" y="5340096"/>
            <a:ext cx="3118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局部回传或离线保存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58200" y="5221224"/>
            <a:ext cx="315468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22208" y="5340096"/>
            <a:ext cx="302666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80" b="0">
                <a:solidFill>
                  <a:srgbClr val="1C2733"/>
                </a:solidFill>
                <a:latin typeface="Noto Sans CJK SC"/>
              </a:defRPr>
            </a:pPr>
            <a:r>
              <a:t>不进入控制安全链路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925312"/>
            <a:ext cx="10698480" cy="502920"/>
          </a:xfrm>
          <a:prstGeom prst="rect">
            <a:avLst/>
          </a:prstGeom>
          <a:solidFill>
            <a:srgbClr val="F5F0E6"/>
          </a:solidFill>
          <a:ln w="12700">
            <a:solidFill>
              <a:srgbClr val="A9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6062472"/>
            <a:ext cx="10195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1C2733"/>
                </a:solidFill>
                <a:latin typeface="Noto Sans CJK SC"/>
              </a:defRPr>
            </a:pPr>
            <a:r>
              <a:t>带宽设计原则：控制与安全状态优先，态势元数据持续传输，多路视频不得默认全网广播。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2560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315B82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0642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1C2733"/>
                </a:solidFill>
                <a:latin typeface="Noto Sans CJK SC"/>
              </a:defRPr>
            </a:pPr>
            <a:r>
              <a:t>附录 C：关键部件选型与预算级估算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596673"/>
                </a:solidFill>
                <a:latin typeface="Noto Sans CJK SC"/>
              </a:defRPr>
            </a:pPr>
            <a:r>
              <a:t>参考公开产品能力与市场资料；具体型号、价格和合规条件需在样机阶段询价确认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07592"/>
            <a:ext cx="594360" cy="457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173736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1627631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系统层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600200"/>
            <a:ext cx="640080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728216"/>
            <a:ext cx="6291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建议配置/参考产品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600200"/>
            <a:ext cx="2651760" cy="475488"/>
          </a:xfrm>
          <a:prstGeom prst="rect">
            <a:avLst/>
          </a:prstGeom>
          <a:solidFill>
            <a:srgbClr val="263746"/>
          </a:solidFill>
          <a:ln w="12700">
            <a:solidFill>
              <a:srgbClr val="26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0264" y="1728216"/>
            <a:ext cx="25420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t>预算级成本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93976"/>
            <a:ext cx="17373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03704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中心 C2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093976"/>
            <a:ext cx="64008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2203704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16-32 核、64-128 GB、4-8 TB NVMe、L4/RTX 6000 Ada 级 GPU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093976"/>
            <a:ext cx="26517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2203704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15k-50k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615184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724912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主雷达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615184"/>
            <a:ext cx="6400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724912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EchoShield/同级 4D C-UAS 雷达；10 Hz、0.5 deg、带协方差航迹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615184"/>
            <a:ext cx="2651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2724912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80k-250k/扇区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136391"/>
            <a:ext cx="17373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46120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二级侦察平台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3136391"/>
            <a:ext cx="64008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246120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机动高空平台为当前主线；Elistair Orion 2.2 TE/同级作为长期值守备选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136391"/>
            <a:ext cx="26517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9408" y="3246120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25k-300k/套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657600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767328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二级 EO/IR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657600"/>
            <a:ext cx="6400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3767328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DJI H30T 级或更高端 ISR 吊舱；高分辨率 EO、热成像、LRF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657600"/>
            <a:ext cx="2651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79408" y="3767328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10k-100k+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178808"/>
            <a:ext cx="17373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288536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拦截无人机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4178808"/>
            <a:ext cx="64008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87168" y="4288536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Pixhawk 6X/PX4 + Orin Nano/NX + 全局快门相机 + MANET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4178808"/>
            <a:ext cx="26517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9408" y="4288536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8k-25k+/架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70001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809744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MANET 节点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23160" y="4700016"/>
            <a:ext cx="6400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87168" y="4809744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Doodle Labs / Silvus / Microhard 等；metadata 优先，视频定向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4700016"/>
            <a:ext cx="2651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9408" y="4809744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5k-20k+/节点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221224"/>
            <a:ext cx="17373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330952"/>
            <a:ext cx="16093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1C2733"/>
                </a:solidFill>
                <a:latin typeface="Noto Sans CJK SC"/>
              </a:defRPr>
            </a:pPr>
            <a:r>
              <a:t>时间同步/标定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3160" y="5221224"/>
            <a:ext cx="640080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87168" y="5330952"/>
            <a:ext cx="62727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PTP/GNSS disciplined clock；相机内外参与多节点时间基准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5221224"/>
            <a:ext cx="2651760" cy="475488"/>
          </a:xfrm>
          <a:prstGeom prst="rect">
            <a:avLst/>
          </a:prstGeom>
          <a:solidFill>
            <a:srgbClr val="F2F4F6"/>
          </a:solidFill>
          <a:ln w="6350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79408" y="5330952"/>
            <a:ext cx="252374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1C2733"/>
                </a:solidFill>
                <a:latin typeface="Noto Sans CJK SC"/>
              </a:defRPr>
            </a:pPr>
            <a:r>
              <a:t>USD 2k-10k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897880"/>
            <a:ext cx="6949440" cy="530352"/>
          </a:xfrm>
          <a:prstGeom prst="rect">
            <a:avLst/>
          </a:prstGeom>
          <a:solidFill>
            <a:srgbClr val="EAF0F5"/>
          </a:solidFill>
          <a:ln w="12700">
            <a:solidFill>
              <a:srgbClr val="315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6035040"/>
            <a:ext cx="6492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315B82"/>
                </a:solidFill>
                <a:latin typeface="Noto Sans CJK SC"/>
              </a:defRPr>
            </a:pPr>
            <a:r>
              <a:t>5v5 工程样机粗预算：USD 300k-900k+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5897880"/>
            <a:ext cx="3520440" cy="530352"/>
          </a:xfrm>
          <a:prstGeom prst="rect">
            <a:avLst/>
          </a:prstGeom>
          <a:solidFill>
            <a:srgbClr val="F4EAEA"/>
          </a:solidFill>
          <a:ln w="12700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6035040"/>
            <a:ext cx="3154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1">
                <a:solidFill>
                  <a:srgbClr val="A83B3B"/>
                </a:solidFill>
                <a:latin typeface="Noto Sans CJK SC"/>
              </a:defRPr>
            </a:pPr>
            <a:r>
              <a:t>不含场地、合规、保险、维护和人员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73952"/>
            <a:ext cx="11109960" cy="9144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50" b="0">
                <a:solidFill>
                  <a:srgbClr val="596673"/>
                </a:solidFill>
                <a:latin typeface="Noto Sans CJK SC"/>
              </a:defRPr>
            </a:pPr>
            <a:r>
              <a:t>MSM C-UAS · 阶段技术汇报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6547104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596673"/>
                </a:solidFill>
                <a:latin typeface="Noto Sans CJK SC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