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gif" ContentType="image/gif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FF2586-FDBB-4DC1-92C2-2DA39C7885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C7F5BEB-AF4B-4534-A2C4-A1239B8D250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1AA0DC3-F3BE-4AAF-B4CE-91829E530FA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EAA3E45-CE79-4DF8-B9C8-4ABC9A8570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01534D3-7BDA-48FC-8AC1-07C6160297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6EF77FAD-7859-44DE-A540-355F2BB7D6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375FA25D-B15B-429F-96C4-0B0A936499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E50C2D7C-51D6-49ED-9F2E-42088A66AA2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9CE96D5-7EF1-485A-8516-97E088205F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E04AB7E-ECBD-4A54-A4F0-7C6E89AFB31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1651A890-A28E-423F-9A6D-DF65EC3BD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305F07-4B20-4B2A-869D-68C7B89FA2F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EEF33FE-FCA0-4C20-BE6F-3470CBB0F48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3F12105-1E11-404F-AF68-4FEE860D236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7B3599-E9E7-4078-B2CC-3D5038894CC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57EF76-EB1E-4445-AB56-0CB10ECD652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DC6763-2139-4399-A7F6-5386F42A968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3706DAD-79D8-4F01-98BB-B28897074E8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FB31BD-08CB-4602-AF08-309C56211B1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619CEE-4989-4D88-8317-EA468A55BE5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07D0041-71B7-442B-84D3-E7ABF2D9B24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DD2338-1F4B-4003-9867-CA11A67F22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40080" y="502920"/>
            <a:ext cx="566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315b82"/>
                </a:solidFill>
                <a:latin typeface="Noto Sans CJK SC"/>
              </a:rPr>
              <a:t>MSM </a:t>
            </a:r>
            <a:r>
              <a:rPr b="1" lang="zh-CN" sz="1200" spc="-1" strike="noStrike">
                <a:solidFill>
                  <a:srgbClr val="315b82"/>
                </a:solidFill>
                <a:latin typeface="Noto Sans CJK SC"/>
              </a:rPr>
              <a:t>反无人机多无人机拦截科研仿真项目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40080" y="1051560"/>
            <a:ext cx="54860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3000" spc="-1" strike="noStrike">
                <a:solidFill>
                  <a:srgbClr val="1c2733"/>
                </a:solidFill>
                <a:latin typeface="Noto Sans CJK SC"/>
              </a:rPr>
              <a:t>多无人机反无人机拦截体系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58440" y="1847160"/>
            <a:ext cx="47545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900" spc="-1" strike="noStrike">
                <a:solidFill>
                  <a:srgbClr val="596673"/>
                </a:solidFill>
                <a:latin typeface="Noto Sans CJK SC"/>
              </a:rPr>
              <a:t>阶段技术方案与仿真验证汇报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ectangle 5"/>
          <p:cNvSpPr/>
          <p:nvPr/>
        </p:nvSpPr>
        <p:spPr>
          <a:xfrm>
            <a:off x="658440" y="2432160"/>
            <a:ext cx="776880" cy="54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658440" y="2926080"/>
            <a:ext cx="4845960" cy="1965600"/>
          </a:xfrm>
          <a:prstGeom prst="rect">
            <a:avLst/>
          </a:prstGeom>
          <a:solidFill>
            <a:srgbClr val="f6f7f8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868680" y="3127320"/>
            <a:ext cx="9140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汇报范围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847160" y="3127320"/>
            <a:ext cx="33829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总体架构、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D1-D7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模块、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AirSim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验证、下一阶段计划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angle 9"/>
          <p:cNvSpPr/>
          <p:nvPr/>
        </p:nvSpPr>
        <p:spPr>
          <a:xfrm>
            <a:off x="868680" y="3420000"/>
            <a:ext cx="434304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868680" y="3529440"/>
            <a:ext cx="9140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当前阶段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1847160" y="3529440"/>
            <a:ext cx="33829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P1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合同层闭合，物理拦截闭环专项验证中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Rectangle 12"/>
          <p:cNvSpPr/>
          <p:nvPr/>
        </p:nvSpPr>
        <p:spPr>
          <a:xfrm>
            <a:off x="868680" y="3822120"/>
            <a:ext cx="434304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868680" y="3931920"/>
            <a:ext cx="9140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验证环境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14"/>
          <p:cNvSpPr/>
          <p:nvPr/>
        </p:nvSpPr>
        <p:spPr>
          <a:xfrm>
            <a:off x="1847160" y="3931920"/>
            <a:ext cx="33829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质点模型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+ AirSim ComputerVision / SimpleFlight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ectangle 15"/>
          <p:cNvSpPr/>
          <p:nvPr/>
        </p:nvSpPr>
        <p:spPr>
          <a:xfrm>
            <a:off x="868680" y="4224600"/>
            <a:ext cx="434304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868680" y="4334400"/>
            <a:ext cx="9140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汇报日期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17"/>
          <p:cNvSpPr/>
          <p:nvPr/>
        </p:nvSpPr>
        <p:spPr>
          <a:xfrm>
            <a:off x="1847160" y="4334400"/>
            <a:ext cx="33829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2026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年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7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月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21"/>
          <p:cNvSpPr/>
          <p:nvPr/>
        </p:nvSpPr>
        <p:spPr>
          <a:xfrm>
            <a:off x="685800" y="6080760"/>
            <a:ext cx="49374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说明：本项目处于科研仿真阶段，不涉及实装处置与自动授权。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ectangle 22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23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24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项目概况与阶段结论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本页数据均来自当前代码、模块测试和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AirSim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运行产物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6"/>
          <p:cNvSpPr/>
          <p:nvPr/>
        </p:nvSpPr>
        <p:spPr>
          <a:xfrm>
            <a:off x="640080" y="1572840"/>
            <a:ext cx="19198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c2733"/>
                </a:solidFill>
                <a:latin typeface="Noto Sans CJK SC"/>
              </a:rPr>
              <a:t>1. </a:t>
            </a:r>
            <a:r>
              <a:rPr b="1" lang="zh-CN" sz="1500" spc="-1" strike="noStrike">
                <a:solidFill>
                  <a:srgbClr val="1c2733"/>
                </a:solidFill>
                <a:latin typeface="Noto Sans CJK SC"/>
              </a:rPr>
              <a:t>项目概况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Rectangle 7"/>
          <p:cNvSpPr/>
          <p:nvPr/>
        </p:nvSpPr>
        <p:spPr>
          <a:xfrm>
            <a:off x="640080" y="1965960"/>
            <a:ext cx="6400440" cy="306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" name="Rectangle 8"/>
          <p:cNvSpPr/>
          <p:nvPr/>
        </p:nvSpPr>
        <p:spPr>
          <a:xfrm>
            <a:off x="649080" y="1974960"/>
            <a:ext cx="1234080" cy="5850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Rectangle 9"/>
          <p:cNvSpPr/>
          <p:nvPr/>
        </p:nvSpPr>
        <p:spPr>
          <a:xfrm>
            <a:off x="1883520" y="1974960"/>
            <a:ext cx="5147640" cy="5850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749880" y="2139840"/>
            <a:ext cx="10238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建设目标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11"/>
          <p:cNvSpPr/>
          <p:nvPr/>
        </p:nvSpPr>
        <p:spPr>
          <a:xfrm>
            <a:off x="2030040" y="2112120"/>
            <a:ext cx="48002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建立多目标、多资源、可降级的反无人机拦截科研仿真体系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angle 12"/>
          <p:cNvSpPr/>
          <p:nvPr/>
        </p:nvSpPr>
        <p:spPr>
          <a:xfrm>
            <a:off x="649080" y="2578680"/>
            <a:ext cx="1234080" cy="585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Rectangle 13"/>
          <p:cNvSpPr/>
          <p:nvPr/>
        </p:nvSpPr>
        <p:spPr>
          <a:xfrm>
            <a:off x="1883520" y="2578680"/>
            <a:ext cx="5147640" cy="585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749880" y="2743200"/>
            <a:ext cx="10238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系统组成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2030040" y="2715840"/>
            <a:ext cx="48002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中心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C2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、高空侦察二级节点、拦截无人机集群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16"/>
          <p:cNvSpPr/>
          <p:nvPr/>
        </p:nvSpPr>
        <p:spPr>
          <a:xfrm>
            <a:off x="649080" y="3182040"/>
            <a:ext cx="1234080" cy="5850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Rectangle 17"/>
          <p:cNvSpPr/>
          <p:nvPr/>
        </p:nvSpPr>
        <p:spPr>
          <a:xfrm>
            <a:off x="1883520" y="3182040"/>
            <a:ext cx="5147640" cy="5850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18"/>
          <p:cNvSpPr/>
          <p:nvPr/>
        </p:nvSpPr>
        <p:spPr>
          <a:xfrm>
            <a:off x="749880" y="3346560"/>
            <a:ext cx="10238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技术主线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9"/>
          <p:cNvSpPr/>
          <p:nvPr/>
        </p:nvSpPr>
        <p:spPr>
          <a:xfrm>
            <a:off x="2030040" y="3319200"/>
            <a:ext cx="48002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多源融合、目标关联、动态分配、降级协同、视觉配准、比例导引、统一评估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Rectangle 20"/>
          <p:cNvSpPr/>
          <p:nvPr/>
        </p:nvSpPr>
        <p:spPr>
          <a:xfrm>
            <a:off x="649080" y="3785760"/>
            <a:ext cx="1234080" cy="585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Rectangle 21"/>
          <p:cNvSpPr/>
          <p:nvPr/>
        </p:nvSpPr>
        <p:spPr>
          <a:xfrm>
            <a:off x="1883520" y="3785760"/>
            <a:ext cx="5147640" cy="585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22"/>
          <p:cNvSpPr/>
          <p:nvPr/>
        </p:nvSpPr>
        <p:spPr>
          <a:xfrm>
            <a:off x="749880" y="3950280"/>
            <a:ext cx="10238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运行方式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23"/>
          <p:cNvSpPr/>
          <p:nvPr/>
        </p:nvSpPr>
        <p:spPr>
          <a:xfrm>
            <a:off x="2030040" y="3922920"/>
            <a:ext cx="48002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正常中心化；中心失效后由二级节点接管；二级失效后完全分布式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Rectangle 24"/>
          <p:cNvSpPr/>
          <p:nvPr/>
        </p:nvSpPr>
        <p:spPr>
          <a:xfrm>
            <a:off x="649080" y="4389120"/>
            <a:ext cx="1234080" cy="5850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Rectangle 25"/>
          <p:cNvSpPr/>
          <p:nvPr/>
        </p:nvSpPr>
        <p:spPr>
          <a:xfrm>
            <a:off x="1883520" y="4389120"/>
            <a:ext cx="5147640" cy="5850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26"/>
          <p:cNvSpPr/>
          <p:nvPr/>
        </p:nvSpPr>
        <p:spPr>
          <a:xfrm>
            <a:off x="749880" y="4553640"/>
            <a:ext cx="10238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验证方式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27"/>
          <p:cNvSpPr/>
          <p:nvPr/>
        </p:nvSpPr>
        <p:spPr>
          <a:xfrm>
            <a:off x="2030040" y="4526280"/>
            <a:ext cx="48002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质点模型验证算法闭环；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AirSim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验证接口、视觉、状态机与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SimpleFlight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控制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28"/>
          <p:cNvSpPr/>
          <p:nvPr/>
        </p:nvSpPr>
        <p:spPr>
          <a:xfrm>
            <a:off x="7360920" y="1572840"/>
            <a:ext cx="19198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c2733"/>
                </a:solidFill>
                <a:latin typeface="Noto Sans CJK SC"/>
              </a:rPr>
              <a:t>2. </a:t>
            </a:r>
            <a:r>
              <a:rPr b="1" lang="zh-CN" sz="1500" spc="-1" strike="noStrike">
                <a:solidFill>
                  <a:srgbClr val="1c2733"/>
                </a:solidFill>
                <a:latin typeface="Noto Sans CJK SC"/>
              </a:rPr>
              <a:t>阶段状态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ectangle 29"/>
          <p:cNvSpPr/>
          <p:nvPr/>
        </p:nvSpPr>
        <p:spPr>
          <a:xfrm>
            <a:off x="7360920" y="1965960"/>
            <a:ext cx="4160160" cy="306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30"/>
          <p:cNvSpPr/>
          <p:nvPr/>
        </p:nvSpPr>
        <p:spPr>
          <a:xfrm>
            <a:off x="7571160" y="2039040"/>
            <a:ext cx="23770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P1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合同层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31"/>
          <p:cNvSpPr/>
          <p:nvPr/>
        </p:nvSpPr>
        <p:spPr>
          <a:xfrm>
            <a:off x="9985320" y="2039040"/>
            <a:ext cx="12340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477358"/>
                </a:solidFill>
                <a:latin typeface="Noto Sans CJK SC"/>
              </a:rPr>
              <a:t>完成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Rectangle 32"/>
          <p:cNvSpPr/>
          <p:nvPr/>
        </p:nvSpPr>
        <p:spPr>
          <a:xfrm>
            <a:off x="7543800" y="2304360"/>
            <a:ext cx="370296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33"/>
          <p:cNvSpPr/>
          <p:nvPr/>
        </p:nvSpPr>
        <p:spPr>
          <a:xfrm>
            <a:off x="7571160" y="2459880"/>
            <a:ext cx="23770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CV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双 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primary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34"/>
          <p:cNvSpPr/>
          <p:nvPr/>
        </p:nvSpPr>
        <p:spPr>
          <a:xfrm>
            <a:off x="9985320" y="2459880"/>
            <a:ext cx="12340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477358"/>
                </a:solidFill>
                <a:latin typeface="Noto Sans CJK SC"/>
              </a:rPr>
              <a:t>8/10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35"/>
          <p:cNvSpPr/>
          <p:nvPr/>
        </p:nvSpPr>
        <p:spPr>
          <a:xfrm>
            <a:off x="7543800" y="2724840"/>
            <a:ext cx="370296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36"/>
          <p:cNvSpPr/>
          <p:nvPr/>
        </p:nvSpPr>
        <p:spPr>
          <a:xfrm>
            <a:off x="7571160" y="2880360"/>
            <a:ext cx="23770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二级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/peer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联盟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37"/>
          <p:cNvSpPr/>
          <p:nvPr/>
        </p:nvSpPr>
        <p:spPr>
          <a:xfrm>
            <a:off x="9985320" y="2880360"/>
            <a:ext cx="12340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ACK 3/3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Rectangle 38"/>
          <p:cNvSpPr/>
          <p:nvPr/>
        </p:nvSpPr>
        <p:spPr>
          <a:xfrm>
            <a:off x="7543800" y="3145680"/>
            <a:ext cx="370296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39"/>
          <p:cNvSpPr/>
          <p:nvPr/>
        </p:nvSpPr>
        <p:spPr>
          <a:xfrm>
            <a:off x="7571160" y="3300840"/>
            <a:ext cx="23770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ID Switch /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错误重复锁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40"/>
          <p:cNvSpPr/>
          <p:nvPr/>
        </p:nvSpPr>
        <p:spPr>
          <a:xfrm>
            <a:off x="9985320" y="3300840"/>
            <a:ext cx="12340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315b82"/>
                </a:solidFill>
                <a:latin typeface="Noto Sans CJK SC"/>
              </a:rPr>
              <a:t>0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ectangle 41"/>
          <p:cNvSpPr/>
          <p:nvPr/>
        </p:nvSpPr>
        <p:spPr>
          <a:xfrm>
            <a:off x="7543800" y="3566160"/>
            <a:ext cx="370296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42"/>
          <p:cNvSpPr/>
          <p:nvPr/>
        </p:nvSpPr>
        <p:spPr>
          <a:xfrm>
            <a:off x="7571160" y="3721680"/>
            <a:ext cx="23770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SimpleFlight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物理命中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43"/>
          <p:cNvSpPr/>
          <p:nvPr/>
        </p:nvSpPr>
        <p:spPr>
          <a:xfrm>
            <a:off x="9985320" y="3721680"/>
            <a:ext cx="12340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83b3b"/>
                </a:solidFill>
                <a:latin typeface="Noto Sans CJK SC"/>
              </a:rPr>
              <a:t>0/30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Rectangle 44"/>
          <p:cNvSpPr/>
          <p:nvPr/>
        </p:nvSpPr>
        <p:spPr>
          <a:xfrm>
            <a:off x="7543800" y="3986640"/>
            <a:ext cx="370296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TextBox 45"/>
          <p:cNvSpPr/>
          <p:nvPr/>
        </p:nvSpPr>
        <p:spPr>
          <a:xfrm>
            <a:off x="7571160" y="4142160"/>
            <a:ext cx="23770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末端检测超时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46"/>
          <p:cNvSpPr/>
          <p:nvPr/>
        </p:nvSpPr>
        <p:spPr>
          <a:xfrm>
            <a:off x="9985320" y="4142160"/>
            <a:ext cx="12340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83b3b"/>
                </a:solidFill>
                <a:latin typeface="Noto Sans CJK SC"/>
              </a:rPr>
              <a:t>24/30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Rectangle 47"/>
          <p:cNvSpPr/>
          <p:nvPr/>
        </p:nvSpPr>
        <p:spPr>
          <a:xfrm>
            <a:off x="7543800" y="4407480"/>
            <a:ext cx="370296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48"/>
          <p:cNvSpPr/>
          <p:nvPr/>
        </p:nvSpPr>
        <p:spPr>
          <a:xfrm>
            <a:off x="7571160" y="4563000"/>
            <a:ext cx="23770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P2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外部算法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49"/>
          <p:cNvSpPr/>
          <p:nvPr/>
        </p:nvSpPr>
        <p:spPr>
          <a:xfrm>
            <a:off x="9985320" y="4563000"/>
            <a:ext cx="12340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62556f"/>
                </a:solidFill>
                <a:latin typeface="Noto Sans CJK SC"/>
              </a:rPr>
              <a:t>隔离对照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50"/>
          <p:cNvSpPr/>
          <p:nvPr/>
        </p:nvSpPr>
        <p:spPr>
          <a:xfrm>
            <a:off x="640080" y="5349240"/>
            <a:ext cx="10881000" cy="658080"/>
          </a:xfrm>
          <a:prstGeom prst="rect">
            <a:avLst/>
          </a:prstGeom>
          <a:solidFill>
            <a:srgbClr val="f2f4f6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51"/>
          <p:cNvSpPr/>
          <p:nvPr/>
        </p:nvSpPr>
        <p:spPr>
          <a:xfrm>
            <a:off x="868680" y="5532120"/>
            <a:ext cx="1599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315b82"/>
                </a:solidFill>
                <a:latin typeface="Noto Sans CJK SC"/>
              </a:rPr>
              <a:t>下一阶段主任务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52"/>
          <p:cNvSpPr/>
          <p:nvPr/>
        </p:nvSpPr>
        <p:spPr>
          <a:xfrm>
            <a:off x="2514600" y="5504760"/>
            <a:ext cx="85492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完成末端检测持续性、</a:t>
            </a:r>
            <a:r>
              <a:rPr b="1" lang="en-US" sz="1300" spc="-1" strike="noStrike">
                <a:solidFill>
                  <a:srgbClr val="1c2733"/>
                </a:solidFill>
                <a:latin typeface="Noto Sans CJK SC"/>
              </a:rPr>
              <a:t>D5 </a:t>
            </a: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锁定、</a:t>
            </a:r>
            <a:r>
              <a:rPr b="1" lang="en-US" sz="1300" spc="-1" strike="noStrike">
                <a:solidFill>
                  <a:srgbClr val="1c2733"/>
                </a:solidFill>
                <a:latin typeface="Noto Sans CJK SC"/>
              </a:rPr>
              <a:t>D7 </a:t>
            </a: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切换和物理接近闭环的分层标定。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 53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54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55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任务场景与主要工程问题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目标多、链路异步、末端视场复杂，同时需要考虑中心节点失效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6"/>
          <p:cNvSpPr/>
          <p:nvPr/>
        </p:nvSpPr>
        <p:spPr>
          <a:xfrm>
            <a:off x="685800" y="1600200"/>
            <a:ext cx="10054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83b3b"/>
                </a:solidFill>
                <a:latin typeface="Noto Sans CJK SC"/>
              </a:rPr>
              <a:t>威胁侧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Hexagon 7"/>
          <p:cNvSpPr/>
          <p:nvPr/>
        </p:nvSpPr>
        <p:spPr>
          <a:xfrm>
            <a:off x="914400" y="2194560"/>
            <a:ext cx="566640" cy="42012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a83b3b"/>
          </a:solidFill>
          <a:ln w="1270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914400" y="2277000"/>
            <a:ext cx="5666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Noto Sans CJK SC"/>
              </a:rPr>
              <a:t>T1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Hexagon 9"/>
          <p:cNvSpPr/>
          <p:nvPr/>
        </p:nvSpPr>
        <p:spPr>
          <a:xfrm>
            <a:off x="1417320" y="2971800"/>
            <a:ext cx="566640" cy="42012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a83b3b"/>
          </a:solidFill>
          <a:ln w="1270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1417320" y="3054240"/>
            <a:ext cx="5666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Noto Sans CJK SC"/>
              </a:rPr>
              <a:t>T2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Hexagon 11"/>
          <p:cNvSpPr/>
          <p:nvPr/>
        </p:nvSpPr>
        <p:spPr>
          <a:xfrm>
            <a:off x="841320" y="3840480"/>
            <a:ext cx="566640" cy="42012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a83b3b"/>
          </a:solidFill>
          <a:ln w="1270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12"/>
          <p:cNvSpPr/>
          <p:nvPr/>
        </p:nvSpPr>
        <p:spPr>
          <a:xfrm>
            <a:off x="841320" y="3922920"/>
            <a:ext cx="5666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Noto Sans CJK SC"/>
              </a:rPr>
              <a:t>T3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Hexagon 13"/>
          <p:cNvSpPr/>
          <p:nvPr/>
        </p:nvSpPr>
        <p:spPr>
          <a:xfrm>
            <a:off x="1600200" y="4480560"/>
            <a:ext cx="566640" cy="42012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a83b3b"/>
          </a:solidFill>
          <a:ln w="1270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14"/>
          <p:cNvSpPr/>
          <p:nvPr/>
        </p:nvSpPr>
        <p:spPr>
          <a:xfrm>
            <a:off x="1600200" y="4563000"/>
            <a:ext cx="5666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Noto Sans CJK SC"/>
              </a:rPr>
              <a:t>T4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502920" y="5120640"/>
            <a:ext cx="23770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100" spc="-1" strike="noStrike">
                <a:solidFill>
                  <a:srgbClr val="596673"/>
                </a:solidFill>
                <a:latin typeface="Noto Sans CJK SC"/>
              </a:rPr>
              <a:t>多目标交叉 </a:t>
            </a:r>
            <a:r>
              <a:rPr b="0" lang="en-US" sz="110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1100" spc="-1" strike="noStrike">
                <a:solidFill>
                  <a:srgbClr val="596673"/>
                </a:solidFill>
                <a:latin typeface="Noto Sans CJK SC"/>
              </a:rPr>
              <a:t>机动 </a:t>
            </a:r>
            <a:r>
              <a:rPr b="0" lang="en-US" sz="110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1100" spc="-1" strike="noStrike">
                <a:solidFill>
                  <a:srgbClr val="596673"/>
                </a:solidFill>
                <a:latin typeface="Noto Sans CJK SC"/>
              </a:rPr>
              <a:t>遮挡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Rectangle 16"/>
          <p:cNvSpPr/>
          <p:nvPr/>
        </p:nvSpPr>
        <p:spPr>
          <a:xfrm>
            <a:off x="4709160" y="1828800"/>
            <a:ext cx="1919880" cy="123408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4782240" y="1929240"/>
            <a:ext cx="17737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中心节点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18"/>
          <p:cNvSpPr/>
          <p:nvPr/>
        </p:nvSpPr>
        <p:spPr>
          <a:xfrm>
            <a:off x="4782240" y="2249280"/>
            <a:ext cx="177372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全局航迹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统一分配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授权与审计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ectangle 19"/>
          <p:cNvSpPr/>
          <p:nvPr/>
        </p:nvSpPr>
        <p:spPr>
          <a:xfrm>
            <a:off x="4709160" y="3977640"/>
            <a:ext cx="1919880" cy="1234080"/>
          </a:xfrm>
          <a:prstGeom prst="rect">
            <a:avLst/>
          </a:prstGeom>
          <a:solidFill>
            <a:srgbClr val="eaf2f2"/>
          </a:solidFill>
          <a:ln w="2032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20"/>
          <p:cNvSpPr/>
          <p:nvPr/>
        </p:nvSpPr>
        <p:spPr>
          <a:xfrm>
            <a:off x="4782240" y="4078080"/>
            <a:ext cx="17737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28777c"/>
                </a:solidFill>
                <a:latin typeface="Noto Sans CJK SC"/>
              </a:rPr>
              <a:t>高空侦察节点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4782240" y="4398120"/>
            <a:ext cx="177372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全局光电视野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二级接管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区域视频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数据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8458200" y="1600200"/>
            <a:ext cx="10969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477358"/>
                </a:solidFill>
                <a:latin typeface="Noto Sans CJK SC"/>
              </a:rPr>
              <a:t>拦截资源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ectangle 23"/>
          <p:cNvSpPr/>
          <p:nvPr/>
        </p:nvSpPr>
        <p:spPr>
          <a:xfrm>
            <a:off x="8275320" y="2148840"/>
            <a:ext cx="1325520" cy="7128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8348400" y="2249280"/>
            <a:ext cx="1179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477358"/>
                </a:solidFill>
                <a:latin typeface="Noto Sans CJK SC"/>
              </a:rPr>
              <a:t>INT-1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25"/>
          <p:cNvSpPr/>
          <p:nvPr/>
        </p:nvSpPr>
        <p:spPr>
          <a:xfrm>
            <a:off x="8348400" y="2569320"/>
            <a:ext cx="11793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雷达中段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相机末端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Rectangle 26"/>
          <p:cNvSpPr/>
          <p:nvPr/>
        </p:nvSpPr>
        <p:spPr>
          <a:xfrm>
            <a:off x="9235440" y="2697480"/>
            <a:ext cx="1325520" cy="7128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27"/>
          <p:cNvSpPr/>
          <p:nvPr/>
        </p:nvSpPr>
        <p:spPr>
          <a:xfrm>
            <a:off x="9308520" y="2797920"/>
            <a:ext cx="1179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477358"/>
                </a:solidFill>
                <a:latin typeface="Noto Sans CJK SC"/>
              </a:rPr>
              <a:t>INT-2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28"/>
          <p:cNvSpPr/>
          <p:nvPr/>
        </p:nvSpPr>
        <p:spPr>
          <a:xfrm>
            <a:off x="9308520" y="3117960"/>
            <a:ext cx="11793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雷达中段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相机末端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ectangle 29"/>
          <p:cNvSpPr/>
          <p:nvPr/>
        </p:nvSpPr>
        <p:spPr>
          <a:xfrm>
            <a:off x="8229600" y="3749040"/>
            <a:ext cx="1325520" cy="7128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TextBox 30"/>
          <p:cNvSpPr/>
          <p:nvPr/>
        </p:nvSpPr>
        <p:spPr>
          <a:xfrm>
            <a:off x="8302680" y="3849480"/>
            <a:ext cx="1179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477358"/>
                </a:solidFill>
                <a:latin typeface="Noto Sans CJK SC"/>
              </a:rPr>
              <a:t>INT-3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31"/>
          <p:cNvSpPr/>
          <p:nvPr/>
        </p:nvSpPr>
        <p:spPr>
          <a:xfrm>
            <a:off x="8302680" y="4169520"/>
            <a:ext cx="11793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雷达中段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相机末端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32"/>
          <p:cNvSpPr/>
          <p:nvPr/>
        </p:nvSpPr>
        <p:spPr>
          <a:xfrm>
            <a:off x="9281160" y="4389120"/>
            <a:ext cx="1325520" cy="7128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TextBox 33"/>
          <p:cNvSpPr/>
          <p:nvPr/>
        </p:nvSpPr>
        <p:spPr>
          <a:xfrm>
            <a:off x="9354240" y="4489560"/>
            <a:ext cx="11793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477358"/>
                </a:solidFill>
                <a:latin typeface="Noto Sans CJK SC"/>
              </a:rPr>
              <a:t>INT-4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Box 34"/>
          <p:cNvSpPr/>
          <p:nvPr/>
        </p:nvSpPr>
        <p:spPr>
          <a:xfrm>
            <a:off x="9354240" y="4809600"/>
            <a:ext cx="11793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雷达中段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相机末端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7" name="Connector 35"/>
          <p:cNvCxnSpPr/>
          <p:nvPr/>
        </p:nvCxnSpPr>
        <p:spPr>
          <a:xfrm flipV="1">
            <a:off x="2240280" y="2468880"/>
            <a:ext cx="2377800" cy="823320"/>
          </a:xfrm>
          <a:prstGeom prst="straightConnector1">
            <a:avLst/>
          </a:prstGeom>
          <a:ln w="19050">
            <a:solidFill>
              <a:srgbClr val="a83b3b"/>
            </a:solidFill>
            <a:round/>
          </a:ln>
        </p:spPr>
      </p:cxnSp>
      <p:cxnSp>
        <p:nvCxnSpPr>
          <p:cNvPr id="178" name="Connector 36"/>
          <p:cNvCxnSpPr/>
          <p:nvPr/>
        </p:nvCxnSpPr>
        <p:spPr>
          <a:xfrm>
            <a:off x="6675120" y="2468880"/>
            <a:ext cx="1508760" cy="457560"/>
          </a:xfrm>
          <a:prstGeom prst="straightConnector1">
            <a:avLst/>
          </a:prstGeom>
          <a:ln w="19050">
            <a:solidFill>
              <a:srgbClr val="315b82"/>
            </a:solidFill>
            <a:round/>
          </a:ln>
        </p:spPr>
      </p:cxnSp>
      <p:cxnSp>
        <p:nvCxnSpPr>
          <p:cNvPr id="179" name="Connector 37"/>
          <p:cNvCxnSpPr/>
          <p:nvPr/>
        </p:nvCxnSpPr>
        <p:spPr>
          <a:xfrm flipV="1">
            <a:off x="6675120" y="4160520"/>
            <a:ext cx="1508760" cy="320400"/>
          </a:xfrm>
          <a:prstGeom prst="straightConnector1">
            <a:avLst/>
          </a:prstGeom>
          <a:ln w="19050">
            <a:solidFill>
              <a:srgbClr val="28777c"/>
            </a:solidFill>
            <a:round/>
          </a:ln>
        </p:spPr>
      </p:cxnSp>
      <p:cxnSp>
        <p:nvCxnSpPr>
          <p:cNvPr id="180" name="Connector 38"/>
          <p:cNvCxnSpPr/>
          <p:nvPr/>
        </p:nvCxnSpPr>
        <p:spPr>
          <a:xfrm>
            <a:off x="5669280" y="3090600"/>
            <a:ext cx="360" cy="795960"/>
          </a:xfrm>
          <a:prstGeom prst="straightConnector1">
            <a:avLst/>
          </a:prstGeom>
          <a:ln w="15240">
            <a:solidFill>
              <a:srgbClr val="596673"/>
            </a:solidFill>
            <a:prstDash val="sysDash"/>
            <a:round/>
          </a:ln>
        </p:spPr>
      </p:cxnSp>
      <p:sp>
        <p:nvSpPr>
          <p:cNvPr id="181" name="Rectangle 39"/>
          <p:cNvSpPr/>
          <p:nvPr/>
        </p:nvSpPr>
        <p:spPr>
          <a:xfrm>
            <a:off x="2834640" y="5394960"/>
            <a:ext cx="6491880" cy="658080"/>
          </a:xfrm>
          <a:prstGeom prst="rect">
            <a:avLst/>
          </a:prstGeom>
          <a:solidFill>
            <a:srgbClr val="f5f0e6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Rectangle 40"/>
          <p:cNvSpPr/>
          <p:nvPr/>
        </p:nvSpPr>
        <p:spPr>
          <a:xfrm>
            <a:off x="2834640" y="5394960"/>
            <a:ext cx="63720" cy="658080"/>
          </a:xfrm>
          <a:prstGeom prst="rect">
            <a:avLst/>
          </a:prstGeom>
          <a:solidFill>
            <a:srgbClr val="a974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41"/>
          <p:cNvSpPr/>
          <p:nvPr/>
        </p:nvSpPr>
        <p:spPr>
          <a:xfrm>
            <a:off x="2999160" y="5532120"/>
            <a:ext cx="61992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主要约束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42"/>
          <p:cNvSpPr/>
          <p:nvPr/>
        </p:nvSpPr>
        <p:spPr>
          <a:xfrm>
            <a:off x="2999160" y="5916240"/>
            <a:ext cx="6199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00" spc="-1" strike="noStrike">
                <a:solidFill>
                  <a:srgbClr val="596673"/>
                </a:solidFill>
                <a:latin typeface="Noto Sans CJK SC"/>
              </a:rPr>
              <a:t>在不确定、异步和局部视野条件下，保持目标身份、任务版本和控制授权一致。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Rectangle 43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TextBox 44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45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三层节点体系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中心最优、二级连续、分布式保底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Rectangle 6"/>
          <p:cNvSpPr/>
          <p:nvPr/>
        </p:nvSpPr>
        <p:spPr>
          <a:xfrm>
            <a:off x="822960" y="1600200"/>
            <a:ext cx="10560960" cy="959760"/>
          </a:xfrm>
          <a:prstGeom prst="rect">
            <a:avLst/>
          </a:prstGeom>
          <a:solidFill>
            <a:srgbClr val="eaf0f5"/>
          </a:solidFill>
          <a:ln w="1905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TextBox 7"/>
          <p:cNvSpPr/>
          <p:nvPr/>
        </p:nvSpPr>
        <p:spPr>
          <a:xfrm>
            <a:off x="1051560" y="1764720"/>
            <a:ext cx="29714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315b82"/>
                </a:solidFill>
                <a:latin typeface="Noto Sans CJK SC"/>
              </a:rPr>
              <a:t>一级：中心 </a:t>
            </a:r>
            <a:r>
              <a:rPr b="1" lang="en-US" sz="1700" spc="-1" strike="noStrike">
                <a:solidFill>
                  <a:srgbClr val="315b82"/>
                </a:solidFill>
                <a:latin typeface="Noto Sans CJK SC"/>
              </a:rPr>
              <a:t>C2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8"/>
          <p:cNvSpPr/>
          <p:nvPr/>
        </p:nvSpPr>
        <p:spPr>
          <a:xfrm>
            <a:off x="3840480" y="1764720"/>
            <a:ext cx="71319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1c2733"/>
                </a:solidFill>
                <a:latin typeface="Noto Sans CJK SC"/>
              </a:rPr>
              <a:t>多传感器融合、全局航迹、动态分配、授权与评估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ectangle 9"/>
          <p:cNvSpPr/>
          <p:nvPr/>
        </p:nvSpPr>
        <p:spPr>
          <a:xfrm>
            <a:off x="822960" y="2907720"/>
            <a:ext cx="10560960" cy="959760"/>
          </a:xfrm>
          <a:prstGeom prst="rect">
            <a:avLst/>
          </a:prstGeom>
          <a:solidFill>
            <a:srgbClr val="eaf2f2"/>
          </a:solidFill>
          <a:ln w="1905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10"/>
          <p:cNvSpPr/>
          <p:nvPr/>
        </p:nvSpPr>
        <p:spPr>
          <a:xfrm>
            <a:off x="1051560" y="3072240"/>
            <a:ext cx="29714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28777c"/>
                </a:solidFill>
                <a:latin typeface="Noto Sans CJK SC"/>
              </a:rPr>
              <a:t>二级：机动高空侦察节点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11"/>
          <p:cNvSpPr/>
          <p:nvPr/>
        </p:nvSpPr>
        <p:spPr>
          <a:xfrm>
            <a:off x="3840480" y="3072240"/>
            <a:ext cx="71319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1c2733"/>
                </a:solidFill>
                <a:latin typeface="Noto Sans CJK SC"/>
              </a:rPr>
              <a:t>高性能光电云台、区域全局视野、二级计划 </a:t>
            </a:r>
            <a:r>
              <a:rPr b="0" lang="en-US" sz="1300" spc="-1" strike="noStrike">
                <a:solidFill>
                  <a:srgbClr val="1c2733"/>
                </a:solidFill>
                <a:latin typeface="Noto Sans CJK SC"/>
              </a:rPr>
              <a:t>owner</a:t>
            </a:r>
            <a:r>
              <a:rPr b="0" lang="zh-CN" sz="1300" spc="-1" strike="noStrike">
                <a:solidFill>
                  <a:srgbClr val="1c2733"/>
                </a:solidFill>
                <a:latin typeface="Noto Sans CJK SC"/>
              </a:rPr>
              <a:t>、视频</a:t>
            </a:r>
            <a:r>
              <a:rPr b="0" lang="en-US" sz="1300" spc="-1" strike="noStrike">
                <a:solidFill>
                  <a:srgbClr val="1c2733"/>
                </a:solidFill>
                <a:latin typeface="Noto Sans CJK SC"/>
              </a:rPr>
              <a:t>/</a:t>
            </a:r>
            <a:r>
              <a:rPr b="0" lang="zh-CN" sz="1300" spc="-1" strike="noStrike">
                <a:solidFill>
                  <a:srgbClr val="1c2733"/>
                </a:solidFill>
                <a:latin typeface="Noto Sans CJK SC"/>
              </a:rPr>
              <a:t>数据中继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Rectangle 12"/>
          <p:cNvSpPr/>
          <p:nvPr/>
        </p:nvSpPr>
        <p:spPr>
          <a:xfrm>
            <a:off x="822960" y="4224600"/>
            <a:ext cx="10560960" cy="959760"/>
          </a:xfrm>
          <a:prstGeom prst="rect">
            <a:avLst/>
          </a:prstGeom>
          <a:solidFill>
            <a:srgbClr val="ebf1ed"/>
          </a:solidFill>
          <a:ln w="1905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1051560" y="4389120"/>
            <a:ext cx="29714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477358"/>
                </a:solidFill>
                <a:latin typeface="Noto Sans CJK SC"/>
              </a:rPr>
              <a:t>三级：拦截无人机集群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3840480" y="4389120"/>
            <a:ext cx="71319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1c2733"/>
                </a:solidFill>
                <a:latin typeface="Noto Sans CJK SC"/>
              </a:rPr>
              <a:t>局部视觉、多机通信、完全分布式联盟、位置 </a:t>
            </a:r>
            <a:r>
              <a:rPr b="0" lang="en-US" sz="1300" spc="-1" strike="noStrike">
                <a:solidFill>
                  <a:srgbClr val="1c2733"/>
                </a:solidFill>
                <a:latin typeface="Noto Sans CJK SC"/>
              </a:rPr>
              <a:t>PN </a:t>
            </a:r>
            <a:r>
              <a:rPr b="0" lang="zh-CN" sz="1300" spc="-1" strike="noStrike">
                <a:solidFill>
                  <a:srgbClr val="1c2733"/>
                </a:solidFill>
                <a:latin typeface="Noto Sans CJK SC"/>
              </a:rPr>
              <a:t>与视觉 </a:t>
            </a:r>
            <a:r>
              <a:rPr b="0" lang="en-US" sz="1300" spc="-1" strike="noStrike">
                <a:solidFill>
                  <a:srgbClr val="1c2733"/>
                </a:solidFill>
                <a:latin typeface="Noto Sans CJK SC"/>
              </a:rPr>
              <a:t>PNG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2" name="Connector 15"/>
          <p:cNvCxnSpPr/>
          <p:nvPr/>
        </p:nvCxnSpPr>
        <p:spPr>
          <a:xfrm>
            <a:off x="6080760" y="2587680"/>
            <a:ext cx="360" cy="24732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cxnSp>
        <p:nvCxnSpPr>
          <p:cNvPr id="203" name="Connector 16"/>
          <p:cNvCxnSpPr/>
          <p:nvPr/>
        </p:nvCxnSpPr>
        <p:spPr>
          <a:xfrm>
            <a:off x="6080760" y="3895200"/>
            <a:ext cx="360" cy="25632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sp>
        <p:nvSpPr>
          <p:cNvPr id="204" name="Rectangle 17"/>
          <p:cNvSpPr/>
          <p:nvPr/>
        </p:nvSpPr>
        <p:spPr>
          <a:xfrm>
            <a:off x="960120" y="5623560"/>
            <a:ext cx="2194200" cy="310680"/>
          </a:xfrm>
          <a:prstGeom prst="rect">
            <a:avLst/>
          </a:prstGeom>
          <a:solidFill>
            <a:srgbClr val="eaf0f5"/>
          </a:solidFill>
          <a:ln>
            <a:solidFill>
              <a:srgbClr val="eaf0f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TextBox 18"/>
          <p:cNvSpPr/>
          <p:nvPr/>
        </p:nvSpPr>
        <p:spPr>
          <a:xfrm>
            <a:off x="1005840" y="5653440"/>
            <a:ext cx="21027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正常：中心主控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tangle 19"/>
          <p:cNvSpPr/>
          <p:nvPr/>
        </p:nvSpPr>
        <p:spPr>
          <a:xfrm>
            <a:off x="3474720" y="5623560"/>
            <a:ext cx="255996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20"/>
          <p:cNvSpPr/>
          <p:nvPr/>
        </p:nvSpPr>
        <p:spPr>
          <a:xfrm>
            <a:off x="3520440" y="5653440"/>
            <a:ext cx="2468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中心失效：二级接管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Rectangle 21"/>
          <p:cNvSpPr/>
          <p:nvPr/>
        </p:nvSpPr>
        <p:spPr>
          <a:xfrm>
            <a:off x="6355080" y="5623560"/>
            <a:ext cx="2742840" cy="310680"/>
          </a:xfrm>
          <a:prstGeom prst="rect">
            <a:avLst/>
          </a:prstGeom>
          <a:solidFill>
            <a:srgbClr val="ebf1ed"/>
          </a:solidFill>
          <a:ln>
            <a:solidFill>
              <a:srgbClr val="ebf1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22"/>
          <p:cNvSpPr/>
          <p:nvPr/>
        </p:nvSpPr>
        <p:spPr>
          <a:xfrm>
            <a:off x="6400800" y="5653440"/>
            <a:ext cx="26514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477358"/>
                </a:solidFill>
                <a:latin typeface="Noto Sans CJK SC"/>
              </a:rPr>
              <a:t>二级失效：完全分布式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Rectangle 23"/>
          <p:cNvSpPr/>
          <p:nvPr/>
        </p:nvSpPr>
        <p:spPr>
          <a:xfrm>
            <a:off x="9326880" y="5623560"/>
            <a:ext cx="2011320" cy="310680"/>
          </a:xfrm>
          <a:prstGeom prst="rect">
            <a:avLst/>
          </a:prstGeom>
          <a:solidFill>
            <a:srgbClr val="f4eaea"/>
          </a:solidFill>
          <a:ln>
            <a:solidFill>
              <a:srgbClr val="f4ea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TextBox 24"/>
          <p:cNvSpPr/>
          <p:nvPr/>
        </p:nvSpPr>
        <p:spPr>
          <a:xfrm>
            <a:off x="9372600" y="5661000"/>
            <a:ext cx="1919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a83b3b"/>
                </a:solidFill>
                <a:latin typeface="Noto Sans CJK SC"/>
              </a:rPr>
              <a:t>全程版本化 </a:t>
            </a:r>
            <a:r>
              <a:rPr b="1" lang="en-US" sz="950" spc="-1" strike="noStrike">
                <a:solidFill>
                  <a:srgbClr val="a83b3b"/>
                </a:solidFill>
                <a:latin typeface="Noto Sans CJK SC"/>
              </a:rPr>
              <a:t>+ fail-closed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Rectangle 25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26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27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D1-D7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端到端技术架构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每个模块只做一件事，统一通过带时间戳、协方差和版本的数据协同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cxnSp>
        <p:nvCxnSpPr>
          <p:cNvPr id="220" name="Connector 6"/>
          <p:cNvCxnSpPr/>
          <p:nvPr/>
        </p:nvCxnSpPr>
        <p:spPr>
          <a:xfrm>
            <a:off x="2103120" y="2788920"/>
            <a:ext cx="292680" cy="36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cxnSp>
        <p:nvCxnSpPr>
          <p:cNvPr id="221" name="Connector 7"/>
          <p:cNvCxnSpPr/>
          <p:nvPr/>
        </p:nvCxnSpPr>
        <p:spPr>
          <a:xfrm>
            <a:off x="3977280" y="2788920"/>
            <a:ext cx="293040" cy="36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cxnSp>
        <p:nvCxnSpPr>
          <p:cNvPr id="222" name="Connector 8"/>
          <p:cNvCxnSpPr/>
          <p:nvPr/>
        </p:nvCxnSpPr>
        <p:spPr>
          <a:xfrm>
            <a:off x="5852160" y="2788920"/>
            <a:ext cx="292680" cy="36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cxnSp>
        <p:nvCxnSpPr>
          <p:cNvPr id="223" name="Connector 9"/>
          <p:cNvCxnSpPr/>
          <p:nvPr/>
        </p:nvCxnSpPr>
        <p:spPr>
          <a:xfrm>
            <a:off x="7726320" y="2788920"/>
            <a:ext cx="293040" cy="36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cxnSp>
        <p:nvCxnSpPr>
          <p:cNvPr id="224" name="Connector 10"/>
          <p:cNvCxnSpPr/>
          <p:nvPr/>
        </p:nvCxnSpPr>
        <p:spPr>
          <a:xfrm>
            <a:off x="9601200" y="2788920"/>
            <a:ext cx="292680" cy="36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sp>
        <p:nvSpPr>
          <p:cNvPr id="225" name="Rectangle 11"/>
          <p:cNvSpPr/>
          <p:nvPr/>
        </p:nvSpPr>
        <p:spPr>
          <a:xfrm>
            <a:off x="594360" y="2331720"/>
            <a:ext cx="1554120" cy="959760"/>
          </a:xfrm>
          <a:prstGeom prst="rect">
            <a:avLst/>
          </a:prstGeom>
          <a:solidFill>
            <a:srgbClr val="eaf2f2"/>
          </a:solidFill>
          <a:ln w="2032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12"/>
          <p:cNvSpPr/>
          <p:nvPr/>
        </p:nvSpPr>
        <p:spPr>
          <a:xfrm>
            <a:off x="667440" y="2432160"/>
            <a:ext cx="1407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28777c"/>
                </a:solidFill>
                <a:latin typeface="Noto Sans CJK SC"/>
              </a:rPr>
              <a:t>D1  </a:t>
            </a:r>
            <a:r>
              <a:rPr b="1" lang="zh-CN" sz="1250" spc="-1" strike="noStrike">
                <a:solidFill>
                  <a:srgbClr val="28777c"/>
                </a:solidFill>
                <a:latin typeface="Noto Sans CJK SC"/>
              </a:rPr>
              <a:t>多源融合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3"/>
          <p:cNvSpPr/>
          <p:nvPr/>
        </p:nvSpPr>
        <p:spPr>
          <a:xfrm>
            <a:off x="667440" y="2752200"/>
            <a:ext cx="1407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GlobalTrack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ectangle 14"/>
          <p:cNvSpPr/>
          <p:nvPr/>
        </p:nvSpPr>
        <p:spPr>
          <a:xfrm>
            <a:off x="2468880" y="2331720"/>
            <a:ext cx="1554120" cy="95976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TextBox 15"/>
          <p:cNvSpPr/>
          <p:nvPr/>
        </p:nvSpPr>
        <p:spPr>
          <a:xfrm>
            <a:off x="2541960" y="2432160"/>
            <a:ext cx="1407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315b82"/>
                </a:solidFill>
                <a:latin typeface="Noto Sans CJK SC"/>
              </a:rPr>
              <a:t>D2  </a:t>
            </a:r>
            <a:r>
              <a:rPr b="1" lang="zh-CN" sz="1250" spc="-1" strike="noStrike">
                <a:solidFill>
                  <a:srgbClr val="315b82"/>
                </a:solidFill>
                <a:latin typeface="Noto Sans CJK SC"/>
              </a:rPr>
              <a:t>数据关联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6"/>
          <p:cNvSpPr/>
          <p:nvPr/>
        </p:nvSpPr>
        <p:spPr>
          <a:xfrm>
            <a:off x="2541960" y="2752200"/>
            <a:ext cx="1407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稳定全局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ID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ectangle 17"/>
          <p:cNvSpPr/>
          <p:nvPr/>
        </p:nvSpPr>
        <p:spPr>
          <a:xfrm>
            <a:off x="4343400" y="2331720"/>
            <a:ext cx="1554120" cy="959760"/>
          </a:xfrm>
          <a:prstGeom prst="rect">
            <a:avLst/>
          </a:prstGeom>
          <a:solidFill>
            <a:srgbClr val="f5f0e6"/>
          </a:solidFill>
          <a:ln w="2032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18"/>
          <p:cNvSpPr/>
          <p:nvPr/>
        </p:nvSpPr>
        <p:spPr>
          <a:xfrm>
            <a:off x="4416480" y="2432160"/>
            <a:ext cx="1407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a97422"/>
                </a:solidFill>
                <a:latin typeface="Noto Sans CJK SC"/>
              </a:rPr>
              <a:t>D3  </a:t>
            </a:r>
            <a:r>
              <a:rPr b="1" lang="zh-CN" sz="1250" spc="-1" strike="noStrike">
                <a:solidFill>
                  <a:srgbClr val="a97422"/>
                </a:solidFill>
                <a:latin typeface="Noto Sans CJK SC"/>
              </a:rPr>
              <a:t>资源分配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19"/>
          <p:cNvSpPr/>
          <p:nvPr/>
        </p:nvSpPr>
        <p:spPr>
          <a:xfrm>
            <a:off x="4416480" y="2752200"/>
            <a:ext cx="1407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AssignmentPlan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20"/>
          <p:cNvSpPr/>
          <p:nvPr/>
        </p:nvSpPr>
        <p:spPr>
          <a:xfrm>
            <a:off x="6217920" y="2331720"/>
            <a:ext cx="1554120" cy="959760"/>
          </a:xfrm>
          <a:prstGeom prst="rect">
            <a:avLst/>
          </a:prstGeom>
          <a:solidFill>
            <a:srgbClr val="efecf2"/>
          </a:solidFill>
          <a:ln w="20320">
            <a:solidFill>
              <a:srgbClr val="6255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TextBox 21"/>
          <p:cNvSpPr/>
          <p:nvPr/>
        </p:nvSpPr>
        <p:spPr>
          <a:xfrm>
            <a:off x="6291000" y="2432160"/>
            <a:ext cx="1407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62556f"/>
                </a:solidFill>
                <a:latin typeface="Noto Sans CJK SC"/>
              </a:rPr>
              <a:t>D4  </a:t>
            </a:r>
            <a:r>
              <a:rPr b="1" lang="zh-CN" sz="1250" spc="-1" strike="noStrike">
                <a:solidFill>
                  <a:srgbClr val="62556f"/>
                </a:solidFill>
                <a:latin typeface="Noto Sans CJK SC"/>
              </a:rPr>
              <a:t>降级协同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22"/>
          <p:cNvSpPr/>
          <p:nvPr/>
        </p:nvSpPr>
        <p:spPr>
          <a:xfrm>
            <a:off x="6291000" y="2752200"/>
            <a:ext cx="1407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C2/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联盟状态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tangle 23"/>
          <p:cNvSpPr/>
          <p:nvPr/>
        </p:nvSpPr>
        <p:spPr>
          <a:xfrm>
            <a:off x="8092440" y="2331720"/>
            <a:ext cx="1554120" cy="959760"/>
          </a:xfrm>
          <a:prstGeom prst="rect">
            <a:avLst/>
          </a:prstGeom>
          <a:solidFill>
            <a:srgbClr val="f4eaea"/>
          </a:solidFill>
          <a:ln w="2032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24"/>
          <p:cNvSpPr/>
          <p:nvPr/>
        </p:nvSpPr>
        <p:spPr>
          <a:xfrm>
            <a:off x="8165520" y="2432160"/>
            <a:ext cx="1407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a83b3b"/>
                </a:solidFill>
                <a:latin typeface="Noto Sans CJK SC"/>
              </a:rPr>
              <a:t>D5  </a:t>
            </a:r>
            <a:r>
              <a:rPr b="1" lang="zh-CN" sz="1250" spc="-1" strike="noStrike">
                <a:solidFill>
                  <a:srgbClr val="a83b3b"/>
                </a:solidFill>
                <a:latin typeface="Noto Sans CJK SC"/>
              </a:rPr>
              <a:t>视觉配准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25"/>
          <p:cNvSpPr/>
          <p:nvPr/>
        </p:nvSpPr>
        <p:spPr>
          <a:xfrm>
            <a:off x="8165520" y="2752200"/>
            <a:ext cx="1407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TerminalAssociation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Rectangle 26"/>
          <p:cNvSpPr/>
          <p:nvPr/>
        </p:nvSpPr>
        <p:spPr>
          <a:xfrm>
            <a:off x="9966960" y="2331720"/>
            <a:ext cx="1554120" cy="95976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27"/>
          <p:cNvSpPr/>
          <p:nvPr/>
        </p:nvSpPr>
        <p:spPr>
          <a:xfrm>
            <a:off x="10040040" y="2432160"/>
            <a:ext cx="1407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477358"/>
                </a:solidFill>
                <a:latin typeface="Noto Sans CJK SC"/>
              </a:rPr>
              <a:t>D7  </a:t>
            </a:r>
            <a:r>
              <a:rPr b="1" lang="zh-CN" sz="1250" spc="-1" strike="noStrike">
                <a:solidFill>
                  <a:srgbClr val="477358"/>
                </a:solidFill>
                <a:latin typeface="Noto Sans CJK SC"/>
              </a:rPr>
              <a:t>比例导引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28"/>
          <p:cNvSpPr/>
          <p:nvPr/>
        </p:nvSpPr>
        <p:spPr>
          <a:xfrm>
            <a:off x="10040040" y="2752200"/>
            <a:ext cx="1407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 → PNG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angle 29"/>
          <p:cNvSpPr/>
          <p:nvPr/>
        </p:nvSpPr>
        <p:spPr>
          <a:xfrm>
            <a:off x="4892040" y="4251960"/>
            <a:ext cx="2422800" cy="914040"/>
          </a:xfrm>
          <a:prstGeom prst="rect">
            <a:avLst/>
          </a:prstGeom>
          <a:solidFill>
            <a:srgbClr val="ffffff"/>
          </a:solidFill>
          <a:ln w="20320">
            <a:solidFill>
              <a:srgbClr val="1c27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30"/>
          <p:cNvSpPr/>
          <p:nvPr/>
        </p:nvSpPr>
        <p:spPr>
          <a:xfrm>
            <a:off x="4965120" y="4352400"/>
            <a:ext cx="22766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c2733"/>
                </a:solidFill>
                <a:latin typeface="Noto Sans CJK SC"/>
              </a:rPr>
              <a:t>D6 </a:t>
            </a: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系统评估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31"/>
          <p:cNvSpPr/>
          <p:nvPr/>
        </p:nvSpPr>
        <p:spPr>
          <a:xfrm>
            <a:off x="4965120" y="4672440"/>
            <a:ext cx="227664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消费全链路日志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不参与控制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6" name="Connector 32"/>
          <p:cNvCxnSpPr/>
          <p:nvPr/>
        </p:nvCxnSpPr>
        <p:spPr>
          <a:xfrm>
            <a:off x="1371600" y="3383280"/>
            <a:ext cx="4709520" cy="804960"/>
          </a:xfrm>
          <a:prstGeom prst="straightConnector1">
            <a:avLst/>
          </a:prstGeom>
          <a:ln w="11430">
            <a:solidFill>
              <a:srgbClr val="c8d0d8"/>
            </a:solidFill>
            <a:round/>
          </a:ln>
        </p:spPr>
      </p:cxnSp>
      <p:cxnSp>
        <p:nvCxnSpPr>
          <p:cNvPr id="247" name="Connector 33"/>
          <p:cNvCxnSpPr/>
          <p:nvPr/>
        </p:nvCxnSpPr>
        <p:spPr>
          <a:xfrm>
            <a:off x="3246120" y="3383280"/>
            <a:ext cx="2835000" cy="804960"/>
          </a:xfrm>
          <a:prstGeom prst="straightConnector1">
            <a:avLst/>
          </a:prstGeom>
          <a:ln w="11430">
            <a:solidFill>
              <a:srgbClr val="c8d0d8"/>
            </a:solidFill>
            <a:round/>
          </a:ln>
        </p:spPr>
      </p:cxnSp>
      <p:cxnSp>
        <p:nvCxnSpPr>
          <p:cNvPr id="248" name="Connector 34"/>
          <p:cNvCxnSpPr/>
          <p:nvPr/>
        </p:nvCxnSpPr>
        <p:spPr>
          <a:xfrm>
            <a:off x="5120640" y="3383280"/>
            <a:ext cx="960480" cy="804960"/>
          </a:xfrm>
          <a:prstGeom prst="straightConnector1">
            <a:avLst/>
          </a:prstGeom>
          <a:ln w="11430">
            <a:solidFill>
              <a:srgbClr val="c8d0d8"/>
            </a:solidFill>
            <a:round/>
          </a:ln>
        </p:spPr>
      </p:cxnSp>
      <p:cxnSp>
        <p:nvCxnSpPr>
          <p:cNvPr id="249" name="Connector 35"/>
          <p:cNvCxnSpPr/>
          <p:nvPr/>
        </p:nvCxnSpPr>
        <p:spPr>
          <a:xfrm flipH="1">
            <a:off x="6080760" y="3383280"/>
            <a:ext cx="914400" cy="804960"/>
          </a:xfrm>
          <a:prstGeom prst="straightConnector1">
            <a:avLst/>
          </a:prstGeom>
          <a:ln w="11430">
            <a:solidFill>
              <a:srgbClr val="c8d0d8"/>
            </a:solidFill>
            <a:round/>
          </a:ln>
        </p:spPr>
      </p:cxnSp>
      <p:cxnSp>
        <p:nvCxnSpPr>
          <p:cNvPr id="250" name="Connector 36"/>
          <p:cNvCxnSpPr/>
          <p:nvPr/>
        </p:nvCxnSpPr>
        <p:spPr>
          <a:xfrm flipH="1">
            <a:off x="6080760" y="3383280"/>
            <a:ext cx="2789280" cy="804960"/>
          </a:xfrm>
          <a:prstGeom prst="straightConnector1">
            <a:avLst/>
          </a:prstGeom>
          <a:ln w="11430">
            <a:solidFill>
              <a:srgbClr val="c8d0d8"/>
            </a:solidFill>
            <a:round/>
          </a:ln>
        </p:spPr>
      </p:cxnSp>
      <p:cxnSp>
        <p:nvCxnSpPr>
          <p:cNvPr id="251" name="Connector 37"/>
          <p:cNvCxnSpPr/>
          <p:nvPr/>
        </p:nvCxnSpPr>
        <p:spPr>
          <a:xfrm flipH="1">
            <a:off x="6080760" y="3383280"/>
            <a:ext cx="4663800" cy="804960"/>
          </a:xfrm>
          <a:prstGeom prst="straightConnector1">
            <a:avLst/>
          </a:prstGeom>
          <a:ln w="11430">
            <a:solidFill>
              <a:srgbClr val="c8d0d8"/>
            </a:solidFill>
            <a:round/>
          </a:ln>
        </p:spPr>
      </p:cxnSp>
      <p:sp>
        <p:nvSpPr>
          <p:cNvPr id="252" name="Rectangle 38"/>
          <p:cNvSpPr/>
          <p:nvPr/>
        </p:nvSpPr>
        <p:spPr>
          <a:xfrm>
            <a:off x="777240" y="1527120"/>
            <a:ext cx="1065240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39"/>
          <p:cNvSpPr/>
          <p:nvPr/>
        </p:nvSpPr>
        <p:spPr>
          <a:xfrm>
            <a:off x="1005840" y="1627560"/>
            <a:ext cx="2834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596673"/>
                </a:solidFill>
                <a:latin typeface="Noto Sans CJK SC"/>
              </a:rPr>
              <a:t>雷达 </a:t>
            </a:r>
            <a:r>
              <a:rPr b="1" lang="en-US" sz="110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1" lang="zh-CN" sz="1100" spc="-1" strike="noStrike">
                <a:solidFill>
                  <a:srgbClr val="596673"/>
                </a:solidFill>
                <a:latin typeface="Noto Sans CJK SC"/>
              </a:rPr>
              <a:t>声学 </a:t>
            </a:r>
            <a:r>
              <a:rPr b="1" lang="en-US" sz="110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1" lang="zh-CN" sz="1100" spc="-1" strike="noStrike">
                <a:solidFill>
                  <a:srgbClr val="596673"/>
                </a:solidFill>
                <a:latin typeface="Noto Sans CJK SC"/>
              </a:rPr>
              <a:t>光电 </a:t>
            </a:r>
            <a:r>
              <a:rPr b="1" lang="en-US" sz="1100" spc="-1" strike="noStrike">
                <a:solidFill>
                  <a:srgbClr val="596673"/>
                </a:solidFill>
                <a:latin typeface="Noto Sans CJK SC"/>
              </a:rPr>
              <a:t>/ LiDAR</a:t>
            </a:r>
            <a:r>
              <a:rPr b="1" lang="zh-CN" sz="1100" spc="-1" strike="noStrike">
                <a:solidFill>
                  <a:srgbClr val="596673"/>
                </a:solidFill>
                <a:latin typeface="Noto Sans CJK SC"/>
              </a:rPr>
              <a:t>（可选）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40"/>
          <p:cNvSpPr/>
          <p:nvPr/>
        </p:nvSpPr>
        <p:spPr>
          <a:xfrm>
            <a:off x="3886200" y="1627560"/>
            <a:ext cx="72234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1c2733"/>
                </a:solidFill>
                <a:latin typeface="Noto Sans CJK SC"/>
              </a:rPr>
              <a:t>统一 </a:t>
            </a:r>
            <a:r>
              <a:rPr b="1" lang="en-US" sz="1100" spc="-1" strike="noStrike">
                <a:solidFill>
                  <a:srgbClr val="1c2733"/>
                </a:solidFill>
                <a:latin typeface="Noto Sans CJK SC"/>
              </a:rPr>
              <a:t>NED / </a:t>
            </a:r>
            <a:r>
              <a:rPr b="1" lang="zh-CN" sz="1100" spc="-1" strike="noStrike">
                <a:solidFill>
                  <a:srgbClr val="1c2733"/>
                </a:solidFill>
                <a:latin typeface="Noto Sans CJK SC"/>
              </a:rPr>
              <a:t>双时间戳 </a:t>
            </a:r>
            <a:r>
              <a:rPr b="1" lang="en-US" sz="1100" spc="-1" strike="noStrike">
                <a:solidFill>
                  <a:srgbClr val="1c2733"/>
                </a:solidFill>
                <a:latin typeface="Noto Sans CJK SC"/>
              </a:rPr>
              <a:t>/ </a:t>
            </a:r>
            <a:r>
              <a:rPr b="1" lang="zh-CN" sz="1100" spc="-1" strike="noStrike">
                <a:solidFill>
                  <a:srgbClr val="1c2733"/>
                </a:solidFill>
                <a:latin typeface="Noto Sans CJK SC"/>
              </a:rPr>
              <a:t>协方差 </a:t>
            </a:r>
            <a:r>
              <a:rPr b="1" lang="en-US" sz="1100" spc="-1" strike="noStrike">
                <a:solidFill>
                  <a:srgbClr val="1c2733"/>
                </a:solidFill>
                <a:latin typeface="Noto Sans CJK SC"/>
              </a:rPr>
              <a:t>/ global_track_id / </a:t>
            </a:r>
            <a:r>
              <a:rPr b="1" lang="zh-CN" sz="1100" spc="-1" strike="noStrike">
                <a:solidFill>
                  <a:srgbClr val="1c2733"/>
                </a:solidFill>
                <a:latin typeface="Noto Sans CJK SC"/>
              </a:rPr>
              <a:t>计划版本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Rectangle 41"/>
          <p:cNvSpPr/>
          <p:nvPr/>
        </p:nvSpPr>
        <p:spPr>
          <a:xfrm>
            <a:off x="2148840" y="5532120"/>
            <a:ext cx="7909200" cy="63972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" name="Rectangle 42"/>
          <p:cNvSpPr/>
          <p:nvPr/>
        </p:nvSpPr>
        <p:spPr>
          <a:xfrm>
            <a:off x="2148840" y="5532120"/>
            <a:ext cx="63720" cy="63972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TextBox 43"/>
          <p:cNvSpPr/>
          <p:nvPr/>
        </p:nvSpPr>
        <p:spPr>
          <a:xfrm>
            <a:off x="2313360" y="5669280"/>
            <a:ext cx="76165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接口约束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44"/>
          <p:cNvSpPr/>
          <p:nvPr/>
        </p:nvSpPr>
        <p:spPr>
          <a:xfrm>
            <a:off x="2313360" y="6053400"/>
            <a:ext cx="76165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96673"/>
                </a:solidFill>
                <a:latin typeface="Noto Sans CJK SC"/>
              </a:rPr>
              <a:t>D5/D7 </a:t>
            </a:r>
            <a:r>
              <a:rPr b="0" lang="zh-CN" sz="1100" spc="-1" strike="noStrike">
                <a:solidFill>
                  <a:srgbClr val="596673"/>
                </a:solidFill>
                <a:latin typeface="Noto Sans CJK SC"/>
              </a:rPr>
              <a:t>不改写 </a:t>
            </a:r>
            <a:r>
              <a:rPr b="0" lang="en-US" sz="1100" spc="-1" strike="noStrike">
                <a:solidFill>
                  <a:srgbClr val="596673"/>
                </a:solidFill>
                <a:latin typeface="Noto Sans CJK SC"/>
              </a:rPr>
              <a:t>global_track_id</a:t>
            </a:r>
            <a:r>
              <a:rPr b="0" lang="zh-CN" sz="1100" spc="-1" strike="noStrike">
                <a:solidFill>
                  <a:srgbClr val="596673"/>
                </a:solidFill>
                <a:latin typeface="Noto Sans CJK SC"/>
              </a:rPr>
              <a:t>；拒绝过期计划；证据不足时保持 </a:t>
            </a:r>
            <a:r>
              <a:rPr b="0" lang="en-US" sz="1100" spc="-1" strike="noStrike">
                <a:solidFill>
                  <a:srgbClr val="596673"/>
                </a:solidFill>
                <a:latin typeface="Noto Sans CJK SC"/>
              </a:rPr>
              <a:t>hold</a:t>
            </a:r>
            <a:r>
              <a:rPr b="0" lang="zh-CN" sz="1100" spc="-1" strike="noStrike">
                <a:solidFill>
                  <a:srgbClr val="596673"/>
                </a:solidFill>
                <a:latin typeface="Noto Sans CJK SC"/>
              </a:rPr>
              <a:t>，不允许自行换绑。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ectangle 45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46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47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通信拓扑与统一数据总线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视频用于发现与复核，结构化摘要用于决策；控制权限始终受版本和身份约束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" name="Rectangle 6"/>
          <p:cNvSpPr/>
          <p:nvPr/>
        </p:nvSpPr>
        <p:spPr>
          <a:xfrm>
            <a:off x="4800600" y="1572840"/>
            <a:ext cx="2057040" cy="95976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TextBox 7"/>
          <p:cNvSpPr/>
          <p:nvPr/>
        </p:nvSpPr>
        <p:spPr>
          <a:xfrm>
            <a:off x="4873680" y="1673280"/>
            <a:ext cx="19108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中心 </a:t>
            </a:r>
            <a:r>
              <a:rPr b="1" lang="en-US" sz="1400" spc="-1" strike="noStrike">
                <a:solidFill>
                  <a:srgbClr val="315b82"/>
                </a:solidFill>
                <a:latin typeface="Noto Sans CJK SC"/>
              </a:rPr>
              <a:t>C2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8"/>
          <p:cNvSpPr/>
          <p:nvPr/>
        </p:nvSpPr>
        <p:spPr>
          <a:xfrm>
            <a:off x="4873680" y="1993320"/>
            <a:ext cx="191088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GlobalTrack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AssignmentPlan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授权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审计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Rectangle 9"/>
          <p:cNvSpPr/>
          <p:nvPr/>
        </p:nvSpPr>
        <p:spPr>
          <a:xfrm>
            <a:off x="1828800" y="2944440"/>
            <a:ext cx="2102760" cy="1005480"/>
          </a:xfrm>
          <a:prstGeom prst="rect">
            <a:avLst/>
          </a:prstGeom>
          <a:solidFill>
            <a:srgbClr val="eaf2f2"/>
          </a:solidFill>
          <a:ln w="2032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TextBox 10"/>
          <p:cNvSpPr/>
          <p:nvPr/>
        </p:nvSpPr>
        <p:spPr>
          <a:xfrm>
            <a:off x="1901880" y="3044880"/>
            <a:ext cx="19566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28777c"/>
                </a:solidFill>
                <a:latin typeface="Noto Sans CJK SC"/>
              </a:rPr>
              <a:t>高空侦察 </a:t>
            </a:r>
            <a:r>
              <a:rPr b="1" lang="en-US" sz="1400" spc="-1" strike="noStrike">
                <a:solidFill>
                  <a:srgbClr val="28777c"/>
                </a:solidFill>
                <a:latin typeface="Noto Sans CJK SC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11"/>
          <p:cNvSpPr/>
          <p:nvPr/>
        </p:nvSpPr>
        <p:spPr>
          <a:xfrm>
            <a:off x="1901880" y="3364920"/>
            <a:ext cx="195660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区域视频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ReconImageCue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二级计划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ectangle 12"/>
          <p:cNvSpPr/>
          <p:nvPr/>
        </p:nvSpPr>
        <p:spPr>
          <a:xfrm>
            <a:off x="8229600" y="2944440"/>
            <a:ext cx="2102760" cy="1005480"/>
          </a:xfrm>
          <a:prstGeom prst="rect">
            <a:avLst/>
          </a:prstGeom>
          <a:solidFill>
            <a:srgbClr val="eaf2f2"/>
          </a:solidFill>
          <a:ln w="2032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TextBox 13"/>
          <p:cNvSpPr/>
          <p:nvPr/>
        </p:nvSpPr>
        <p:spPr>
          <a:xfrm>
            <a:off x="8302680" y="3044880"/>
            <a:ext cx="19566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28777c"/>
                </a:solidFill>
                <a:latin typeface="Noto Sans CJK SC"/>
              </a:rPr>
              <a:t>高空侦察 </a:t>
            </a:r>
            <a:r>
              <a:rPr b="1" lang="en-US" sz="1400" spc="-1" strike="noStrike">
                <a:solidFill>
                  <a:srgbClr val="28777c"/>
                </a:solidFill>
                <a:latin typeface="Noto Sans CJK SC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14"/>
          <p:cNvSpPr/>
          <p:nvPr/>
        </p:nvSpPr>
        <p:spPr>
          <a:xfrm>
            <a:off x="8302680" y="3364920"/>
            <a:ext cx="195660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区域视频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TrackSummary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通信中继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ectangle 15"/>
          <p:cNvSpPr/>
          <p:nvPr/>
        </p:nvSpPr>
        <p:spPr>
          <a:xfrm>
            <a:off x="685800" y="4846320"/>
            <a:ext cx="1874160" cy="8226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" name="TextBox 16"/>
          <p:cNvSpPr/>
          <p:nvPr/>
        </p:nvSpPr>
        <p:spPr>
          <a:xfrm>
            <a:off x="758880" y="4946760"/>
            <a:ext cx="1728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150" spc="-1" strike="noStrike">
                <a:solidFill>
                  <a:srgbClr val="477358"/>
                </a:solidFill>
                <a:latin typeface="Noto Sans CJK SC"/>
              </a:rPr>
              <a:t>拦截机 </a:t>
            </a:r>
            <a:r>
              <a:rPr b="1" lang="en-US" sz="1150" spc="-1" strike="noStrike">
                <a:solidFill>
                  <a:srgbClr val="477358"/>
                </a:solidFill>
                <a:latin typeface="Noto Sans CJK SC"/>
              </a:rPr>
              <a:t>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17"/>
          <p:cNvSpPr/>
          <p:nvPr/>
        </p:nvSpPr>
        <p:spPr>
          <a:xfrm>
            <a:off x="758880" y="5266800"/>
            <a:ext cx="1728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LocalVisualTrack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ResourceSummary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Rectangle 18"/>
          <p:cNvSpPr/>
          <p:nvPr/>
        </p:nvSpPr>
        <p:spPr>
          <a:xfrm>
            <a:off x="3108960" y="4846320"/>
            <a:ext cx="1874160" cy="8226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19"/>
          <p:cNvSpPr/>
          <p:nvPr/>
        </p:nvSpPr>
        <p:spPr>
          <a:xfrm>
            <a:off x="3182040" y="4946760"/>
            <a:ext cx="1728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150" spc="-1" strike="noStrike">
                <a:solidFill>
                  <a:srgbClr val="477358"/>
                </a:solidFill>
                <a:latin typeface="Noto Sans CJK SC"/>
              </a:rPr>
              <a:t>拦截机 </a:t>
            </a:r>
            <a:r>
              <a:rPr b="1" lang="en-US" sz="1150" spc="-1" strike="noStrike">
                <a:solidFill>
                  <a:srgbClr val="477358"/>
                </a:solidFill>
                <a:latin typeface="Noto Sans CJK SC"/>
              </a:rPr>
              <a:t>2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20"/>
          <p:cNvSpPr/>
          <p:nvPr/>
        </p:nvSpPr>
        <p:spPr>
          <a:xfrm>
            <a:off x="3182040" y="5266800"/>
            <a:ext cx="1728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LocalVisualTrack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ResourceSummary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Rectangle 21"/>
          <p:cNvSpPr/>
          <p:nvPr/>
        </p:nvSpPr>
        <p:spPr>
          <a:xfrm>
            <a:off x="6172200" y="4846320"/>
            <a:ext cx="1874160" cy="8226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TextBox 22"/>
          <p:cNvSpPr/>
          <p:nvPr/>
        </p:nvSpPr>
        <p:spPr>
          <a:xfrm>
            <a:off x="6245280" y="4946760"/>
            <a:ext cx="1728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150" spc="-1" strike="noStrike">
                <a:solidFill>
                  <a:srgbClr val="477358"/>
                </a:solidFill>
                <a:latin typeface="Noto Sans CJK SC"/>
              </a:rPr>
              <a:t>拦截机 </a:t>
            </a:r>
            <a:r>
              <a:rPr b="1" lang="en-US" sz="1150" spc="-1" strike="noStrike">
                <a:solidFill>
                  <a:srgbClr val="477358"/>
                </a:solidFill>
                <a:latin typeface="Noto Sans CJK SC"/>
              </a:rPr>
              <a:t>3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23"/>
          <p:cNvSpPr/>
          <p:nvPr/>
        </p:nvSpPr>
        <p:spPr>
          <a:xfrm>
            <a:off x="6245280" y="5266800"/>
            <a:ext cx="1728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LocalVisualTrack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ResourceSummary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Rectangle 24"/>
          <p:cNvSpPr/>
          <p:nvPr/>
        </p:nvSpPr>
        <p:spPr>
          <a:xfrm>
            <a:off x="8595360" y="4846320"/>
            <a:ext cx="1874160" cy="8226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TextBox 25"/>
          <p:cNvSpPr/>
          <p:nvPr/>
        </p:nvSpPr>
        <p:spPr>
          <a:xfrm>
            <a:off x="8668440" y="4946760"/>
            <a:ext cx="1728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150" spc="-1" strike="noStrike">
                <a:solidFill>
                  <a:srgbClr val="477358"/>
                </a:solidFill>
                <a:latin typeface="Noto Sans CJK SC"/>
              </a:rPr>
              <a:t>拦截机 </a:t>
            </a:r>
            <a:r>
              <a:rPr b="1" lang="en-US" sz="1150" spc="-1" strike="noStrike">
                <a:solidFill>
                  <a:srgbClr val="477358"/>
                </a:solidFill>
                <a:latin typeface="Noto Sans CJK SC"/>
              </a:rPr>
              <a:t>4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26"/>
          <p:cNvSpPr/>
          <p:nvPr/>
        </p:nvSpPr>
        <p:spPr>
          <a:xfrm>
            <a:off x="8668440" y="5266800"/>
            <a:ext cx="1728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LocalVisualTrack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ResourceSummary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8" name="Connector 27"/>
          <p:cNvCxnSpPr/>
          <p:nvPr/>
        </p:nvCxnSpPr>
        <p:spPr>
          <a:xfrm flipH="1">
            <a:off x="3977280" y="2240280"/>
            <a:ext cx="777960" cy="704160"/>
          </a:xfrm>
          <a:prstGeom prst="straightConnector1">
            <a:avLst/>
          </a:prstGeom>
          <a:ln w="15240">
            <a:solidFill>
              <a:srgbClr val="315b82"/>
            </a:solidFill>
            <a:round/>
          </a:ln>
        </p:spPr>
      </p:cxnSp>
      <p:cxnSp>
        <p:nvCxnSpPr>
          <p:cNvPr id="289" name="Connector 28"/>
          <p:cNvCxnSpPr/>
          <p:nvPr/>
        </p:nvCxnSpPr>
        <p:spPr>
          <a:xfrm>
            <a:off x="6903720" y="2240280"/>
            <a:ext cx="1280160" cy="704160"/>
          </a:xfrm>
          <a:prstGeom prst="straightConnector1">
            <a:avLst/>
          </a:prstGeom>
          <a:ln w="15240">
            <a:solidFill>
              <a:srgbClr val="315b82"/>
            </a:solidFill>
            <a:round/>
          </a:ln>
        </p:spPr>
      </p:cxnSp>
      <p:cxnSp>
        <p:nvCxnSpPr>
          <p:cNvPr id="290" name="Connector 29"/>
          <p:cNvCxnSpPr/>
          <p:nvPr/>
        </p:nvCxnSpPr>
        <p:spPr>
          <a:xfrm flipH="1">
            <a:off x="1600200" y="3977280"/>
            <a:ext cx="1280520" cy="823680"/>
          </a:xfrm>
          <a:prstGeom prst="straightConnector1">
            <a:avLst/>
          </a:prstGeom>
          <a:ln w="12700">
            <a:solidFill>
              <a:srgbClr val="28777c"/>
            </a:solidFill>
            <a:round/>
          </a:ln>
        </p:spPr>
      </p:cxnSp>
      <p:cxnSp>
        <p:nvCxnSpPr>
          <p:cNvPr id="291" name="Connector 30"/>
          <p:cNvCxnSpPr/>
          <p:nvPr/>
        </p:nvCxnSpPr>
        <p:spPr>
          <a:xfrm>
            <a:off x="2880360" y="3977280"/>
            <a:ext cx="1143360" cy="823680"/>
          </a:xfrm>
          <a:prstGeom prst="straightConnector1">
            <a:avLst/>
          </a:prstGeom>
          <a:ln w="12700">
            <a:solidFill>
              <a:srgbClr val="28777c"/>
            </a:solidFill>
            <a:round/>
          </a:ln>
        </p:spPr>
      </p:cxnSp>
      <p:cxnSp>
        <p:nvCxnSpPr>
          <p:cNvPr id="292" name="Connector 31"/>
          <p:cNvCxnSpPr/>
          <p:nvPr/>
        </p:nvCxnSpPr>
        <p:spPr>
          <a:xfrm flipH="1">
            <a:off x="7086600" y="3977280"/>
            <a:ext cx="2194920" cy="823680"/>
          </a:xfrm>
          <a:prstGeom prst="straightConnector1">
            <a:avLst/>
          </a:prstGeom>
          <a:ln w="12700">
            <a:solidFill>
              <a:srgbClr val="28777c"/>
            </a:solidFill>
            <a:round/>
          </a:ln>
        </p:spPr>
      </p:cxnSp>
      <p:cxnSp>
        <p:nvCxnSpPr>
          <p:cNvPr id="293" name="Connector 32"/>
          <p:cNvCxnSpPr/>
          <p:nvPr/>
        </p:nvCxnSpPr>
        <p:spPr>
          <a:xfrm>
            <a:off x="9281160" y="3977280"/>
            <a:ext cx="228960" cy="823680"/>
          </a:xfrm>
          <a:prstGeom prst="straightConnector1">
            <a:avLst/>
          </a:prstGeom>
          <a:ln w="12700">
            <a:solidFill>
              <a:srgbClr val="28777c"/>
            </a:solidFill>
            <a:round/>
          </a:ln>
        </p:spPr>
      </p:cxnSp>
      <p:cxnSp>
        <p:nvCxnSpPr>
          <p:cNvPr id="294" name="Connector 33"/>
          <p:cNvCxnSpPr/>
          <p:nvPr/>
        </p:nvCxnSpPr>
        <p:spPr>
          <a:xfrm>
            <a:off x="2606040" y="5257800"/>
            <a:ext cx="457560" cy="360"/>
          </a:xfrm>
          <a:prstGeom prst="straightConnector1">
            <a:avLst/>
          </a:prstGeom>
          <a:ln w="12700">
            <a:solidFill>
              <a:srgbClr val="477358"/>
            </a:solidFill>
            <a:prstDash val="sysDash"/>
            <a:round/>
          </a:ln>
        </p:spPr>
      </p:cxnSp>
      <p:cxnSp>
        <p:nvCxnSpPr>
          <p:cNvPr id="295" name="Connector 34"/>
          <p:cNvCxnSpPr/>
          <p:nvPr/>
        </p:nvCxnSpPr>
        <p:spPr>
          <a:xfrm>
            <a:off x="5029200" y="5257800"/>
            <a:ext cx="1097640" cy="360"/>
          </a:xfrm>
          <a:prstGeom prst="straightConnector1">
            <a:avLst/>
          </a:prstGeom>
          <a:ln w="12700">
            <a:solidFill>
              <a:srgbClr val="477358"/>
            </a:solidFill>
            <a:prstDash val="sysDash"/>
            <a:round/>
          </a:ln>
        </p:spPr>
      </p:cxnSp>
      <p:cxnSp>
        <p:nvCxnSpPr>
          <p:cNvPr id="296" name="Connector 35"/>
          <p:cNvCxnSpPr/>
          <p:nvPr/>
        </p:nvCxnSpPr>
        <p:spPr>
          <a:xfrm>
            <a:off x="8092440" y="5257800"/>
            <a:ext cx="457560" cy="360"/>
          </a:xfrm>
          <a:prstGeom prst="straightConnector1">
            <a:avLst/>
          </a:prstGeom>
          <a:ln w="12700">
            <a:solidFill>
              <a:srgbClr val="477358"/>
            </a:solidFill>
            <a:prstDash val="sysDash"/>
            <a:round/>
          </a:ln>
        </p:spPr>
      </p:cxnSp>
      <p:sp>
        <p:nvSpPr>
          <p:cNvPr id="297" name="Rectangle 36"/>
          <p:cNvSpPr/>
          <p:nvPr/>
        </p:nvSpPr>
        <p:spPr>
          <a:xfrm>
            <a:off x="777240" y="5989320"/>
            <a:ext cx="1508400" cy="310680"/>
          </a:xfrm>
          <a:prstGeom prst="rect">
            <a:avLst/>
          </a:prstGeom>
          <a:solidFill>
            <a:srgbClr val="eaf0f5"/>
          </a:solidFill>
          <a:ln>
            <a:solidFill>
              <a:srgbClr val="eaf0f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" name="TextBox 37"/>
          <p:cNvSpPr/>
          <p:nvPr/>
        </p:nvSpPr>
        <p:spPr>
          <a:xfrm>
            <a:off x="822960" y="6019200"/>
            <a:ext cx="14169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315b82"/>
                </a:solidFill>
                <a:latin typeface="Noto Sans CJK SC"/>
              </a:rPr>
              <a:t>TrackSummary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Rectangle 38"/>
          <p:cNvSpPr/>
          <p:nvPr/>
        </p:nvSpPr>
        <p:spPr>
          <a:xfrm>
            <a:off x="2468880" y="5989320"/>
            <a:ext cx="1737000" cy="310680"/>
          </a:xfrm>
          <a:prstGeom prst="rect">
            <a:avLst/>
          </a:prstGeom>
          <a:solidFill>
            <a:srgbClr val="ebf1ed"/>
          </a:solidFill>
          <a:ln>
            <a:solidFill>
              <a:srgbClr val="ebf1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" name="TextBox 39"/>
          <p:cNvSpPr/>
          <p:nvPr/>
        </p:nvSpPr>
        <p:spPr>
          <a:xfrm>
            <a:off x="2514600" y="6019200"/>
            <a:ext cx="16455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477358"/>
                </a:solidFill>
                <a:latin typeface="Noto Sans CJK SC"/>
              </a:rPr>
              <a:t>ResourceSummary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Rectangle 40"/>
          <p:cNvSpPr/>
          <p:nvPr/>
        </p:nvSpPr>
        <p:spPr>
          <a:xfrm>
            <a:off x="4389120" y="5989320"/>
            <a:ext cx="1554120" cy="310680"/>
          </a:xfrm>
          <a:prstGeom prst="rect">
            <a:avLst/>
          </a:prstGeom>
          <a:solidFill>
            <a:srgbClr val="f4eaea"/>
          </a:solidFill>
          <a:ln>
            <a:solidFill>
              <a:srgbClr val="f4ea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" name="TextBox 41"/>
          <p:cNvSpPr/>
          <p:nvPr/>
        </p:nvSpPr>
        <p:spPr>
          <a:xfrm>
            <a:off x="4434840" y="6019200"/>
            <a:ext cx="14626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83b3b"/>
                </a:solidFill>
                <a:latin typeface="Noto Sans CJK SC"/>
              </a:rPr>
              <a:t>IdentityClaim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 42"/>
          <p:cNvSpPr/>
          <p:nvPr/>
        </p:nvSpPr>
        <p:spPr>
          <a:xfrm>
            <a:off x="6126480" y="5989320"/>
            <a:ext cx="1828440" cy="310680"/>
          </a:xfrm>
          <a:prstGeom prst="rect">
            <a:avLst/>
          </a:prstGeom>
          <a:solidFill>
            <a:srgbClr val="efecf2"/>
          </a:solidFill>
          <a:ln>
            <a:solidFill>
              <a:srgbClr val="efec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43"/>
          <p:cNvSpPr/>
          <p:nvPr/>
        </p:nvSpPr>
        <p:spPr>
          <a:xfrm>
            <a:off x="6172200" y="6019200"/>
            <a:ext cx="1737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62556f"/>
                </a:solidFill>
                <a:latin typeface="Noto Sans CJK SC"/>
              </a:rPr>
              <a:t>CoalitionCommit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Rectangle 44"/>
          <p:cNvSpPr/>
          <p:nvPr/>
        </p:nvSpPr>
        <p:spPr>
          <a:xfrm>
            <a:off x="8138160" y="5989320"/>
            <a:ext cx="1416960" cy="310680"/>
          </a:xfrm>
          <a:prstGeom prst="rect">
            <a:avLst/>
          </a:prstGeom>
          <a:solidFill>
            <a:srgbClr val="f5f0e6"/>
          </a:solidFill>
          <a:ln>
            <a:solidFill>
              <a:srgbClr val="f5f0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" name="TextBox 45"/>
          <p:cNvSpPr/>
          <p:nvPr/>
        </p:nvSpPr>
        <p:spPr>
          <a:xfrm>
            <a:off x="8183880" y="6019200"/>
            <a:ext cx="1325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97422"/>
                </a:solidFill>
                <a:latin typeface="Noto Sans CJK SC"/>
              </a:rPr>
              <a:t>EventRecord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Rectangle 46"/>
          <p:cNvSpPr/>
          <p:nvPr/>
        </p:nvSpPr>
        <p:spPr>
          <a:xfrm>
            <a:off x="9738360" y="5989320"/>
            <a:ext cx="155412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TextBox 47"/>
          <p:cNvSpPr/>
          <p:nvPr/>
        </p:nvSpPr>
        <p:spPr>
          <a:xfrm>
            <a:off x="9784080" y="6019200"/>
            <a:ext cx="14626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视频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/</a:t>
            </a: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图像 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cue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ectangle 48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TextBox 49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50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正常运行、主动降级与被动降级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主动降级由不确定性和末端不一致触发；被动降级由节点失效触发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Rectangle 6"/>
          <p:cNvSpPr/>
          <p:nvPr/>
        </p:nvSpPr>
        <p:spPr>
          <a:xfrm>
            <a:off x="685800" y="1627560"/>
            <a:ext cx="2148480" cy="804240"/>
          </a:xfrm>
          <a:prstGeom prst="rect">
            <a:avLst/>
          </a:prstGeom>
          <a:solidFill>
            <a:srgbClr val="eaf0f5"/>
          </a:solidFill>
          <a:ln w="1524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7"/>
          <p:cNvSpPr/>
          <p:nvPr/>
        </p:nvSpPr>
        <p:spPr>
          <a:xfrm>
            <a:off x="795600" y="1737360"/>
            <a:ext cx="19288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315b82"/>
                </a:solidFill>
                <a:latin typeface="Noto Sans CJK SC"/>
              </a:rPr>
              <a:t>中心正常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8"/>
          <p:cNvSpPr/>
          <p:nvPr/>
        </p:nvSpPr>
        <p:spPr>
          <a:xfrm>
            <a:off x="795600" y="2039040"/>
            <a:ext cx="1928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中心计划持续有效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ectangle 9"/>
          <p:cNvSpPr/>
          <p:nvPr/>
        </p:nvSpPr>
        <p:spPr>
          <a:xfrm>
            <a:off x="3154680" y="1627560"/>
            <a:ext cx="2148480" cy="804240"/>
          </a:xfrm>
          <a:prstGeom prst="rect">
            <a:avLst/>
          </a:prstGeom>
          <a:solidFill>
            <a:srgbClr val="f5f0e6"/>
          </a:solidFill>
          <a:ln w="1524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TextBox 10"/>
          <p:cNvSpPr/>
          <p:nvPr/>
        </p:nvSpPr>
        <p:spPr>
          <a:xfrm>
            <a:off x="3264480" y="1737360"/>
            <a:ext cx="19288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97422"/>
                </a:solidFill>
                <a:latin typeface="Noto Sans CJK SC"/>
              </a:rPr>
              <a:t>主动降级判断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11"/>
          <p:cNvSpPr/>
          <p:nvPr/>
        </p:nvSpPr>
        <p:spPr>
          <a:xfrm>
            <a:off x="3264480" y="2039040"/>
            <a:ext cx="1928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D1/D2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不确定度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D5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不一致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Rectangle 12"/>
          <p:cNvSpPr/>
          <p:nvPr/>
        </p:nvSpPr>
        <p:spPr>
          <a:xfrm>
            <a:off x="5623560" y="1627560"/>
            <a:ext cx="2148480" cy="804240"/>
          </a:xfrm>
          <a:prstGeom prst="rect">
            <a:avLst/>
          </a:prstGeom>
          <a:solidFill>
            <a:srgbClr val="eaf2f2"/>
          </a:solidFill>
          <a:ln w="1524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13"/>
          <p:cNvSpPr/>
          <p:nvPr/>
        </p:nvSpPr>
        <p:spPr>
          <a:xfrm>
            <a:off x="5733360" y="1737360"/>
            <a:ext cx="19288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28777c"/>
                </a:solidFill>
                <a:latin typeface="Noto Sans CJK SC"/>
              </a:rPr>
              <a:t>二级节点接管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14"/>
          <p:cNvSpPr/>
          <p:nvPr/>
        </p:nvSpPr>
        <p:spPr>
          <a:xfrm>
            <a:off x="5733360" y="2039040"/>
            <a:ext cx="1928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高空侦察节点发布新版本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ectangle 15"/>
          <p:cNvSpPr/>
          <p:nvPr/>
        </p:nvSpPr>
        <p:spPr>
          <a:xfrm>
            <a:off x="8092440" y="1627560"/>
            <a:ext cx="2148480" cy="804240"/>
          </a:xfrm>
          <a:prstGeom prst="rect">
            <a:avLst/>
          </a:prstGeom>
          <a:solidFill>
            <a:srgbClr val="ebf1ed"/>
          </a:solidFill>
          <a:ln w="1524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TextBox 16"/>
          <p:cNvSpPr/>
          <p:nvPr/>
        </p:nvSpPr>
        <p:spPr>
          <a:xfrm>
            <a:off x="8202240" y="1737360"/>
            <a:ext cx="19288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477358"/>
                </a:solidFill>
                <a:latin typeface="Noto Sans CJK SC"/>
              </a:rPr>
              <a:t>完全分布式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17"/>
          <p:cNvSpPr/>
          <p:nvPr/>
        </p:nvSpPr>
        <p:spPr>
          <a:xfrm>
            <a:off x="8202240" y="2039040"/>
            <a:ext cx="1928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peer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联盟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ACK/commit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29" name="Connector 18"/>
          <p:cNvCxnSpPr/>
          <p:nvPr/>
        </p:nvCxnSpPr>
        <p:spPr>
          <a:xfrm>
            <a:off x="2852640" y="2029680"/>
            <a:ext cx="274680" cy="36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cxnSp>
        <p:nvCxnSpPr>
          <p:cNvPr id="330" name="Connector 19"/>
          <p:cNvCxnSpPr/>
          <p:nvPr/>
        </p:nvCxnSpPr>
        <p:spPr>
          <a:xfrm>
            <a:off x="5321520" y="2029680"/>
            <a:ext cx="274680" cy="36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cxnSp>
        <p:nvCxnSpPr>
          <p:cNvPr id="331" name="Connector 20"/>
          <p:cNvCxnSpPr/>
          <p:nvPr/>
        </p:nvCxnSpPr>
        <p:spPr>
          <a:xfrm>
            <a:off x="7790400" y="2029680"/>
            <a:ext cx="274680" cy="360"/>
          </a:xfrm>
          <a:prstGeom prst="straightConnector1">
            <a:avLst/>
          </a:prstGeom>
          <a:ln w="20320">
            <a:solidFill>
              <a:srgbClr val="596673"/>
            </a:solidFill>
            <a:round/>
          </a:ln>
        </p:spPr>
      </p:cxnSp>
      <p:sp>
        <p:nvSpPr>
          <p:cNvPr id="332" name="Rectangle 21"/>
          <p:cNvSpPr/>
          <p:nvPr/>
        </p:nvSpPr>
        <p:spPr>
          <a:xfrm>
            <a:off x="777240" y="3063240"/>
            <a:ext cx="3200040" cy="1096920"/>
          </a:xfrm>
          <a:prstGeom prst="rect">
            <a:avLst/>
          </a:prstGeom>
          <a:solidFill>
            <a:srgbClr val="ebf1ed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3" name="Rectangle 22"/>
          <p:cNvSpPr/>
          <p:nvPr/>
        </p:nvSpPr>
        <p:spPr>
          <a:xfrm>
            <a:off x="777240" y="3063240"/>
            <a:ext cx="63720" cy="1096920"/>
          </a:xfrm>
          <a:prstGeom prst="rect">
            <a:avLst/>
          </a:prstGeom>
          <a:solidFill>
            <a:srgbClr val="4773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4" name="TextBox 23"/>
          <p:cNvSpPr/>
          <p:nvPr/>
        </p:nvSpPr>
        <p:spPr>
          <a:xfrm>
            <a:off x="941760" y="3200400"/>
            <a:ext cx="29073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c2733"/>
                </a:solidFill>
                <a:latin typeface="Noto Sans CJK SC"/>
              </a:rPr>
              <a:t>继续执行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4"/>
          <p:cNvSpPr/>
          <p:nvPr/>
        </p:nvSpPr>
        <p:spPr>
          <a:xfrm>
            <a:off x="941760" y="3584520"/>
            <a:ext cx="290736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中心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二级分配与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D5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末端关联一致，计划版本新鲜，联盟证据有效。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ectangle 25"/>
          <p:cNvSpPr/>
          <p:nvPr/>
        </p:nvSpPr>
        <p:spPr>
          <a:xfrm>
            <a:off x="4480560" y="3063240"/>
            <a:ext cx="3200040" cy="1096920"/>
          </a:xfrm>
          <a:prstGeom prst="rect">
            <a:avLst/>
          </a:prstGeom>
          <a:solidFill>
            <a:srgbClr val="f5f0e6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Rectangle 26"/>
          <p:cNvSpPr/>
          <p:nvPr/>
        </p:nvSpPr>
        <p:spPr>
          <a:xfrm>
            <a:off x="4480560" y="3063240"/>
            <a:ext cx="63720" cy="1096920"/>
          </a:xfrm>
          <a:prstGeom prst="rect">
            <a:avLst/>
          </a:prstGeom>
          <a:solidFill>
            <a:srgbClr val="a974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8" name="TextBox 27"/>
          <p:cNvSpPr/>
          <p:nvPr/>
        </p:nvSpPr>
        <p:spPr>
          <a:xfrm>
            <a:off x="4645080" y="3200400"/>
            <a:ext cx="29073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c2733"/>
                </a:solidFill>
                <a:latin typeface="Noto Sans CJK SC"/>
              </a:rPr>
              <a:t>请求重规划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28"/>
          <p:cNvSpPr/>
          <p:nvPr/>
        </p:nvSpPr>
        <p:spPr>
          <a:xfrm>
            <a:off x="4645080" y="3584520"/>
            <a:ext cx="290736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中心仍在线，但跟踪不确定性、计划延时或视觉证据表明原计划失效。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tangle 29"/>
          <p:cNvSpPr/>
          <p:nvPr/>
        </p:nvSpPr>
        <p:spPr>
          <a:xfrm>
            <a:off x="8183880" y="3063240"/>
            <a:ext cx="3200040" cy="109692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Rectangle 30"/>
          <p:cNvSpPr/>
          <p:nvPr/>
        </p:nvSpPr>
        <p:spPr>
          <a:xfrm>
            <a:off x="8183880" y="3063240"/>
            <a:ext cx="63720" cy="109692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2" name="TextBox 31"/>
          <p:cNvSpPr/>
          <p:nvPr/>
        </p:nvSpPr>
        <p:spPr>
          <a:xfrm>
            <a:off x="8348400" y="3200400"/>
            <a:ext cx="29073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c2733"/>
                </a:solidFill>
                <a:latin typeface="Noto Sans CJK SC"/>
              </a:rPr>
              <a:t>保守阻断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Box 32"/>
          <p:cNvSpPr/>
          <p:nvPr/>
        </p:nvSpPr>
        <p:spPr>
          <a:xfrm>
            <a:off x="8348400" y="3584520"/>
            <a:ext cx="290736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缺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ACK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、旧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epoch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、过期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lease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、身份冲突或网络分区时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fail-closed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。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Rectangle 33"/>
          <p:cNvSpPr/>
          <p:nvPr/>
        </p:nvSpPr>
        <p:spPr>
          <a:xfrm>
            <a:off x="1097280" y="4709160"/>
            <a:ext cx="9966600" cy="91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34"/>
          <p:cNvSpPr/>
          <p:nvPr/>
        </p:nvSpPr>
        <p:spPr>
          <a:xfrm>
            <a:off x="1325880" y="4956120"/>
            <a:ext cx="10969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62556f"/>
                </a:solidFill>
                <a:latin typeface="Noto Sans CJK SC"/>
              </a:rPr>
              <a:t>切换规则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35"/>
          <p:cNvSpPr/>
          <p:nvPr/>
        </p:nvSpPr>
        <p:spPr>
          <a:xfrm>
            <a:off x="2331720" y="4892040"/>
            <a:ext cx="81835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c2733"/>
                </a:solidFill>
                <a:latin typeface="Noto Sans CJK SC"/>
              </a:rPr>
              <a:t>结果一致时继续执行；结果不一致时进入仲裁；证据不足时不授权；中心恢复后先完成双轨校验。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ectangle 36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TextBox 37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38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D1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多传感器融合与目标配准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把异步、异构、不同参考系的观测统一成可信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GlobalTrack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Rectangle 6"/>
          <p:cNvSpPr/>
          <p:nvPr/>
        </p:nvSpPr>
        <p:spPr>
          <a:xfrm>
            <a:off x="594360" y="1508760"/>
            <a:ext cx="1919880" cy="785880"/>
          </a:xfrm>
          <a:prstGeom prst="rect">
            <a:avLst/>
          </a:prstGeom>
          <a:solidFill>
            <a:srgbClr val="eaf2f2"/>
          </a:solidFill>
          <a:ln w="1270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722520" y="1618560"/>
            <a:ext cx="50256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28777c"/>
                </a:solidFill>
                <a:latin typeface="Noto Sans CJK SC"/>
              </a:rPr>
              <a:t>D1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1252800" y="1600200"/>
            <a:ext cx="1142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多源融合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9"/>
          <p:cNvSpPr/>
          <p:nvPr/>
        </p:nvSpPr>
        <p:spPr>
          <a:xfrm>
            <a:off x="1252800" y="1892880"/>
            <a:ext cx="11426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观测 → </a:t>
            </a:r>
            <a:r>
              <a:rPr b="0" lang="en-US" sz="900" spc="-1" strike="noStrike">
                <a:solidFill>
                  <a:srgbClr val="596673"/>
                </a:solidFill>
                <a:latin typeface="Noto Sans CJK SC"/>
              </a:rPr>
              <a:t>GlobalTrack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Rectangle 10"/>
          <p:cNvSpPr/>
          <p:nvPr/>
        </p:nvSpPr>
        <p:spPr>
          <a:xfrm>
            <a:off x="731520" y="2743200"/>
            <a:ext cx="1828440" cy="86832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0" name="TextBox 11"/>
          <p:cNvSpPr/>
          <p:nvPr/>
        </p:nvSpPr>
        <p:spPr>
          <a:xfrm>
            <a:off x="804600" y="2843640"/>
            <a:ext cx="1682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雷达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12"/>
          <p:cNvSpPr/>
          <p:nvPr/>
        </p:nvSpPr>
        <p:spPr>
          <a:xfrm>
            <a:off x="804600" y="3163680"/>
            <a:ext cx="1682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三维位置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速度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距离相关协方差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ectangle 13"/>
          <p:cNvSpPr/>
          <p:nvPr/>
        </p:nvSpPr>
        <p:spPr>
          <a:xfrm>
            <a:off x="731520" y="3886200"/>
            <a:ext cx="1828440" cy="868320"/>
          </a:xfrm>
          <a:prstGeom prst="rect">
            <a:avLst/>
          </a:prstGeom>
          <a:solidFill>
            <a:srgbClr val="f5f0e6"/>
          </a:solidFill>
          <a:ln w="2032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3" name="TextBox 14"/>
          <p:cNvSpPr/>
          <p:nvPr/>
        </p:nvSpPr>
        <p:spPr>
          <a:xfrm>
            <a:off x="804600" y="3986640"/>
            <a:ext cx="1682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a97422"/>
                </a:solidFill>
                <a:latin typeface="Noto Sans CJK SC"/>
              </a:rPr>
              <a:t>声学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15"/>
          <p:cNvSpPr/>
          <p:nvPr/>
        </p:nvSpPr>
        <p:spPr>
          <a:xfrm>
            <a:off x="804600" y="4306680"/>
            <a:ext cx="1682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粗方位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声纹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低空辅助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Rectangle 16"/>
          <p:cNvSpPr/>
          <p:nvPr/>
        </p:nvSpPr>
        <p:spPr>
          <a:xfrm>
            <a:off x="731520" y="5029200"/>
            <a:ext cx="1828440" cy="868320"/>
          </a:xfrm>
          <a:prstGeom prst="rect">
            <a:avLst/>
          </a:prstGeom>
          <a:solidFill>
            <a:srgbClr val="f4eaea"/>
          </a:solidFill>
          <a:ln w="2032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TextBox 17"/>
          <p:cNvSpPr/>
          <p:nvPr/>
        </p:nvSpPr>
        <p:spPr>
          <a:xfrm>
            <a:off x="804600" y="5129640"/>
            <a:ext cx="1682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a83b3b"/>
                </a:solidFill>
                <a:latin typeface="Noto Sans CJK SC"/>
              </a:rPr>
              <a:t>光电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18"/>
          <p:cNvSpPr/>
          <p:nvPr/>
        </p:nvSpPr>
        <p:spPr>
          <a:xfrm>
            <a:off x="804600" y="5449680"/>
            <a:ext cx="1682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像素框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相机参数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局部确认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68" name="Connector 19"/>
          <p:cNvCxnSpPr/>
          <p:nvPr/>
        </p:nvCxnSpPr>
        <p:spPr>
          <a:xfrm>
            <a:off x="2606040" y="3182040"/>
            <a:ext cx="1051920" cy="73188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cxnSp>
        <p:nvCxnSpPr>
          <p:cNvPr id="369" name="Connector 20"/>
          <p:cNvCxnSpPr/>
          <p:nvPr/>
        </p:nvCxnSpPr>
        <p:spPr>
          <a:xfrm flipV="1">
            <a:off x="2606040" y="4114800"/>
            <a:ext cx="1051920" cy="20124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cxnSp>
        <p:nvCxnSpPr>
          <p:cNvPr id="370" name="Connector 21"/>
          <p:cNvCxnSpPr/>
          <p:nvPr/>
        </p:nvCxnSpPr>
        <p:spPr>
          <a:xfrm flipV="1">
            <a:off x="2606040" y="4315680"/>
            <a:ext cx="1051920" cy="115272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sp>
        <p:nvSpPr>
          <p:cNvPr id="371" name="Rectangle 22"/>
          <p:cNvSpPr/>
          <p:nvPr/>
        </p:nvSpPr>
        <p:spPr>
          <a:xfrm>
            <a:off x="3703320" y="3429000"/>
            <a:ext cx="2239920" cy="1325520"/>
          </a:xfrm>
          <a:prstGeom prst="rect">
            <a:avLst/>
          </a:prstGeom>
          <a:solidFill>
            <a:srgbClr val="eaf2f2"/>
          </a:solidFill>
          <a:ln w="2032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TextBox 23"/>
          <p:cNvSpPr/>
          <p:nvPr/>
        </p:nvSpPr>
        <p:spPr>
          <a:xfrm>
            <a:off x="3776400" y="3529440"/>
            <a:ext cx="209376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28777c"/>
                </a:solidFill>
                <a:latin typeface="Noto Sans CJK SC"/>
              </a:rPr>
              <a:t>时空对齐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24"/>
          <p:cNvSpPr/>
          <p:nvPr/>
        </p:nvSpPr>
        <p:spPr>
          <a:xfrm>
            <a:off x="3776400" y="3849480"/>
            <a:ext cx="20937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measurement / arrival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双时间戳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sensor frame → NED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74" name="Connector 25"/>
          <p:cNvCxnSpPr/>
          <p:nvPr/>
        </p:nvCxnSpPr>
        <p:spPr>
          <a:xfrm>
            <a:off x="5989320" y="4096440"/>
            <a:ext cx="73188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sp>
        <p:nvSpPr>
          <p:cNvPr id="375" name="Rectangle 26"/>
          <p:cNvSpPr/>
          <p:nvPr/>
        </p:nvSpPr>
        <p:spPr>
          <a:xfrm>
            <a:off x="6766560" y="3429000"/>
            <a:ext cx="2194200" cy="1325520"/>
          </a:xfrm>
          <a:prstGeom prst="rect">
            <a:avLst/>
          </a:prstGeom>
          <a:solidFill>
            <a:srgbClr val="efecf2"/>
          </a:solidFill>
          <a:ln w="20320">
            <a:solidFill>
              <a:srgbClr val="6255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TextBox 27"/>
          <p:cNvSpPr/>
          <p:nvPr/>
        </p:nvSpPr>
        <p:spPr>
          <a:xfrm>
            <a:off x="6839640" y="3529440"/>
            <a:ext cx="204804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62556f"/>
                </a:solidFill>
                <a:latin typeface="Noto Sans CJK SC"/>
              </a:rPr>
              <a:t>轻量 </a:t>
            </a:r>
            <a:r>
              <a:rPr b="1" lang="en-US" sz="1400" spc="-1" strike="noStrike">
                <a:solidFill>
                  <a:srgbClr val="62556f"/>
                </a:solidFill>
                <a:latin typeface="Noto Sans CJK SC"/>
              </a:rPr>
              <a:t>EKF / OOSM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Box 28"/>
          <p:cNvSpPr/>
          <p:nvPr/>
        </p:nvSpPr>
        <p:spPr>
          <a:xfrm>
            <a:off x="6839640" y="3849480"/>
            <a:ext cx="20480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延迟补偿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协方差传播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source lineage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去重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78" name="Connector 29"/>
          <p:cNvCxnSpPr/>
          <p:nvPr/>
        </p:nvCxnSpPr>
        <p:spPr>
          <a:xfrm>
            <a:off x="9006840" y="4096440"/>
            <a:ext cx="59472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sp>
        <p:nvSpPr>
          <p:cNvPr id="379" name="Rectangle 30"/>
          <p:cNvSpPr/>
          <p:nvPr/>
        </p:nvSpPr>
        <p:spPr>
          <a:xfrm>
            <a:off x="9646920" y="3429000"/>
            <a:ext cx="1828440" cy="132552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TextBox 31"/>
          <p:cNvSpPr/>
          <p:nvPr/>
        </p:nvSpPr>
        <p:spPr>
          <a:xfrm>
            <a:off x="9720000" y="3529440"/>
            <a:ext cx="1682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77358"/>
                </a:solidFill>
                <a:latin typeface="Noto Sans CJK SC"/>
              </a:rPr>
              <a:t>GlobalTrack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Box 32"/>
          <p:cNvSpPr/>
          <p:nvPr/>
        </p:nvSpPr>
        <p:spPr>
          <a:xfrm>
            <a:off x="9720000" y="3849480"/>
            <a:ext cx="168228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position / velocity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covariance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track quality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Rectangle 33"/>
          <p:cNvSpPr/>
          <p:nvPr/>
        </p:nvSpPr>
        <p:spPr>
          <a:xfrm>
            <a:off x="3657600" y="5257800"/>
            <a:ext cx="1142640" cy="310680"/>
          </a:xfrm>
          <a:prstGeom prst="rect">
            <a:avLst/>
          </a:prstGeom>
          <a:solidFill>
            <a:srgbClr val="f5f0e6"/>
          </a:solidFill>
          <a:ln>
            <a:solidFill>
              <a:srgbClr val="f5f0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TextBox 34"/>
          <p:cNvSpPr/>
          <p:nvPr/>
        </p:nvSpPr>
        <p:spPr>
          <a:xfrm>
            <a:off x="3703320" y="5287680"/>
            <a:ext cx="10512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97422"/>
                </a:solidFill>
                <a:latin typeface="Noto Sans CJK SC"/>
              </a:rPr>
              <a:t>coarse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ectangle 35"/>
          <p:cNvSpPr/>
          <p:nvPr/>
        </p:nvSpPr>
        <p:spPr>
          <a:xfrm>
            <a:off x="5029200" y="5257800"/>
            <a:ext cx="114264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TextBox 36"/>
          <p:cNvSpPr/>
          <p:nvPr/>
        </p:nvSpPr>
        <p:spPr>
          <a:xfrm>
            <a:off x="5074920" y="5287680"/>
            <a:ext cx="10512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stable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Rectangle 37"/>
          <p:cNvSpPr/>
          <p:nvPr/>
        </p:nvSpPr>
        <p:spPr>
          <a:xfrm>
            <a:off x="6400800" y="5257800"/>
            <a:ext cx="1325520" cy="310680"/>
          </a:xfrm>
          <a:prstGeom prst="rect">
            <a:avLst/>
          </a:prstGeom>
          <a:solidFill>
            <a:srgbClr val="ebf1ed"/>
          </a:solidFill>
          <a:ln>
            <a:solidFill>
              <a:srgbClr val="ebf1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TextBox 38"/>
          <p:cNvSpPr/>
          <p:nvPr/>
        </p:nvSpPr>
        <p:spPr>
          <a:xfrm>
            <a:off x="6446520" y="5287680"/>
            <a:ext cx="12340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477358"/>
                </a:solidFill>
                <a:latin typeface="Noto Sans CJK SC"/>
              </a:rPr>
              <a:t>handover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Rectangle 39"/>
          <p:cNvSpPr/>
          <p:nvPr/>
        </p:nvSpPr>
        <p:spPr>
          <a:xfrm>
            <a:off x="7955280" y="5212080"/>
            <a:ext cx="3428640" cy="731160"/>
          </a:xfrm>
          <a:prstGeom prst="rect">
            <a:avLst/>
          </a:prstGeom>
          <a:solidFill>
            <a:srgbClr val="eaf2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9" name="Rectangle 40"/>
          <p:cNvSpPr/>
          <p:nvPr/>
        </p:nvSpPr>
        <p:spPr>
          <a:xfrm>
            <a:off x="7955280" y="5212080"/>
            <a:ext cx="63720" cy="731160"/>
          </a:xfrm>
          <a:prstGeom prst="rect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0" name="TextBox 41"/>
          <p:cNvSpPr/>
          <p:nvPr/>
        </p:nvSpPr>
        <p:spPr>
          <a:xfrm>
            <a:off x="8119800" y="5349240"/>
            <a:ext cx="3135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价值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Box 42"/>
          <p:cNvSpPr/>
          <p:nvPr/>
        </p:nvSpPr>
        <p:spPr>
          <a:xfrm>
            <a:off x="8119800" y="5733360"/>
            <a:ext cx="31359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后续关联、分配、视觉门控与安全决策都使用“均值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不确定性”，而不是只追一个点。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Rectangle 43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44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45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6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D1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验证结果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延迟补偿与融合结果可量化，当前主线保持轻量可解释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Rectangle 6"/>
          <p:cNvSpPr/>
          <p:nvPr/>
        </p:nvSpPr>
        <p:spPr>
          <a:xfrm>
            <a:off x="594360" y="1572840"/>
            <a:ext cx="5577480" cy="4315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01" name="Picture 7" descr="tracks_xy.png"/>
          <p:cNvPicPr/>
          <p:nvPr/>
        </p:nvPicPr>
        <p:blipFill>
          <a:blip r:embed="rId1"/>
          <a:stretch/>
        </p:blipFill>
        <p:spPr>
          <a:xfrm>
            <a:off x="631080" y="1666440"/>
            <a:ext cx="5504400" cy="4128120"/>
          </a:xfrm>
          <a:prstGeom prst="rect">
            <a:avLst/>
          </a:prstGeom>
          <a:ln w="0">
            <a:noFill/>
          </a:ln>
        </p:spPr>
      </p:pic>
      <p:sp>
        <p:nvSpPr>
          <p:cNvPr id="402" name="Rectangle 8"/>
          <p:cNvSpPr/>
          <p:nvPr/>
        </p:nvSpPr>
        <p:spPr>
          <a:xfrm>
            <a:off x="6355080" y="1572840"/>
            <a:ext cx="5230080" cy="306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03" name="Picture 9" descr="rmse_latency_ablation.png"/>
          <p:cNvPicPr/>
          <p:nvPr/>
        </p:nvPicPr>
        <p:blipFill>
          <a:blip r:embed="rId2"/>
          <a:stretch/>
        </p:blipFill>
        <p:spPr>
          <a:xfrm>
            <a:off x="6727680" y="1609200"/>
            <a:ext cx="4484880" cy="2989800"/>
          </a:xfrm>
          <a:prstGeom prst="rect">
            <a:avLst/>
          </a:prstGeom>
          <a:ln w="0">
            <a:noFill/>
          </a:ln>
        </p:spPr>
      </p:pic>
      <p:sp>
        <p:nvSpPr>
          <p:cNvPr id="404" name="Rectangle 10"/>
          <p:cNvSpPr/>
          <p:nvPr/>
        </p:nvSpPr>
        <p:spPr>
          <a:xfrm>
            <a:off x="6400800" y="4818960"/>
            <a:ext cx="2468520" cy="1051200"/>
          </a:xfrm>
          <a:prstGeom prst="rect">
            <a:avLst/>
          </a:prstGeom>
          <a:solidFill>
            <a:srgbClr val="ebf1ed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5" name="Rectangle 11"/>
          <p:cNvSpPr/>
          <p:nvPr/>
        </p:nvSpPr>
        <p:spPr>
          <a:xfrm>
            <a:off x="6400800" y="4818960"/>
            <a:ext cx="63720" cy="1051200"/>
          </a:xfrm>
          <a:prstGeom prst="rect">
            <a:avLst/>
          </a:prstGeom>
          <a:solidFill>
            <a:srgbClr val="4773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12"/>
          <p:cNvSpPr/>
          <p:nvPr/>
        </p:nvSpPr>
        <p:spPr>
          <a:xfrm>
            <a:off x="6565320" y="4956120"/>
            <a:ext cx="21758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已完成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13"/>
          <p:cNvSpPr/>
          <p:nvPr/>
        </p:nvSpPr>
        <p:spPr>
          <a:xfrm>
            <a:off x="6565320" y="5340240"/>
            <a:ext cx="2175840" cy="53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双时间戳、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NED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、协方差、延迟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/OOSM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、距离相关噪声、航迹分级、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governed replay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Rectangle 14"/>
          <p:cNvSpPr/>
          <p:nvPr/>
        </p:nvSpPr>
        <p:spPr>
          <a:xfrm>
            <a:off x="9052560" y="4818960"/>
            <a:ext cx="2468520" cy="1051200"/>
          </a:xfrm>
          <a:prstGeom prst="rect">
            <a:avLst/>
          </a:prstGeom>
          <a:solidFill>
            <a:srgbClr val="f5f0e6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Rectangle 15"/>
          <p:cNvSpPr/>
          <p:nvPr/>
        </p:nvSpPr>
        <p:spPr>
          <a:xfrm>
            <a:off x="9052560" y="4818960"/>
            <a:ext cx="63720" cy="1051200"/>
          </a:xfrm>
          <a:prstGeom prst="rect">
            <a:avLst/>
          </a:prstGeom>
          <a:solidFill>
            <a:srgbClr val="a974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TextBox 16"/>
          <p:cNvSpPr/>
          <p:nvPr/>
        </p:nvSpPr>
        <p:spPr>
          <a:xfrm>
            <a:off x="9217080" y="4956120"/>
            <a:ext cx="21758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仍需标定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17"/>
          <p:cNvSpPr/>
          <p:nvPr/>
        </p:nvSpPr>
        <p:spPr>
          <a:xfrm>
            <a:off x="9217080" y="5340240"/>
            <a:ext cx="21758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真实长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replay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、复杂遮挡、多节点公共信息相关性和长期阈值治理。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18"/>
          <p:cNvSpPr/>
          <p:nvPr/>
        </p:nvSpPr>
        <p:spPr>
          <a:xfrm>
            <a:off x="731520" y="5989320"/>
            <a:ext cx="54860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图：</a:t>
            </a:r>
            <a:r>
              <a:rPr b="0" lang="en-US" sz="900" spc="-1" strike="noStrike">
                <a:solidFill>
                  <a:srgbClr val="596673"/>
                </a:solidFill>
                <a:latin typeface="Noto Sans CJK SC"/>
              </a:rPr>
              <a:t>D1 </a:t>
            </a: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质点融合航迹与延迟补偿消融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ectangle 19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4" name="TextBox 20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21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7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D2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多目标跟踪与数据关联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目标交叉时保持身份连续，避免重复分配和错误末端锁定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1" name="Rectangle 6"/>
          <p:cNvSpPr/>
          <p:nvPr/>
        </p:nvSpPr>
        <p:spPr>
          <a:xfrm>
            <a:off x="594360" y="1508760"/>
            <a:ext cx="1919880" cy="785880"/>
          </a:xfrm>
          <a:prstGeom prst="rect">
            <a:avLst/>
          </a:prstGeom>
          <a:solidFill>
            <a:srgbClr val="eaf0f5"/>
          </a:solidFill>
          <a:ln w="1270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2" name="TextBox 7"/>
          <p:cNvSpPr/>
          <p:nvPr/>
        </p:nvSpPr>
        <p:spPr>
          <a:xfrm>
            <a:off x="722520" y="1618560"/>
            <a:ext cx="50256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315b82"/>
                </a:solidFill>
                <a:latin typeface="Noto Sans CJK SC"/>
              </a:rPr>
              <a:t>D2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8"/>
          <p:cNvSpPr/>
          <p:nvPr/>
        </p:nvSpPr>
        <p:spPr>
          <a:xfrm>
            <a:off x="1252800" y="1600200"/>
            <a:ext cx="1142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航迹关联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9"/>
          <p:cNvSpPr/>
          <p:nvPr/>
        </p:nvSpPr>
        <p:spPr>
          <a:xfrm>
            <a:off x="1252800" y="1892880"/>
            <a:ext cx="1142640" cy="3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稳定 </a:t>
            </a:r>
            <a:r>
              <a:rPr b="0" lang="en-US" sz="900" spc="-1" strike="noStrike">
                <a:solidFill>
                  <a:srgbClr val="596673"/>
                </a:solidFill>
                <a:latin typeface="Noto Sans CJK SC"/>
              </a:rPr>
              <a:t>global_track_id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Box 10"/>
          <p:cNvSpPr/>
          <p:nvPr/>
        </p:nvSpPr>
        <p:spPr>
          <a:xfrm>
            <a:off x="822960" y="274320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315b82"/>
                </a:solidFill>
                <a:latin typeface="Noto Sans CJK SC"/>
              </a:rPr>
              <a:t>预测航迹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11"/>
          <p:cNvSpPr/>
          <p:nvPr/>
        </p:nvSpPr>
        <p:spPr>
          <a:xfrm>
            <a:off x="822960" y="46177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83b3b"/>
                </a:solidFill>
                <a:latin typeface="Noto Sans CJK SC"/>
              </a:rPr>
              <a:t>新观测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Rectangle 12"/>
          <p:cNvSpPr/>
          <p:nvPr/>
        </p:nvSpPr>
        <p:spPr>
          <a:xfrm>
            <a:off x="914400" y="3154680"/>
            <a:ext cx="1508400" cy="38376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8" name="TextBox 13"/>
          <p:cNvSpPr/>
          <p:nvPr/>
        </p:nvSpPr>
        <p:spPr>
          <a:xfrm>
            <a:off x="987480" y="325512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315b82"/>
                </a:solidFill>
                <a:latin typeface="Noto Sans CJK SC"/>
              </a:rPr>
              <a:t>Track 1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14"/>
          <p:cNvSpPr/>
          <p:nvPr/>
        </p:nvSpPr>
        <p:spPr>
          <a:xfrm>
            <a:off x="987480" y="347508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状态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协方差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ectangle 15"/>
          <p:cNvSpPr/>
          <p:nvPr/>
        </p:nvSpPr>
        <p:spPr>
          <a:xfrm>
            <a:off x="914400" y="3657600"/>
            <a:ext cx="1508400" cy="38376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1" name="TextBox 16"/>
          <p:cNvSpPr/>
          <p:nvPr/>
        </p:nvSpPr>
        <p:spPr>
          <a:xfrm>
            <a:off x="987480" y="375804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315b82"/>
                </a:solidFill>
                <a:latin typeface="Noto Sans CJK SC"/>
              </a:rPr>
              <a:t>Track 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17"/>
          <p:cNvSpPr/>
          <p:nvPr/>
        </p:nvSpPr>
        <p:spPr>
          <a:xfrm>
            <a:off x="987480" y="397800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状态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协方差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Rectangle 18"/>
          <p:cNvSpPr/>
          <p:nvPr/>
        </p:nvSpPr>
        <p:spPr>
          <a:xfrm>
            <a:off x="914400" y="4160520"/>
            <a:ext cx="1508400" cy="38376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4" name="TextBox 19"/>
          <p:cNvSpPr/>
          <p:nvPr/>
        </p:nvSpPr>
        <p:spPr>
          <a:xfrm>
            <a:off x="987480" y="426096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315b82"/>
                </a:solidFill>
                <a:latin typeface="Noto Sans CJK SC"/>
              </a:rPr>
              <a:t>Track 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20"/>
          <p:cNvSpPr/>
          <p:nvPr/>
        </p:nvSpPr>
        <p:spPr>
          <a:xfrm>
            <a:off x="987480" y="448092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状态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协方差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ectangle 21"/>
          <p:cNvSpPr/>
          <p:nvPr/>
        </p:nvSpPr>
        <p:spPr>
          <a:xfrm>
            <a:off x="914400" y="5010840"/>
            <a:ext cx="1508400" cy="328680"/>
          </a:xfrm>
          <a:prstGeom prst="rect">
            <a:avLst/>
          </a:prstGeom>
          <a:solidFill>
            <a:srgbClr val="f4eaea"/>
          </a:solidFill>
          <a:ln w="2032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7" name="TextBox 22"/>
          <p:cNvSpPr/>
          <p:nvPr/>
        </p:nvSpPr>
        <p:spPr>
          <a:xfrm>
            <a:off x="987480" y="5111640"/>
            <a:ext cx="13622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80" spc="-1" strike="noStrike">
                <a:solidFill>
                  <a:srgbClr val="a83b3b"/>
                </a:solidFill>
                <a:latin typeface="Noto Sans CJK SC"/>
              </a:rPr>
              <a:t>Detection 1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23"/>
          <p:cNvSpPr/>
          <p:nvPr/>
        </p:nvSpPr>
        <p:spPr>
          <a:xfrm>
            <a:off x="987480" y="527616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measurement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ectangle 24"/>
          <p:cNvSpPr/>
          <p:nvPr/>
        </p:nvSpPr>
        <p:spPr>
          <a:xfrm>
            <a:off x="914400" y="5440680"/>
            <a:ext cx="1508400" cy="328680"/>
          </a:xfrm>
          <a:prstGeom prst="rect">
            <a:avLst/>
          </a:prstGeom>
          <a:solidFill>
            <a:srgbClr val="f4eaea"/>
          </a:solidFill>
          <a:ln w="2032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TextBox 25"/>
          <p:cNvSpPr/>
          <p:nvPr/>
        </p:nvSpPr>
        <p:spPr>
          <a:xfrm>
            <a:off x="987480" y="5541120"/>
            <a:ext cx="13622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80" spc="-1" strike="noStrike">
                <a:solidFill>
                  <a:srgbClr val="a83b3b"/>
                </a:solidFill>
                <a:latin typeface="Noto Sans CJK SC"/>
              </a:rPr>
              <a:t>Detection 2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26"/>
          <p:cNvSpPr/>
          <p:nvPr/>
        </p:nvSpPr>
        <p:spPr>
          <a:xfrm>
            <a:off x="987480" y="570564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measurement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Rectangle 27"/>
          <p:cNvSpPr/>
          <p:nvPr/>
        </p:nvSpPr>
        <p:spPr>
          <a:xfrm>
            <a:off x="914400" y="5870520"/>
            <a:ext cx="1508400" cy="328680"/>
          </a:xfrm>
          <a:prstGeom prst="rect">
            <a:avLst/>
          </a:prstGeom>
          <a:solidFill>
            <a:srgbClr val="f4eaea"/>
          </a:solidFill>
          <a:ln w="2032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3" name="TextBox 28"/>
          <p:cNvSpPr/>
          <p:nvPr/>
        </p:nvSpPr>
        <p:spPr>
          <a:xfrm>
            <a:off x="987480" y="5970960"/>
            <a:ext cx="13622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80" spc="-1" strike="noStrike">
                <a:solidFill>
                  <a:srgbClr val="a83b3b"/>
                </a:solidFill>
                <a:latin typeface="Noto Sans CJK SC"/>
              </a:rPr>
              <a:t>Detection 3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Box 29"/>
          <p:cNvSpPr/>
          <p:nvPr/>
        </p:nvSpPr>
        <p:spPr>
          <a:xfrm>
            <a:off x="987480" y="6135480"/>
            <a:ext cx="1362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measurement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Rectangle 30"/>
          <p:cNvSpPr/>
          <p:nvPr/>
        </p:nvSpPr>
        <p:spPr>
          <a:xfrm>
            <a:off x="3246120" y="3310200"/>
            <a:ext cx="1645560" cy="840960"/>
          </a:xfrm>
          <a:prstGeom prst="rect">
            <a:avLst/>
          </a:prstGeom>
          <a:solidFill>
            <a:srgbClr val="eaf2f2"/>
          </a:solidFill>
          <a:ln w="2032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6" name="TextBox 31"/>
          <p:cNvSpPr/>
          <p:nvPr/>
        </p:nvSpPr>
        <p:spPr>
          <a:xfrm>
            <a:off x="3319200" y="3410640"/>
            <a:ext cx="14994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28777c"/>
                </a:solidFill>
                <a:latin typeface="Noto Sans CJK SC"/>
              </a:rPr>
              <a:t>马氏门限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32"/>
          <p:cNvSpPr/>
          <p:nvPr/>
        </p:nvSpPr>
        <p:spPr>
          <a:xfrm>
            <a:off x="3319200" y="3730680"/>
            <a:ext cx="14994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排除不可能候选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Rectangle 33"/>
          <p:cNvSpPr/>
          <p:nvPr/>
        </p:nvSpPr>
        <p:spPr>
          <a:xfrm>
            <a:off x="5349240" y="3310200"/>
            <a:ext cx="1737000" cy="840960"/>
          </a:xfrm>
          <a:prstGeom prst="rect">
            <a:avLst/>
          </a:prstGeom>
          <a:solidFill>
            <a:srgbClr val="f5f0e6"/>
          </a:solidFill>
          <a:ln w="2032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TextBox 34"/>
          <p:cNvSpPr/>
          <p:nvPr/>
        </p:nvSpPr>
        <p:spPr>
          <a:xfrm>
            <a:off x="5422320" y="3410640"/>
            <a:ext cx="159084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a97422"/>
                </a:solidFill>
                <a:latin typeface="Noto Sans CJK SC"/>
              </a:rPr>
              <a:t>代价矩阵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35"/>
          <p:cNvSpPr/>
          <p:nvPr/>
        </p:nvSpPr>
        <p:spPr>
          <a:xfrm>
            <a:off x="5422320" y="3730680"/>
            <a:ext cx="1590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运动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类别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时间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Rectangle 36"/>
          <p:cNvSpPr/>
          <p:nvPr/>
        </p:nvSpPr>
        <p:spPr>
          <a:xfrm>
            <a:off x="7589520" y="3310200"/>
            <a:ext cx="1874160" cy="84096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2" name="TextBox 37"/>
          <p:cNvSpPr/>
          <p:nvPr/>
        </p:nvSpPr>
        <p:spPr>
          <a:xfrm>
            <a:off x="7662600" y="3410640"/>
            <a:ext cx="17280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315b82"/>
                </a:solidFill>
                <a:latin typeface="Noto Sans CJK SC"/>
              </a:rPr>
              <a:t>GNN / Hungarian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38"/>
          <p:cNvSpPr/>
          <p:nvPr/>
        </p:nvSpPr>
        <p:spPr>
          <a:xfrm>
            <a:off x="7662600" y="3730680"/>
            <a:ext cx="17280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默认硬关联主线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ectangle 39"/>
          <p:cNvSpPr/>
          <p:nvPr/>
        </p:nvSpPr>
        <p:spPr>
          <a:xfrm>
            <a:off x="9921240" y="3200400"/>
            <a:ext cx="1599840" cy="105120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TextBox 40"/>
          <p:cNvSpPr/>
          <p:nvPr/>
        </p:nvSpPr>
        <p:spPr>
          <a:xfrm>
            <a:off x="9994320" y="3300840"/>
            <a:ext cx="14536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477358"/>
                </a:solidFill>
                <a:latin typeface="Noto Sans CJK SC"/>
              </a:rPr>
              <a:t>航迹生命周期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41"/>
          <p:cNvSpPr/>
          <p:nvPr/>
        </p:nvSpPr>
        <p:spPr>
          <a:xfrm>
            <a:off x="9994320" y="3620880"/>
            <a:ext cx="1453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tentative → confirmed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engageable → lost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57" name="Connector 42"/>
          <p:cNvCxnSpPr/>
          <p:nvPr/>
        </p:nvCxnSpPr>
        <p:spPr>
          <a:xfrm>
            <a:off x="2468880" y="3657600"/>
            <a:ext cx="713520" cy="36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cxnSp>
        <p:nvCxnSpPr>
          <p:cNvPr id="458" name="Connector 43"/>
          <p:cNvCxnSpPr/>
          <p:nvPr/>
        </p:nvCxnSpPr>
        <p:spPr>
          <a:xfrm flipV="1">
            <a:off x="2468880" y="3913560"/>
            <a:ext cx="713520" cy="139032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cxnSp>
        <p:nvCxnSpPr>
          <p:cNvPr id="459" name="Connector 44"/>
          <p:cNvCxnSpPr/>
          <p:nvPr/>
        </p:nvCxnSpPr>
        <p:spPr>
          <a:xfrm>
            <a:off x="4937760" y="3730680"/>
            <a:ext cx="366120" cy="36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cxnSp>
        <p:nvCxnSpPr>
          <p:cNvPr id="460" name="Connector 45"/>
          <p:cNvCxnSpPr/>
          <p:nvPr/>
        </p:nvCxnSpPr>
        <p:spPr>
          <a:xfrm>
            <a:off x="7132320" y="3730680"/>
            <a:ext cx="411840" cy="36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cxnSp>
        <p:nvCxnSpPr>
          <p:cNvPr id="461" name="Connector 46"/>
          <p:cNvCxnSpPr/>
          <p:nvPr/>
        </p:nvCxnSpPr>
        <p:spPr>
          <a:xfrm>
            <a:off x="9509760" y="3730680"/>
            <a:ext cx="366120" cy="36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sp>
        <p:nvSpPr>
          <p:cNvPr id="462" name="Rectangle 47"/>
          <p:cNvSpPr/>
          <p:nvPr/>
        </p:nvSpPr>
        <p:spPr>
          <a:xfrm>
            <a:off x="3291840" y="4800600"/>
            <a:ext cx="2239920" cy="310680"/>
          </a:xfrm>
          <a:prstGeom prst="rect">
            <a:avLst/>
          </a:prstGeom>
          <a:solidFill>
            <a:srgbClr val="eaf0f5"/>
          </a:solidFill>
          <a:ln>
            <a:solidFill>
              <a:srgbClr val="eaf0f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48"/>
          <p:cNvSpPr/>
          <p:nvPr/>
        </p:nvSpPr>
        <p:spPr>
          <a:xfrm>
            <a:off x="3337560" y="4830480"/>
            <a:ext cx="21484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默认：</a:t>
            </a:r>
            <a:r>
              <a:rPr b="1" lang="en-US" sz="1050" spc="-1" strike="noStrike">
                <a:solidFill>
                  <a:srgbClr val="315b82"/>
                </a:solidFill>
                <a:latin typeface="Noto Sans CJK SC"/>
              </a:rPr>
              <a:t>GNN/Hungarian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Rectangle 49"/>
          <p:cNvSpPr/>
          <p:nvPr/>
        </p:nvSpPr>
        <p:spPr>
          <a:xfrm>
            <a:off x="5760720" y="4800600"/>
            <a:ext cx="150840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5" name="TextBox 50"/>
          <p:cNvSpPr/>
          <p:nvPr/>
        </p:nvSpPr>
        <p:spPr>
          <a:xfrm>
            <a:off x="5806440" y="4830480"/>
            <a:ext cx="14169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升级：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JPDA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ectangle 51"/>
          <p:cNvSpPr/>
          <p:nvPr/>
        </p:nvSpPr>
        <p:spPr>
          <a:xfrm>
            <a:off x="7498080" y="4800600"/>
            <a:ext cx="1691280" cy="310680"/>
          </a:xfrm>
          <a:prstGeom prst="rect">
            <a:avLst/>
          </a:prstGeom>
          <a:solidFill>
            <a:srgbClr val="efecf2"/>
          </a:solidFill>
          <a:ln>
            <a:solidFill>
              <a:srgbClr val="efec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TextBox 52"/>
          <p:cNvSpPr/>
          <p:nvPr/>
        </p:nvSpPr>
        <p:spPr>
          <a:xfrm>
            <a:off x="7543800" y="4830480"/>
            <a:ext cx="15998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62556f"/>
                </a:solidFill>
                <a:latin typeface="Noto Sans CJK SC"/>
              </a:rPr>
              <a:t>研究对照：</a:t>
            </a:r>
            <a:r>
              <a:rPr b="1" lang="en-US" sz="1050" spc="-1" strike="noStrike">
                <a:solidFill>
                  <a:srgbClr val="62556f"/>
                </a:solidFill>
                <a:latin typeface="Noto Sans CJK SC"/>
              </a:rPr>
              <a:t>MHT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Rectangle 53"/>
          <p:cNvSpPr/>
          <p:nvPr/>
        </p:nvSpPr>
        <p:spPr>
          <a:xfrm>
            <a:off x="3657600" y="5532120"/>
            <a:ext cx="5668920" cy="59400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Rectangle 54"/>
          <p:cNvSpPr/>
          <p:nvPr/>
        </p:nvSpPr>
        <p:spPr>
          <a:xfrm>
            <a:off x="3657600" y="5532120"/>
            <a:ext cx="63720" cy="59400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TextBox 55"/>
          <p:cNvSpPr/>
          <p:nvPr/>
        </p:nvSpPr>
        <p:spPr>
          <a:xfrm>
            <a:off x="3822120" y="5669280"/>
            <a:ext cx="53762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强制指标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56"/>
          <p:cNvSpPr/>
          <p:nvPr/>
        </p:nvSpPr>
        <p:spPr>
          <a:xfrm>
            <a:off x="3822120" y="6008040"/>
            <a:ext cx="53762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id_switch_count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track_continuity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duplicate_assignment_count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全程显式记录。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Rectangle 57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3" name="TextBox 58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59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6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D3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集中式资源—目标分配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从一次性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N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对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N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，升级为动态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M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对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N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、带迟滞和角色的滚动计划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0" name="Rectangle 6"/>
          <p:cNvSpPr/>
          <p:nvPr/>
        </p:nvSpPr>
        <p:spPr>
          <a:xfrm>
            <a:off x="594360" y="1508760"/>
            <a:ext cx="1919880" cy="785880"/>
          </a:xfrm>
          <a:prstGeom prst="rect">
            <a:avLst/>
          </a:prstGeom>
          <a:solidFill>
            <a:srgbClr val="f5f0e6"/>
          </a:solidFill>
          <a:ln w="1270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TextBox 7"/>
          <p:cNvSpPr/>
          <p:nvPr/>
        </p:nvSpPr>
        <p:spPr>
          <a:xfrm>
            <a:off x="722520" y="1618560"/>
            <a:ext cx="50256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97422"/>
                </a:solidFill>
                <a:latin typeface="Noto Sans CJK SC"/>
              </a:rPr>
              <a:t>D3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Box 8"/>
          <p:cNvSpPr/>
          <p:nvPr/>
        </p:nvSpPr>
        <p:spPr>
          <a:xfrm>
            <a:off x="1252800" y="1600200"/>
            <a:ext cx="1142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动态分配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9"/>
          <p:cNvSpPr/>
          <p:nvPr/>
        </p:nvSpPr>
        <p:spPr>
          <a:xfrm>
            <a:off x="1252800" y="1892880"/>
            <a:ext cx="1142640" cy="3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96673"/>
                </a:solidFill>
                <a:latin typeface="Noto Sans CJK SC"/>
              </a:rPr>
              <a:t>GlobalTrack → AssignmentPlan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10"/>
          <p:cNvSpPr/>
          <p:nvPr/>
        </p:nvSpPr>
        <p:spPr>
          <a:xfrm>
            <a:off x="2971800" y="1627560"/>
            <a:ext cx="10969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97422"/>
                </a:solidFill>
                <a:latin typeface="Noto Sans CJK SC"/>
              </a:rPr>
              <a:t>代价组成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Rectangle 11"/>
          <p:cNvSpPr/>
          <p:nvPr/>
        </p:nvSpPr>
        <p:spPr>
          <a:xfrm>
            <a:off x="2926080" y="2057400"/>
            <a:ext cx="1691280" cy="310680"/>
          </a:xfrm>
          <a:prstGeom prst="rect">
            <a:avLst/>
          </a:prstGeom>
          <a:solidFill>
            <a:srgbClr val="eaf0f5"/>
          </a:solidFill>
          <a:ln>
            <a:solidFill>
              <a:srgbClr val="eaf0f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6" name="TextBox 12"/>
          <p:cNvSpPr/>
          <p:nvPr/>
        </p:nvSpPr>
        <p:spPr>
          <a:xfrm>
            <a:off x="2971800" y="209484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315b82"/>
                </a:solidFill>
                <a:latin typeface="Noto Sans CJK SC"/>
              </a:rPr>
              <a:t>拦截窗口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Rectangle 13"/>
          <p:cNvSpPr/>
          <p:nvPr/>
        </p:nvSpPr>
        <p:spPr>
          <a:xfrm>
            <a:off x="4892040" y="2057400"/>
            <a:ext cx="169128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TextBox 14"/>
          <p:cNvSpPr/>
          <p:nvPr/>
        </p:nvSpPr>
        <p:spPr>
          <a:xfrm>
            <a:off x="4937760" y="209484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28777c"/>
                </a:solidFill>
                <a:latin typeface="Noto Sans CJK SC"/>
              </a:rPr>
              <a:t>航迹不确定性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Rectangle 15"/>
          <p:cNvSpPr/>
          <p:nvPr/>
        </p:nvSpPr>
        <p:spPr>
          <a:xfrm>
            <a:off x="6858000" y="2057400"/>
            <a:ext cx="1691280" cy="310680"/>
          </a:xfrm>
          <a:prstGeom prst="rect">
            <a:avLst/>
          </a:prstGeom>
          <a:solidFill>
            <a:srgbClr val="f4eaea"/>
          </a:solidFill>
          <a:ln>
            <a:solidFill>
              <a:srgbClr val="f4ea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TextBox 16"/>
          <p:cNvSpPr/>
          <p:nvPr/>
        </p:nvSpPr>
        <p:spPr>
          <a:xfrm>
            <a:off x="6903720" y="209484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a83b3b"/>
                </a:solidFill>
                <a:latin typeface="Noto Sans CJK SC"/>
              </a:rPr>
              <a:t>目标威胁度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ectangle 17"/>
          <p:cNvSpPr/>
          <p:nvPr/>
        </p:nvSpPr>
        <p:spPr>
          <a:xfrm>
            <a:off x="2926080" y="2807280"/>
            <a:ext cx="1691280" cy="310680"/>
          </a:xfrm>
          <a:prstGeom prst="rect">
            <a:avLst/>
          </a:prstGeom>
          <a:solidFill>
            <a:srgbClr val="ebf1ed"/>
          </a:solidFill>
          <a:ln>
            <a:solidFill>
              <a:srgbClr val="ebf1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TextBox 18"/>
          <p:cNvSpPr/>
          <p:nvPr/>
        </p:nvSpPr>
        <p:spPr>
          <a:xfrm>
            <a:off x="2971800" y="284472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477358"/>
                </a:solidFill>
                <a:latin typeface="Noto Sans CJK SC"/>
              </a:rPr>
              <a:t>资源状态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Rectangle 19"/>
          <p:cNvSpPr/>
          <p:nvPr/>
        </p:nvSpPr>
        <p:spPr>
          <a:xfrm>
            <a:off x="4892040" y="2807280"/>
            <a:ext cx="1691280" cy="310680"/>
          </a:xfrm>
          <a:prstGeom prst="rect">
            <a:avLst/>
          </a:prstGeom>
          <a:solidFill>
            <a:srgbClr val="efecf2"/>
          </a:solidFill>
          <a:ln>
            <a:solidFill>
              <a:srgbClr val="efec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4" name="TextBox 20"/>
          <p:cNvSpPr/>
          <p:nvPr/>
        </p:nvSpPr>
        <p:spPr>
          <a:xfrm>
            <a:off x="4937760" y="284472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62556f"/>
                </a:solidFill>
                <a:latin typeface="Noto Sans CJK SC"/>
              </a:rPr>
              <a:t>视场确认难度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ectangle 21"/>
          <p:cNvSpPr/>
          <p:nvPr/>
        </p:nvSpPr>
        <p:spPr>
          <a:xfrm>
            <a:off x="6858000" y="2807280"/>
            <a:ext cx="1691280" cy="310680"/>
          </a:xfrm>
          <a:prstGeom prst="rect">
            <a:avLst/>
          </a:prstGeom>
          <a:solidFill>
            <a:srgbClr val="f5f0e6"/>
          </a:solidFill>
          <a:ln>
            <a:solidFill>
              <a:srgbClr val="f5f0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22"/>
          <p:cNvSpPr/>
          <p:nvPr/>
        </p:nvSpPr>
        <p:spPr>
          <a:xfrm>
            <a:off x="6903720" y="284472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a97422"/>
                </a:solidFill>
                <a:latin typeface="Noto Sans CJK SC"/>
              </a:rPr>
              <a:t>资源冲突风险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ectangle 23"/>
          <p:cNvSpPr/>
          <p:nvPr/>
        </p:nvSpPr>
        <p:spPr>
          <a:xfrm>
            <a:off x="4251960" y="3703320"/>
            <a:ext cx="2422800" cy="1051200"/>
          </a:xfrm>
          <a:prstGeom prst="rect">
            <a:avLst/>
          </a:prstGeom>
          <a:solidFill>
            <a:srgbClr val="f5f0e6"/>
          </a:solidFill>
          <a:ln w="2032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8" name="TextBox 24"/>
          <p:cNvSpPr/>
          <p:nvPr/>
        </p:nvSpPr>
        <p:spPr>
          <a:xfrm>
            <a:off x="4325040" y="3803760"/>
            <a:ext cx="227664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a97422"/>
                </a:solidFill>
                <a:latin typeface="Noto Sans CJK SC"/>
              </a:rPr>
              <a:t>Demand-slot Hungarian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25"/>
          <p:cNvSpPr/>
          <p:nvPr/>
        </p:nvSpPr>
        <p:spPr>
          <a:xfrm>
            <a:off x="4325040" y="4123800"/>
            <a:ext cx="227664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按目标需求复制任务槽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支持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M ≠ 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00" name="Connector 26"/>
          <p:cNvCxnSpPr/>
          <p:nvPr/>
        </p:nvCxnSpPr>
        <p:spPr>
          <a:xfrm>
            <a:off x="6766560" y="4224240"/>
            <a:ext cx="86904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sp>
        <p:nvSpPr>
          <p:cNvPr id="501" name="Rectangle 27"/>
          <p:cNvSpPr/>
          <p:nvPr/>
        </p:nvSpPr>
        <p:spPr>
          <a:xfrm>
            <a:off x="7680960" y="3703320"/>
            <a:ext cx="2148480" cy="105120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2" name="TextBox 28"/>
          <p:cNvSpPr/>
          <p:nvPr/>
        </p:nvSpPr>
        <p:spPr>
          <a:xfrm>
            <a:off x="7754040" y="3803760"/>
            <a:ext cx="20023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版本化计划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Box 29"/>
          <p:cNvSpPr/>
          <p:nvPr/>
        </p:nvSpPr>
        <p:spPr>
          <a:xfrm>
            <a:off x="7754040" y="4123800"/>
            <a:ext cx="20023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plan id / version / owner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拒绝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stale plan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Rectangle 30"/>
          <p:cNvSpPr/>
          <p:nvPr/>
        </p:nvSpPr>
        <p:spPr>
          <a:xfrm>
            <a:off x="777240" y="2971800"/>
            <a:ext cx="2377080" cy="1416960"/>
          </a:xfrm>
          <a:prstGeom prst="rect">
            <a:avLst/>
          </a:prstGeom>
          <a:solidFill>
            <a:srgbClr val="eaf2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Rectangle 31"/>
          <p:cNvSpPr/>
          <p:nvPr/>
        </p:nvSpPr>
        <p:spPr>
          <a:xfrm>
            <a:off x="777240" y="2971800"/>
            <a:ext cx="63720" cy="1416960"/>
          </a:xfrm>
          <a:prstGeom prst="rect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6" name="TextBox 32"/>
          <p:cNvSpPr/>
          <p:nvPr/>
        </p:nvSpPr>
        <p:spPr>
          <a:xfrm>
            <a:off x="941760" y="3108960"/>
            <a:ext cx="2084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迟滞策略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Box 33"/>
          <p:cNvSpPr/>
          <p:nvPr/>
        </p:nvSpPr>
        <p:spPr>
          <a:xfrm>
            <a:off x="941760" y="3493080"/>
            <a:ext cx="2084400" cy="53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新计划收益必须超过阈值，并满足最小驻留时间，避免目标轻微变化造成频繁换绑。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ectangle 34"/>
          <p:cNvSpPr/>
          <p:nvPr/>
        </p:nvSpPr>
        <p:spPr>
          <a:xfrm>
            <a:off x="777240" y="4709160"/>
            <a:ext cx="2377080" cy="1234080"/>
          </a:xfrm>
          <a:prstGeom prst="rect">
            <a:avLst/>
          </a:prstGeom>
          <a:solidFill>
            <a:srgbClr val="ebf1ed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Rectangle 35"/>
          <p:cNvSpPr/>
          <p:nvPr/>
        </p:nvSpPr>
        <p:spPr>
          <a:xfrm>
            <a:off x="777240" y="4709160"/>
            <a:ext cx="63720" cy="1234080"/>
          </a:xfrm>
          <a:prstGeom prst="rect">
            <a:avLst/>
          </a:prstGeom>
          <a:solidFill>
            <a:srgbClr val="4773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0" name="TextBox 36"/>
          <p:cNvSpPr/>
          <p:nvPr/>
        </p:nvSpPr>
        <p:spPr>
          <a:xfrm>
            <a:off x="941760" y="4846320"/>
            <a:ext cx="2084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角色保持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Box 37"/>
          <p:cNvSpPr/>
          <p:nvPr/>
        </p:nvSpPr>
        <p:spPr>
          <a:xfrm>
            <a:off x="941760" y="5230440"/>
            <a:ext cx="2084400" cy="53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primary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健康时保持原角色，仅在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reserve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软失败时局部重解，减少联盟抖动。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Rectangle 38"/>
          <p:cNvSpPr/>
          <p:nvPr/>
        </p:nvSpPr>
        <p:spPr>
          <a:xfrm>
            <a:off x="7543800" y="5166360"/>
            <a:ext cx="3428640" cy="68544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Rectangle 39"/>
          <p:cNvSpPr/>
          <p:nvPr/>
        </p:nvSpPr>
        <p:spPr>
          <a:xfrm>
            <a:off x="7543800" y="5166360"/>
            <a:ext cx="63720" cy="68544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TextBox 40"/>
          <p:cNvSpPr/>
          <p:nvPr/>
        </p:nvSpPr>
        <p:spPr>
          <a:xfrm>
            <a:off x="7708320" y="5303520"/>
            <a:ext cx="3135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输出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41"/>
          <p:cNvSpPr/>
          <p:nvPr/>
        </p:nvSpPr>
        <p:spPr>
          <a:xfrm>
            <a:off x="7708320" y="5687640"/>
            <a:ext cx="31359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主资源、备份资源、波次、时间窗、联盟版本和人工授权状态。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Rectangle 42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7" name="TextBox 43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Box 44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0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高威胁目标的 </a:t>
            </a: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M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对 </a:t>
            </a: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N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联盟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默认研究方案：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2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个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primary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同批接近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+ 1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个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reserve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待命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Rectangle 6"/>
          <p:cNvSpPr/>
          <p:nvPr/>
        </p:nvSpPr>
        <p:spPr>
          <a:xfrm>
            <a:off x="4800600" y="1600200"/>
            <a:ext cx="2559960" cy="822600"/>
          </a:xfrm>
          <a:prstGeom prst="rect">
            <a:avLst/>
          </a:prstGeom>
          <a:solidFill>
            <a:srgbClr val="f4eaea"/>
          </a:solidFill>
          <a:ln w="2032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5" name="TextBox 7"/>
          <p:cNvSpPr/>
          <p:nvPr/>
        </p:nvSpPr>
        <p:spPr>
          <a:xfrm>
            <a:off x="4873680" y="1700640"/>
            <a:ext cx="24138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a83b3b"/>
                </a:solidFill>
                <a:latin typeface="Noto Sans CJK SC"/>
              </a:rPr>
              <a:t>高威胁目标 </a:t>
            </a:r>
            <a:r>
              <a:rPr b="1" lang="en-US" sz="1400" spc="-1" strike="noStrike">
                <a:solidFill>
                  <a:srgbClr val="a83b3b"/>
                </a:solidFill>
                <a:latin typeface="Noto Sans CJK SC"/>
              </a:rPr>
              <a:t>T001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8"/>
          <p:cNvSpPr/>
          <p:nvPr/>
        </p:nvSpPr>
        <p:spPr>
          <a:xfrm>
            <a:off x="4873680" y="2020680"/>
            <a:ext cx="24138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required resource count = 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Rectangle 9"/>
          <p:cNvSpPr/>
          <p:nvPr/>
        </p:nvSpPr>
        <p:spPr>
          <a:xfrm>
            <a:off x="1005840" y="3063240"/>
            <a:ext cx="2057040" cy="91404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8" name="TextBox 10"/>
          <p:cNvSpPr/>
          <p:nvPr/>
        </p:nvSpPr>
        <p:spPr>
          <a:xfrm>
            <a:off x="1078920" y="3163680"/>
            <a:ext cx="19108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77358"/>
                </a:solidFill>
                <a:latin typeface="Noto Sans CJK SC"/>
              </a:rPr>
              <a:t>Primary 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11"/>
          <p:cNvSpPr/>
          <p:nvPr/>
        </p:nvSpPr>
        <p:spPr>
          <a:xfrm>
            <a:off x="1078920" y="3483720"/>
            <a:ext cx="1910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第一波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独立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PN/PNG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状态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Rectangle 12"/>
          <p:cNvSpPr/>
          <p:nvPr/>
        </p:nvSpPr>
        <p:spPr>
          <a:xfrm>
            <a:off x="3703320" y="3063240"/>
            <a:ext cx="2057040" cy="914040"/>
          </a:xfrm>
          <a:prstGeom prst="rect">
            <a:avLst/>
          </a:prstGeom>
          <a:solidFill>
            <a:srgbClr val="ebf1ed"/>
          </a:solidFill>
          <a:ln w="2032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TextBox 13"/>
          <p:cNvSpPr/>
          <p:nvPr/>
        </p:nvSpPr>
        <p:spPr>
          <a:xfrm>
            <a:off x="3776400" y="3163680"/>
            <a:ext cx="19108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77358"/>
                </a:solidFill>
                <a:latin typeface="Noto Sans CJK SC"/>
              </a:rPr>
              <a:t>Primary 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14"/>
          <p:cNvSpPr/>
          <p:nvPr/>
        </p:nvSpPr>
        <p:spPr>
          <a:xfrm>
            <a:off x="3776400" y="3483720"/>
            <a:ext cx="1910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第一波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独立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PN/PNG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状态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Rectangle 15"/>
          <p:cNvSpPr/>
          <p:nvPr/>
        </p:nvSpPr>
        <p:spPr>
          <a:xfrm>
            <a:off x="6400800" y="3063240"/>
            <a:ext cx="2057040" cy="914040"/>
          </a:xfrm>
          <a:prstGeom prst="rect">
            <a:avLst/>
          </a:prstGeom>
          <a:solidFill>
            <a:srgbClr val="f5f0e6"/>
          </a:solidFill>
          <a:ln w="2032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TextBox 16"/>
          <p:cNvSpPr/>
          <p:nvPr/>
        </p:nvSpPr>
        <p:spPr>
          <a:xfrm>
            <a:off x="6473880" y="3163680"/>
            <a:ext cx="19108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a97422"/>
                </a:solidFill>
                <a:latin typeface="Noto Sans CJK SC"/>
              </a:rPr>
              <a:t>Reserve 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Box 17"/>
          <p:cNvSpPr/>
          <p:nvPr/>
        </p:nvSpPr>
        <p:spPr>
          <a:xfrm>
            <a:off x="6473880" y="3483720"/>
            <a:ext cx="1910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第二波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补位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默认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standby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Rectangle 18"/>
          <p:cNvSpPr/>
          <p:nvPr/>
        </p:nvSpPr>
        <p:spPr>
          <a:xfrm>
            <a:off x="9144000" y="3063240"/>
            <a:ext cx="1965600" cy="91404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7" name="TextBox 19"/>
          <p:cNvSpPr/>
          <p:nvPr/>
        </p:nvSpPr>
        <p:spPr>
          <a:xfrm>
            <a:off x="9217080" y="3163680"/>
            <a:ext cx="181944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普通目标 </a:t>
            </a:r>
            <a:r>
              <a:rPr b="1" lang="en-US" sz="1400" spc="-1" strike="noStrike">
                <a:solidFill>
                  <a:srgbClr val="315b82"/>
                </a:solidFill>
                <a:latin typeface="Noto Sans CJK SC"/>
              </a:rPr>
              <a:t>T002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20"/>
          <p:cNvSpPr/>
          <p:nvPr/>
        </p:nvSpPr>
        <p:spPr>
          <a:xfrm>
            <a:off x="9217080" y="3483720"/>
            <a:ext cx="1819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单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primary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独立拦截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39" name="Connector 21"/>
          <p:cNvCxnSpPr/>
          <p:nvPr/>
        </p:nvCxnSpPr>
        <p:spPr>
          <a:xfrm flipV="1">
            <a:off x="2011680" y="2468880"/>
            <a:ext cx="4069440" cy="530640"/>
          </a:xfrm>
          <a:prstGeom prst="straightConnector1">
            <a:avLst/>
          </a:prstGeom>
          <a:ln w="15875">
            <a:solidFill>
              <a:srgbClr val="596673"/>
            </a:solidFill>
            <a:round/>
          </a:ln>
        </p:spPr>
      </p:cxnSp>
      <p:cxnSp>
        <p:nvCxnSpPr>
          <p:cNvPr id="540" name="Connector 22"/>
          <p:cNvCxnSpPr/>
          <p:nvPr/>
        </p:nvCxnSpPr>
        <p:spPr>
          <a:xfrm flipV="1">
            <a:off x="4709160" y="2468880"/>
            <a:ext cx="1371960" cy="530640"/>
          </a:xfrm>
          <a:prstGeom prst="straightConnector1">
            <a:avLst/>
          </a:prstGeom>
          <a:ln w="15875">
            <a:solidFill>
              <a:srgbClr val="596673"/>
            </a:solidFill>
            <a:round/>
          </a:ln>
        </p:spPr>
      </p:cxnSp>
      <p:cxnSp>
        <p:nvCxnSpPr>
          <p:cNvPr id="541" name="Connector 23"/>
          <p:cNvCxnSpPr/>
          <p:nvPr/>
        </p:nvCxnSpPr>
        <p:spPr>
          <a:xfrm flipH="1" flipV="1">
            <a:off x="6080760" y="2468880"/>
            <a:ext cx="1326240" cy="530640"/>
          </a:xfrm>
          <a:prstGeom prst="straightConnector1">
            <a:avLst/>
          </a:prstGeom>
          <a:ln w="15875">
            <a:solidFill>
              <a:srgbClr val="596673"/>
            </a:solidFill>
            <a:round/>
          </a:ln>
        </p:spPr>
      </p:cxnSp>
      <p:sp>
        <p:nvSpPr>
          <p:cNvPr id="542" name="Rectangle 24"/>
          <p:cNvSpPr/>
          <p:nvPr/>
        </p:nvSpPr>
        <p:spPr>
          <a:xfrm>
            <a:off x="822960" y="4736520"/>
            <a:ext cx="3337200" cy="1051200"/>
          </a:xfrm>
          <a:prstGeom prst="rect">
            <a:avLst/>
          </a:prstGeom>
          <a:solidFill>
            <a:srgbClr val="efec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3" name="Rectangle 25"/>
          <p:cNvSpPr/>
          <p:nvPr/>
        </p:nvSpPr>
        <p:spPr>
          <a:xfrm>
            <a:off x="822960" y="4736520"/>
            <a:ext cx="63720" cy="1051200"/>
          </a:xfrm>
          <a:prstGeom prst="rect">
            <a:avLst/>
          </a:prstGeom>
          <a:solidFill>
            <a:srgbClr val="62556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TextBox 26"/>
          <p:cNvSpPr/>
          <p:nvPr/>
        </p:nvSpPr>
        <p:spPr>
          <a:xfrm>
            <a:off x="987480" y="4873680"/>
            <a:ext cx="30445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原子激活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Box 27"/>
          <p:cNvSpPr/>
          <p:nvPr/>
        </p:nvSpPr>
        <p:spPr>
          <a:xfrm>
            <a:off x="987480" y="5257800"/>
            <a:ext cx="30445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全部必要成员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ACK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且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lease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有效，联盟才进入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committed / executing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Rectangle 28"/>
          <p:cNvSpPr/>
          <p:nvPr/>
        </p:nvSpPr>
        <p:spPr>
          <a:xfrm>
            <a:off x="4416480" y="4736520"/>
            <a:ext cx="3337200" cy="1051200"/>
          </a:xfrm>
          <a:prstGeom prst="rect">
            <a:avLst/>
          </a:prstGeom>
          <a:solidFill>
            <a:srgbClr val="eaf2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7" name="Rectangle 29"/>
          <p:cNvSpPr/>
          <p:nvPr/>
        </p:nvSpPr>
        <p:spPr>
          <a:xfrm>
            <a:off x="4416480" y="4736520"/>
            <a:ext cx="63720" cy="1051200"/>
          </a:xfrm>
          <a:prstGeom prst="rect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8" name="TextBox 30"/>
          <p:cNvSpPr/>
          <p:nvPr/>
        </p:nvSpPr>
        <p:spPr>
          <a:xfrm>
            <a:off x="4581000" y="4873680"/>
            <a:ext cx="30445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协同定位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31"/>
          <p:cNvSpPr/>
          <p:nvPr/>
        </p:nvSpPr>
        <p:spPr>
          <a:xfrm>
            <a:off x="4581000" y="5257800"/>
            <a:ext cx="30445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多个无人机视角可提供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bearing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bbox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历史和几何质量，但不得重复计算公共信息。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Rectangle 32"/>
          <p:cNvSpPr/>
          <p:nvPr/>
        </p:nvSpPr>
        <p:spPr>
          <a:xfrm>
            <a:off x="8001000" y="4736520"/>
            <a:ext cx="3337200" cy="105120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1" name="Rectangle 33"/>
          <p:cNvSpPr/>
          <p:nvPr/>
        </p:nvSpPr>
        <p:spPr>
          <a:xfrm>
            <a:off x="8001000" y="4736520"/>
            <a:ext cx="63720" cy="105120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2" name="TextBox 34"/>
          <p:cNvSpPr/>
          <p:nvPr/>
        </p:nvSpPr>
        <p:spPr>
          <a:xfrm>
            <a:off x="8165520" y="4873680"/>
            <a:ext cx="30445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安全边界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35"/>
          <p:cNvSpPr/>
          <p:nvPr/>
        </p:nvSpPr>
        <p:spPr>
          <a:xfrm>
            <a:off x="8165520" y="5257800"/>
            <a:ext cx="30445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reserve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未激活不得切换；合法协同多锁不算错误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duplicate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；成员退出需重构。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ectangle 36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5" name="TextBox 37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38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8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D4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分布式协同与降级接管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不是简单“中心掉线后拍卖”，而是有健康判定、接管优先级和原子联盟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Rectangle 6"/>
          <p:cNvSpPr/>
          <p:nvPr/>
        </p:nvSpPr>
        <p:spPr>
          <a:xfrm>
            <a:off x="594360" y="1508760"/>
            <a:ext cx="1919880" cy="785880"/>
          </a:xfrm>
          <a:prstGeom prst="rect">
            <a:avLst/>
          </a:prstGeom>
          <a:solidFill>
            <a:srgbClr val="efecf2"/>
          </a:solidFill>
          <a:ln w="12700">
            <a:solidFill>
              <a:srgbClr val="6255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7"/>
          <p:cNvSpPr/>
          <p:nvPr/>
        </p:nvSpPr>
        <p:spPr>
          <a:xfrm>
            <a:off x="722520" y="1618560"/>
            <a:ext cx="50256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62556f"/>
                </a:solidFill>
                <a:latin typeface="Noto Sans CJK SC"/>
              </a:rPr>
              <a:t>D4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8"/>
          <p:cNvSpPr/>
          <p:nvPr/>
        </p:nvSpPr>
        <p:spPr>
          <a:xfrm>
            <a:off x="1252800" y="1600200"/>
            <a:ext cx="1142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降级协同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9"/>
          <p:cNvSpPr/>
          <p:nvPr/>
        </p:nvSpPr>
        <p:spPr>
          <a:xfrm>
            <a:off x="1252800" y="1892880"/>
            <a:ext cx="11426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中心 → 二级 → </a:t>
            </a:r>
            <a:r>
              <a:rPr b="0" lang="en-US" sz="900" spc="-1" strike="noStrike">
                <a:solidFill>
                  <a:srgbClr val="596673"/>
                </a:solidFill>
                <a:latin typeface="Noto Sans CJK SC"/>
              </a:rPr>
              <a:t>peer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66" name="Connector 10"/>
          <p:cNvCxnSpPr/>
          <p:nvPr/>
        </p:nvCxnSpPr>
        <p:spPr>
          <a:xfrm>
            <a:off x="4297680" y="2331720"/>
            <a:ext cx="475560" cy="36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cxnSp>
        <p:nvCxnSpPr>
          <p:cNvPr id="567" name="Connector 11"/>
          <p:cNvCxnSpPr/>
          <p:nvPr/>
        </p:nvCxnSpPr>
        <p:spPr>
          <a:xfrm>
            <a:off x="6263640" y="2331720"/>
            <a:ext cx="475560" cy="36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cxnSp>
        <p:nvCxnSpPr>
          <p:cNvPr id="568" name="Connector 12"/>
          <p:cNvCxnSpPr/>
          <p:nvPr/>
        </p:nvCxnSpPr>
        <p:spPr>
          <a:xfrm>
            <a:off x="8229600" y="2331720"/>
            <a:ext cx="475560" cy="360"/>
          </a:xfrm>
          <a:prstGeom prst="straightConnector1">
            <a:avLst/>
          </a:prstGeom>
          <a:ln w="15240">
            <a:solidFill>
              <a:srgbClr val="596673"/>
            </a:solidFill>
            <a:round/>
          </a:ln>
        </p:spPr>
      </p:cxnSp>
      <p:sp>
        <p:nvSpPr>
          <p:cNvPr id="569" name="Rectangle 13"/>
          <p:cNvSpPr/>
          <p:nvPr/>
        </p:nvSpPr>
        <p:spPr>
          <a:xfrm>
            <a:off x="2880360" y="1920240"/>
            <a:ext cx="1462680" cy="82260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0" name="TextBox 14"/>
          <p:cNvSpPr/>
          <p:nvPr/>
        </p:nvSpPr>
        <p:spPr>
          <a:xfrm>
            <a:off x="2953440" y="2020680"/>
            <a:ext cx="13165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315b82"/>
                </a:solidFill>
                <a:latin typeface="Noto Sans CJK SC"/>
              </a:rPr>
              <a:t>normal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Box 15"/>
          <p:cNvSpPr/>
          <p:nvPr/>
        </p:nvSpPr>
        <p:spPr>
          <a:xfrm>
            <a:off x="2953440" y="2340720"/>
            <a:ext cx="13165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heartbeat / track / plan timeout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Rectangle 16"/>
          <p:cNvSpPr/>
          <p:nvPr/>
        </p:nvSpPr>
        <p:spPr>
          <a:xfrm>
            <a:off x="4846320" y="1920240"/>
            <a:ext cx="1462680" cy="822600"/>
          </a:xfrm>
          <a:prstGeom prst="rect">
            <a:avLst/>
          </a:prstGeom>
          <a:solidFill>
            <a:srgbClr val="f5f0e6"/>
          </a:solidFill>
          <a:ln w="2032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3" name="TextBox 17"/>
          <p:cNvSpPr/>
          <p:nvPr/>
        </p:nvSpPr>
        <p:spPr>
          <a:xfrm>
            <a:off x="4919400" y="2020680"/>
            <a:ext cx="13165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a97422"/>
                </a:solidFill>
                <a:latin typeface="Noto Sans CJK SC"/>
              </a:rPr>
              <a:t>degraded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Box 18"/>
          <p:cNvSpPr/>
          <p:nvPr/>
        </p:nvSpPr>
        <p:spPr>
          <a:xfrm>
            <a:off x="4919400" y="2340720"/>
            <a:ext cx="13165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heartbeat / track / plan timeout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Rectangle 19"/>
          <p:cNvSpPr/>
          <p:nvPr/>
        </p:nvSpPr>
        <p:spPr>
          <a:xfrm>
            <a:off x="6812280" y="1920240"/>
            <a:ext cx="1462680" cy="822600"/>
          </a:xfrm>
          <a:prstGeom prst="rect">
            <a:avLst/>
          </a:prstGeom>
          <a:solidFill>
            <a:srgbClr val="f4eaea"/>
          </a:solidFill>
          <a:ln w="2032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6" name="TextBox 20"/>
          <p:cNvSpPr/>
          <p:nvPr/>
        </p:nvSpPr>
        <p:spPr>
          <a:xfrm>
            <a:off x="6885360" y="2020680"/>
            <a:ext cx="13165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a83b3b"/>
                </a:solidFill>
                <a:latin typeface="Noto Sans CJK SC"/>
              </a:rPr>
              <a:t>suspect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21"/>
          <p:cNvSpPr/>
          <p:nvPr/>
        </p:nvSpPr>
        <p:spPr>
          <a:xfrm>
            <a:off x="6885360" y="2340720"/>
            <a:ext cx="13165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heartbeat / track / plan timeout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Rectangle 22"/>
          <p:cNvSpPr/>
          <p:nvPr/>
        </p:nvSpPr>
        <p:spPr>
          <a:xfrm>
            <a:off x="8778240" y="1920240"/>
            <a:ext cx="1462680" cy="822600"/>
          </a:xfrm>
          <a:prstGeom prst="rect">
            <a:avLst/>
          </a:prstGeom>
          <a:solidFill>
            <a:srgbClr val="e9ecef"/>
          </a:solidFill>
          <a:ln w="20320">
            <a:solidFill>
              <a:srgbClr val="26374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23"/>
          <p:cNvSpPr/>
          <p:nvPr/>
        </p:nvSpPr>
        <p:spPr>
          <a:xfrm>
            <a:off x="8851320" y="2020680"/>
            <a:ext cx="13165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63746"/>
                </a:solidFill>
                <a:latin typeface="Noto Sans CJK SC"/>
              </a:rPr>
              <a:t>failed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24"/>
          <p:cNvSpPr/>
          <p:nvPr/>
        </p:nvSpPr>
        <p:spPr>
          <a:xfrm>
            <a:off x="8851320" y="2340720"/>
            <a:ext cx="13165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heartbeat / track / plan timeout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25"/>
          <p:cNvSpPr/>
          <p:nvPr/>
        </p:nvSpPr>
        <p:spPr>
          <a:xfrm>
            <a:off x="4800600" y="2944440"/>
            <a:ext cx="25599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2556f"/>
                </a:solidFill>
                <a:latin typeface="Noto Sans CJK SC"/>
              </a:rPr>
              <a:t>C2Health </a:t>
            </a:r>
            <a:r>
              <a:rPr b="1" lang="zh-CN" sz="1300" spc="-1" strike="noStrike">
                <a:solidFill>
                  <a:srgbClr val="62556f"/>
                </a:solidFill>
                <a:latin typeface="Noto Sans CJK SC"/>
              </a:rPr>
              <a:t>状态机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ectangle 26"/>
          <p:cNvSpPr/>
          <p:nvPr/>
        </p:nvSpPr>
        <p:spPr>
          <a:xfrm>
            <a:off x="914400" y="3749040"/>
            <a:ext cx="2331360" cy="914040"/>
          </a:xfrm>
          <a:prstGeom prst="rect">
            <a:avLst/>
          </a:prstGeom>
          <a:solidFill>
            <a:srgbClr val="eaf0f5"/>
          </a:solidFill>
          <a:ln w="1270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TextBox 27"/>
          <p:cNvSpPr/>
          <p:nvPr/>
        </p:nvSpPr>
        <p:spPr>
          <a:xfrm>
            <a:off x="1024200" y="3886200"/>
            <a:ext cx="36540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15b82"/>
                </a:solidFill>
                <a:latin typeface="Noto Sans CJK SC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28"/>
          <p:cNvSpPr/>
          <p:nvPr/>
        </p:nvSpPr>
        <p:spPr>
          <a:xfrm>
            <a:off x="1444680" y="3913560"/>
            <a:ext cx="1599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1c2733"/>
                </a:solidFill>
                <a:latin typeface="Noto Sans CJK SC"/>
              </a:rPr>
              <a:t>地面备份中心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Rectangle 29"/>
          <p:cNvSpPr/>
          <p:nvPr/>
        </p:nvSpPr>
        <p:spPr>
          <a:xfrm>
            <a:off x="3657600" y="3749040"/>
            <a:ext cx="2331360" cy="914040"/>
          </a:xfrm>
          <a:prstGeom prst="rect">
            <a:avLst/>
          </a:prstGeom>
          <a:solidFill>
            <a:srgbClr val="eaf2f2"/>
          </a:solidFill>
          <a:ln w="1270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6" name="TextBox 30"/>
          <p:cNvSpPr/>
          <p:nvPr/>
        </p:nvSpPr>
        <p:spPr>
          <a:xfrm>
            <a:off x="3767400" y="3886200"/>
            <a:ext cx="36540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8777c"/>
                </a:solidFill>
                <a:latin typeface="Noto Sans CJK SC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31"/>
          <p:cNvSpPr/>
          <p:nvPr/>
        </p:nvSpPr>
        <p:spPr>
          <a:xfrm>
            <a:off x="4187880" y="3913560"/>
            <a:ext cx="1599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1c2733"/>
                </a:solidFill>
                <a:latin typeface="Noto Sans CJK SC"/>
              </a:rPr>
              <a:t>高空侦察节点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Rectangle 32"/>
          <p:cNvSpPr/>
          <p:nvPr/>
        </p:nvSpPr>
        <p:spPr>
          <a:xfrm>
            <a:off x="6400800" y="3749040"/>
            <a:ext cx="2331360" cy="914040"/>
          </a:xfrm>
          <a:prstGeom prst="rect">
            <a:avLst/>
          </a:prstGeom>
          <a:solidFill>
            <a:srgbClr val="ebf1ed"/>
          </a:solidFill>
          <a:ln w="1270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TextBox 33"/>
          <p:cNvSpPr/>
          <p:nvPr/>
        </p:nvSpPr>
        <p:spPr>
          <a:xfrm>
            <a:off x="6510600" y="3886200"/>
            <a:ext cx="36540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477358"/>
                </a:solidFill>
                <a:latin typeface="Noto Sans CJK SC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34"/>
          <p:cNvSpPr/>
          <p:nvPr/>
        </p:nvSpPr>
        <p:spPr>
          <a:xfrm>
            <a:off x="6931080" y="3913560"/>
            <a:ext cx="1599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1c2733"/>
                </a:solidFill>
                <a:latin typeface="Noto Sans CJK SC"/>
              </a:rPr>
              <a:t>资源集群代表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Rectangle 35"/>
          <p:cNvSpPr/>
          <p:nvPr/>
        </p:nvSpPr>
        <p:spPr>
          <a:xfrm>
            <a:off x="9144000" y="3749040"/>
            <a:ext cx="2331360" cy="914040"/>
          </a:xfrm>
          <a:prstGeom prst="rect">
            <a:avLst/>
          </a:prstGeom>
          <a:solidFill>
            <a:srgbClr val="f5f0e6"/>
          </a:solidFill>
          <a:ln w="1270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2" name="TextBox 36"/>
          <p:cNvSpPr/>
          <p:nvPr/>
        </p:nvSpPr>
        <p:spPr>
          <a:xfrm>
            <a:off x="9253800" y="3886200"/>
            <a:ext cx="36540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a97422"/>
                </a:solidFill>
                <a:latin typeface="Noto Sans CJK SC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37"/>
          <p:cNvSpPr/>
          <p:nvPr/>
        </p:nvSpPr>
        <p:spPr>
          <a:xfrm>
            <a:off x="9674280" y="3913560"/>
            <a:ext cx="1599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1c2733"/>
                </a:solidFill>
                <a:latin typeface="Noto Sans CJK SC"/>
              </a:rPr>
              <a:t>拍卖</a:t>
            </a:r>
            <a:r>
              <a:rPr b="1" lang="en-US" sz="1200" spc="-1" strike="noStrike">
                <a:solidFill>
                  <a:srgbClr val="1c2733"/>
                </a:solidFill>
                <a:latin typeface="Noto Sans CJK SC"/>
              </a:rPr>
              <a:t>/CBBA </a:t>
            </a:r>
            <a:r>
              <a:rPr b="1" lang="zh-CN" sz="1200" spc="-1" strike="noStrike">
                <a:solidFill>
                  <a:srgbClr val="1c2733"/>
                </a:solidFill>
                <a:latin typeface="Noto Sans CJK SC"/>
              </a:rPr>
              <a:t>保底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ectangle 38"/>
          <p:cNvSpPr/>
          <p:nvPr/>
        </p:nvSpPr>
        <p:spPr>
          <a:xfrm>
            <a:off x="868680" y="5230440"/>
            <a:ext cx="4983120" cy="749520"/>
          </a:xfrm>
          <a:prstGeom prst="rect">
            <a:avLst/>
          </a:prstGeom>
          <a:solidFill>
            <a:srgbClr val="f5f0e6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5" name="Rectangle 39"/>
          <p:cNvSpPr/>
          <p:nvPr/>
        </p:nvSpPr>
        <p:spPr>
          <a:xfrm>
            <a:off x="868680" y="5230440"/>
            <a:ext cx="63720" cy="749520"/>
          </a:xfrm>
          <a:prstGeom prst="rect">
            <a:avLst/>
          </a:prstGeom>
          <a:solidFill>
            <a:srgbClr val="a974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6" name="TextBox 40"/>
          <p:cNvSpPr/>
          <p:nvPr/>
        </p:nvSpPr>
        <p:spPr>
          <a:xfrm>
            <a:off x="1033200" y="5367600"/>
            <a:ext cx="46904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主动降级输入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Box 41"/>
          <p:cNvSpPr/>
          <p:nvPr/>
        </p:nvSpPr>
        <p:spPr>
          <a:xfrm>
            <a:off x="1033200" y="5751720"/>
            <a:ext cx="46904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D1/D2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不确定性、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D3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计划新鲜度、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D5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视觉一致性、通信与二级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readiness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Rectangle 42"/>
          <p:cNvSpPr/>
          <p:nvPr/>
        </p:nvSpPr>
        <p:spPr>
          <a:xfrm>
            <a:off x="6172200" y="5230440"/>
            <a:ext cx="5074560" cy="749520"/>
          </a:xfrm>
          <a:prstGeom prst="rect">
            <a:avLst/>
          </a:prstGeom>
          <a:solidFill>
            <a:srgbClr val="eaf2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9" name="Rectangle 43"/>
          <p:cNvSpPr/>
          <p:nvPr/>
        </p:nvSpPr>
        <p:spPr>
          <a:xfrm>
            <a:off x="6172200" y="5230440"/>
            <a:ext cx="63720" cy="749520"/>
          </a:xfrm>
          <a:prstGeom prst="rect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TextBox 44"/>
          <p:cNvSpPr/>
          <p:nvPr/>
        </p:nvSpPr>
        <p:spPr>
          <a:xfrm>
            <a:off x="6336720" y="5367600"/>
            <a:ext cx="478188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恢复原则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45"/>
          <p:cNvSpPr/>
          <p:nvPr/>
        </p:nvSpPr>
        <p:spPr>
          <a:xfrm>
            <a:off x="6336720" y="5751720"/>
            <a:ext cx="47818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中心恢复后先双轨合并和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digest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校验，确认稳定后再恢复主控。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Rectangle 46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3" name="TextBox 47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48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D5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终端视觉配准与身份认证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相机看到的最近目标，不一定是中心分配的目标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0" name="Rectangle 6"/>
          <p:cNvSpPr/>
          <p:nvPr/>
        </p:nvSpPr>
        <p:spPr>
          <a:xfrm>
            <a:off x="594360" y="1508760"/>
            <a:ext cx="1919880" cy="785880"/>
          </a:xfrm>
          <a:prstGeom prst="rect">
            <a:avLst/>
          </a:prstGeom>
          <a:solidFill>
            <a:srgbClr val="f4eaea"/>
          </a:solidFill>
          <a:ln w="1270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1" name="TextBox 7"/>
          <p:cNvSpPr/>
          <p:nvPr/>
        </p:nvSpPr>
        <p:spPr>
          <a:xfrm>
            <a:off x="722520" y="1618560"/>
            <a:ext cx="50256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83b3b"/>
                </a:solidFill>
                <a:latin typeface="Noto Sans CJK SC"/>
              </a:rPr>
              <a:t>D5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8"/>
          <p:cNvSpPr/>
          <p:nvPr/>
        </p:nvSpPr>
        <p:spPr>
          <a:xfrm>
            <a:off x="1252800" y="1600200"/>
            <a:ext cx="1142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末端配准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9"/>
          <p:cNvSpPr/>
          <p:nvPr/>
        </p:nvSpPr>
        <p:spPr>
          <a:xfrm>
            <a:off x="1252800" y="1892880"/>
            <a:ext cx="1142640" cy="3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96673"/>
                </a:solidFill>
                <a:latin typeface="Noto Sans CJK SC"/>
              </a:rPr>
              <a:t>GlobalTrack → </a:t>
            </a: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图像 → 锁定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ectangle 10"/>
          <p:cNvSpPr/>
          <p:nvPr/>
        </p:nvSpPr>
        <p:spPr>
          <a:xfrm>
            <a:off x="777240" y="3063240"/>
            <a:ext cx="2011320" cy="959760"/>
          </a:xfrm>
          <a:prstGeom prst="rect">
            <a:avLst/>
          </a:prstGeom>
          <a:solidFill>
            <a:srgbClr val="eaf0f5"/>
          </a:solidFill>
          <a:ln w="2032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5" name="TextBox 11"/>
          <p:cNvSpPr/>
          <p:nvPr/>
        </p:nvSpPr>
        <p:spPr>
          <a:xfrm>
            <a:off x="850320" y="3163680"/>
            <a:ext cx="186516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中心 </a:t>
            </a:r>
            <a:r>
              <a:rPr b="1" lang="en-US" sz="1400" spc="-1" strike="noStrike">
                <a:solidFill>
                  <a:srgbClr val="315b82"/>
                </a:solidFill>
                <a:latin typeface="Noto Sans CJK SC"/>
              </a:rPr>
              <a:t>GlobalTrack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12"/>
          <p:cNvSpPr/>
          <p:nvPr/>
        </p:nvSpPr>
        <p:spPr>
          <a:xfrm>
            <a:off x="850320" y="3483720"/>
            <a:ext cx="18651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预测位置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协方差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当前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assignment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17" name="Connector 13"/>
          <p:cNvCxnSpPr/>
          <p:nvPr/>
        </p:nvCxnSpPr>
        <p:spPr>
          <a:xfrm>
            <a:off x="2834640" y="3547800"/>
            <a:ext cx="82332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sp>
        <p:nvSpPr>
          <p:cNvPr id="618" name="Rectangle 14"/>
          <p:cNvSpPr/>
          <p:nvPr/>
        </p:nvSpPr>
        <p:spPr>
          <a:xfrm>
            <a:off x="3703320" y="3063240"/>
            <a:ext cx="2102760" cy="959760"/>
          </a:xfrm>
          <a:prstGeom prst="rect">
            <a:avLst/>
          </a:prstGeom>
          <a:solidFill>
            <a:srgbClr val="eaf2f2"/>
          </a:solidFill>
          <a:ln w="2032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9" name="TextBox 15"/>
          <p:cNvSpPr/>
          <p:nvPr/>
        </p:nvSpPr>
        <p:spPr>
          <a:xfrm>
            <a:off x="3776400" y="3163680"/>
            <a:ext cx="19566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28777c"/>
                </a:solidFill>
                <a:latin typeface="Noto Sans CJK SC"/>
              </a:rPr>
              <a:t>相机几何投影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16"/>
          <p:cNvSpPr/>
          <p:nvPr/>
        </p:nvSpPr>
        <p:spPr>
          <a:xfrm>
            <a:off x="3776400" y="3483720"/>
            <a:ext cx="19566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K / R / t / distortion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协方差传播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21" name="Connector 17"/>
          <p:cNvCxnSpPr/>
          <p:nvPr/>
        </p:nvCxnSpPr>
        <p:spPr>
          <a:xfrm>
            <a:off x="5852160" y="3547800"/>
            <a:ext cx="82332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sp>
        <p:nvSpPr>
          <p:cNvPr id="622" name="Rectangle 18"/>
          <p:cNvSpPr/>
          <p:nvPr/>
        </p:nvSpPr>
        <p:spPr>
          <a:xfrm>
            <a:off x="6720840" y="3063240"/>
            <a:ext cx="2148480" cy="959760"/>
          </a:xfrm>
          <a:prstGeom prst="rect">
            <a:avLst/>
          </a:prstGeom>
          <a:solidFill>
            <a:srgbClr val="f5f0e6"/>
          </a:solidFill>
          <a:ln w="2032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3" name="TextBox 19"/>
          <p:cNvSpPr/>
          <p:nvPr/>
        </p:nvSpPr>
        <p:spPr>
          <a:xfrm>
            <a:off x="6793920" y="3163680"/>
            <a:ext cx="20023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a97422"/>
                </a:solidFill>
                <a:latin typeface="Noto Sans CJK SC"/>
              </a:rPr>
              <a:t>局部 </a:t>
            </a:r>
            <a:r>
              <a:rPr b="1" lang="en-US" sz="1400" spc="-1" strike="noStrike">
                <a:solidFill>
                  <a:srgbClr val="a97422"/>
                </a:solidFill>
                <a:latin typeface="Noto Sans CJK SC"/>
              </a:rPr>
              <a:t>MOT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20"/>
          <p:cNvSpPr/>
          <p:nvPr/>
        </p:nvSpPr>
        <p:spPr>
          <a:xfrm>
            <a:off x="6793920" y="3483720"/>
            <a:ext cx="20023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YOLO / ByteTrack / BoT-SORT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LocalVisualTrack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25" name="Connector 21"/>
          <p:cNvCxnSpPr/>
          <p:nvPr/>
        </p:nvCxnSpPr>
        <p:spPr>
          <a:xfrm>
            <a:off x="8915400" y="3547800"/>
            <a:ext cx="64044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sp>
        <p:nvSpPr>
          <p:cNvPr id="626" name="Rectangle 22"/>
          <p:cNvSpPr/>
          <p:nvPr/>
        </p:nvSpPr>
        <p:spPr>
          <a:xfrm>
            <a:off x="9601200" y="3063240"/>
            <a:ext cx="1828440" cy="959760"/>
          </a:xfrm>
          <a:prstGeom prst="rect">
            <a:avLst/>
          </a:prstGeom>
          <a:solidFill>
            <a:srgbClr val="f4eaea"/>
          </a:solidFill>
          <a:ln w="2032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TextBox 23"/>
          <p:cNvSpPr/>
          <p:nvPr/>
        </p:nvSpPr>
        <p:spPr>
          <a:xfrm>
            <a:off x="9674280" y="3163680"/>
            <a:ext cx="1682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a83b3b"/>
                </a:solidFill>
                <a:latin typeface="Noto Sans CJK SC"/>
              </a:rPr>
              <a:t>保守决策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24"/>
          <p:cNvSpPr/>
          <p:nvPr/>
        </p:nvSpPr>
        <p:spPr>
          <a:xfrm>
            <a:off x="9674280" y="3483720"/>
            <a:ext cx="1682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locked / ambiguous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hold / reacquire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Rectangle 25"/>
          <p:cNvSpPr/>
          <p:nvPr/>
        </p:nvSpPr>
        <p:spPr>
          <a:xfrm>
            <a:off x="1051560" y="4617720"/>
            <a:ext cx="3154320" cy="1051200"/>
          </a:xfrm>
          <a:prstGeom prst="rect">
            <a:avLst/>
          </a:prstGeom>
          <a:solidFill>
            <a:srgbClr val="eaf2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0" name="Rectangle 26"/>
          <p:cNvSpPr/>
          <p:nvPr/>
        </p:nvSpPr>
        <p:spPr>
          <a:xfrm>
            <a:off x="1051560" y="4617720"/>
            <a:ext cx="63720" cy="1051200"/>
          </a:xfrm>
          <a:prstGeom prst="rect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1" name="TextBox 27"/>
          <p:cNvSpPr/>
          <p:nvPr/>
        </p:nvSpPr>
        <p:spPr>
          <a:xfrm>
            <a:off x="1216080" y="4754880"/>
            <a:ext cx="28616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匹配代价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28"/>
          <p:cNvSpPr/>
          <p:nvPr/>
        </p:nvSpPr>
        <p:spPr>
          <a:xfrm>
            <a:off x="1216080" y="5139000"/>
            <a:ext cx="28616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像素马氏距离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角速度一致性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时间戳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类别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+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友方冲突。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ectangle 29"/>
          <p:cNvSpPr/>
          <p:nvPr/>
        </p:nvSpPr>
        <p:spPr>
          <a:xfrm>
            <a:off x="4526280" y="4617720"/>
            <a:ext cx="3154320" cy="1051200"/>
          </a:xfrm>
          <a:prstGeom prst="rect">
            <a:avLst/>
          </a:prstGeom>
          <a:solidFill>
            <a:srgbClr val="eaf0f5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4" name="Rectangle 30"/>
          <p:cNvSpPr/>
          <p:nvPr/>
        </p:nvSpPr>
        <p:spPr>
          <a:xfrm>
            <a:off x="4526280" y="4617720"/>
            <a:ext cx="63720" cy="1051200"/>
          </a:xfrm>
          <a:prstGeom prst="rect">
            <a:avLst/>
          </a:prstGeom>
          <a:solidFill>
            <a:srgbClr val="315b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5" name="TextBox 31"/>
          <p:cNvSpPr/>
          <p:nvPr/>
        </p:nvSpPr>
        <p:spPr>
          <a:xfrm>
            <a:off x="4690800" y="4754880"/>
            <a:ext cx="28616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身份原则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TextBox 32"/>
          <p:cNvSpPr/>
          <p:nvPr/>
        </p:nvSpPr>
        <p:spPr>
          <a:xfrm>
            <a:off x="4690800" y="5139000"/>
            <a:ext cx="28616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Remote ID /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签名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视觉标签只做正向确认；未知不等于敌方。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Rectangle 33"/>
          <p:cNvSpPr/>
          <p:nvPr/>
        </p:nvSpPr>
        <p:spPr>
          <a:xfrm>
            <a:off x="8001000" y="4617720"/>
            <a:ext cx="3154320" cy="105120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8" name="Rectangle 34"/>
          <p:cNvSpPr/>
          <p:nvPr/>
        </p:nvSpPr>
        <p:spPr>
          <a:xfrm>
            <a:off x="8001000" y="4617720"/>
            <a:ext cx="63720" cy="105120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9" name="TextBox 35"/>
          <p:cNvSpPr/>
          <p:nvPr/>
        </p:nvSpPr>
        <p:spPr>
          <a:xfrm>
            <a:off x="8165520" y="4754880"/>
            <a:ext cx="28616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系统纪律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Box 36"/>
          <p:cNvSpPr/>
          <p:nvPr/>
        </p:nvSpPr>
        <p:spPr>
          <a:xfrm>
            <a:off x="8165520" y="5139000"/>
            <a:ext cx="28616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D5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不自行换绑或改写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global_track_id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；冲突时上报中心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二级节点。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Rectangle 37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2" name="TextBox 38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39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5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多相机视场重叠时如何关联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无人机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1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看到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1/2/3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，无人机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2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看到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2/3/4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：先局部跟踪，再通过全局几何与时间一致性注册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9" name="Rectangle 6"/>
          <p:cNvSpPr/>
          <p:nvPr/>
        </p:nvSpPr>
        <p:spPr>
          <a:xfrm>
            <a:off x="685800" y="1691640"/>
            <a:ext cx="3977280" cy="324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TextBox 7"/>
          <p:cNvSpPr/>
          <p:nvPr/>
        </p:nvSpPr>
        <p:spPr>
          <a:xfrm>
            <a:off x="914400" y="1874520"/>
            <a:ext cx="20113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相机 </a:t>
            </a:r>
            <a:r>
              <a:rPr b="1" lang="en-US" sz="1400" spc="-1" strike="noStrike">
                <a:solidFill>
                  <a:srgbClr val="315b82"/>
                </a:solidFill>
                <a:latin typeface="Noto Sans CJK SC"/>
              </a:rPr>
              <a:t>A / </a:t>
            </a: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拦截机 </a:t>
            </a:r>
            <a:r>
              <a:rPr b="1" lang="en-US" sz="1400" spc="-1" strike="noStrike">
                <a:solidFill>
                  <a:srgbClr val="315b82"/>
                </a:solidFill>
                <a:latin typeface="Noto Sans CJK SC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Rectangle 8"/>
          <p:cNvSpPr/>
          <p:nvPr/>
        </p:nvSpPr>
        <p:spPr>
          <a:xfrm>
            <a:off x="914400" y="2359080"/>
            <a:ext cx="3474360" cy="2057040"/>
          </a:xfrm>
          <a:prstGeom prst="rect">
            <a:avLst/>
          </a:prstGeom>
          <a:solidFill>
            <a:srgbClr val="f8fafc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Oval 9"/>
          <p:cNvSpPr/>
          <p:nvPr/>
        </p:nvSpPr>
        <p:spPr>
          <a:xfrm>
            <a:off x="1325880" y="2743200"/>
            <a:ext cx="511560" cy="511560"/>
          </a:xfrm>
          <a:prstGeom prst="ellipse">
            <a:avLst/>
          </a:prstGeom>
          <a:solidFill>
            <a:srgbClr val="315b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3" name="TextBox 10"/>
          <p:cNvSpPr/>
          <p:nvPr/>
        </p:nvSpPr>
        <p:spPr>
          <a:xfrm>
            <a:off x="1325880" y="2834640"/>
            <a:ext cx="51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Noto Sans CJK SC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Oval 11"/>
          <p:cNvSpPr/>
          <p:nvPr/>
        </p:nvSpPr>
        <p:spPr>
          <a:xfrm>
            <a:off x="2331720" y="3401640"/>
            <a:ext cx="511560" cy="511560"/>
          </a:xfrm>
          <a:prstGeom prst="ellipse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5" name="TextBox 12"/>
          <p:cNvSpPr/>
          <p:nvPr/>
        </p:nvSpPr>
        <p:spPr>
          <a:xfrm>
            <a:off x="2331720" y="3493080"/>
            <a:ext cx="51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Noto Sans CJK SC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Oval 13"/>
          <p:cNvSpPr/>
          <p:nvPr/>
        </p:nvSpPr>
        <p:spPr>
          <a:xfrm>
            <a:off x="3429000" y="2651760"/>
            <a:ext cx="511560" cy="511560"/>
          </a:xfrm>
          <a:prstGeom prst="ellipse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7" name="TextBox 14"/>
          <p:cNvSpPr/>
          <p:nvPr/>
        </p:nvSpPr>
        <p:spPr>
          <a:xfrm>
            <a:off x="3429000" y="2743200"/>
            <a:ext cx="51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Noto Sans CJK SC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ectangle 15"/>
          <p:cNvSpPr/>
          <p:nvPr/>
        </p:nvSpPr>
        <p:spPr>
          <a:xfrm>
            <a:off x="7498080" y="1691640"/>
            <a:ext cx="3977280" cy="324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9" name="TextBox 16"/>
          <p:cNvSpPr/>
          <p:nvPr/>
        </p:nvSpPr>
        <p:spPr>
          <a:xfrm>
            <a:off x="7726680" y="1874520"/>
            <a:ext cx="20113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a83b3b"/>
                </a:solidFill>
                <a:latin typeface="Noto Sans CJK SC"/>
              </a:rPr>
              <a:t>相机 </a:t>
            </a:r>
            <a:r>
              <a:rPr b="1" lang="en-US" sz="1400" spc="-1" strike="noStrike">
                <a:solidFill>
                  <a:srgbClr val="a83b3b"/>
                </a:solidFill>
                <a:latin typeface="Noto Sans CJK SC"/>
              </a:rPr>
              <a:t>B / </a:t>
            </a:r>
            <a:r>
              <a:rPr b="1" lang="zh-CN" sz="1400" spc="-1" strike="noStrike">
                <a:solidFill>
                  <a:srgbClr val="a83b3b"/>
                </a:solidFill>
                <a:latin typeface="Noto Sans CJK SC"/>
              </a:rPr>
              <a:t>拦截机 </a:t>
            </a:r>
            <a:r>
              <a:rPr b="1" lang="en-US" sz="1400" spc="-1" strike="noStrike">
                <a:solidFill>
                  <a:srgbClr val="a83b3b"/>
                </a:solidFill>
                <a:latin typeface="Noto Sans CJK SC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Rectangle 17"/>
          <p:cNvSpPr/>
          <p:nvPr/>
        </p:nvSpPr>
        <p:spPr>
          <a:xfrm>
            <a:off x="7726680" y="2359080"/>
            <a:ext cx="3474360" cy="2057040"/>
          </a:xfrm>
          <a:prstGeom prst="rect">
            <a:avLst/>
          </a:prstGeom>
          <a:solidFill>
            <a:srgbClr val="f8fafc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Oval 18"/>
          <p:cNvSpPr/>
          <p:nvPr/>
        </p:nvSpPr>
        <p:spPr>
          <a:xfrm>
            <a:off x="8183880" y="3401640"/>
            <a:ext cx="511560" cy="511560"/>
          </a:xfrm>
          <a:prstGeom prst="ellipse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2" name="TextBox 19"/>
          <p:cNvSpPr/>
          <p:nvPr/>
        </p:nvSpPr>
        <p:spPr>
          <a:xfrm>
            <a:off x="8183880" y="3493080"/>
            <a:ext cx="51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Noto Sans CJK SC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Oval 20"/>
          <p:cNvSpPr/>
          <p:nvPr/>
        </p:nvSpPr>
        <p:spPr>
          <a:xfrm>
            <a:off x="9144000" y="2651760"/>
            <a:ext cx="511560" cy="511560"/>
          </a:xfrm>
          <a:prstGeom prst="ellipse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TextBox 21"/>
          <p:cNvSpPr/>
          <p:nvPr/>
        </p:nvSpPr>
        <p:spPr>
          <a:xfrm>
            <a:off x="9144000" y="2743200"/>
            <a:ext cx="51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Noto Sans CJK SC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Oval 22"/>
          <p:cNvSpPr/>
          <p:nvPr/>
        </p:nvSpPr>
        <p:spPr>
          <a:xfrm>
            <a:off x="10149840" y="3337560"/>
            <a:ext cx="511560" cy="511560"/>
          </a:xfrm>
          <a:prstGeom prst="ellipse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6" name="TextBox 23"/>
          <p:cNvSpPr/>
          <p:nvPr/>
        </p:nvSpPr>
        <p:spPr>
          <a:xfrm>
            <a:off x="10149840" y="3429000"/>
            <a:ext cx="51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Noto Sans CJK SC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ectangle 24"/>
          <p:cNvSpPr/>
          <p:nvPr/>
        </p:nvSpPr>
        <p:spPr>
          <a:xfrm>
            <a:off x="5074920" y="2103120"/>
            <a:ext cx="2011320" cy="1599840"/>
          </a:xfrm>
          <a:prstGeom prst="rect">
            <a:avLst/>
          </a:prstGeom>
          <a:solidFill>
            <a:srgbClr val="eaf2f2"/>
          </a:solidFill>
          <a:ln w="2032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TextBox 25"/>
          <p:cNvSpPr/>
          <p:nvPr/>
        </p:nvSpPr>
        <p:spPr>
          <a:xfrm>
            <a:off x="5148000" y="2203560"/>
            <a:ext cx="186516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28777c"/>
                </a:solidFill>
                <a:latin typeface="Noto Sans CJK SC"/>
              </a:rPr>
              <a:t>跨视角注册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26"/>
          <p:cNvSpPr/>
          <p:nvPr/>
        </p:nvSpPr>
        <p:spPr>
          <a:xfrm>
            <a:off x="5148000" y="2523600"/>
            <a:ext cx="186516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GlobalTrack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投影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时间对齐</a:t>
            </a:r>
            <a:br>
              <a:rPr sz="950"/>
            </a:b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协方差门限</a:t>
            </a:r>
            <a:br>
              <a:rPr sz="950"/>
            </a:b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bbox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历史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70" name="Connector 27"/>
          <p:cNvCxnSpPr/>
          <p:nvPr/>
        </p:nvCxnSpPr>
        <p:spPr>
          <a:xfrm flipV="1">
            <a:off x="4663440" y="2926080"/>
            <a:ext cx="366120" cy="201240"/>
          </a:xfrm>
          <a:prstGeom prst="straightConnector1">
            <a:avLst/>
          </a:prstGeom>
          <a:ln w="15240">
            <a:solidFill>
              <a:srgbClr val="315b82"/>
            </a:solidFill>
            <a:round/>
          </a:ln>
        </p:spPr>
      </p:cxnSp>
      <p:cxnSp>
        <p:nvCxnSpPr>
          <p:cNvPr id="671" name="Connector 28"/>
          <p:cNvCxnSpPr/>
          <p:nvPr/>
        </p:nvCxnSpPr>
        <p:spPr>
          <a:xfrm flipH="1" flipV="1">
            <a:off x="7132320" y="2926080"/>
            <a:ext cx="320400" cy="201240"/>
          </a:xfrm>
          <a:prstGeom prst="straightConnector1">
            <a:avLst/>
          </a:prstGeom>
          <a:ln w="15240">
            <a:solidFill>
              <a:srgbClr val="a83b3b"/>
            </a:solidFill>
            <a:round/>
          </a:ln>
        </p:spPr>
      </p:cxnSp>
      <p:sp>
        <p:nvSpPr>
          <p:cNvPr id="672" name="Rectangle 29"/>
          <p:cNvSpPr/>
          <p:nvPr/>
        </p:nvSpPr>
        <p:spPr>
          <a:xfrm>
            <a:off x="4114800" y="4096440"/>
            <a:ext cx="155412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TextBox 30"/>
          <p:cNvSpPr/>
          <p:nvPr/>
        </p:nvSpPr>
        <p:spPr>
          <a:xfrm>
            <a:off x="4160520" y="4126320"/>
            <a:ext cx="14626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目标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2</a:t>
            </a: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：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A↔B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Rectangle 31"/>
          <p:cNvSpPr/>
          <p:nvPr/>
        </p:nvSpPr>
        <p:spPr>
          <a:xfrm>
            <a:off x="5897880" y="4096440"/>
            <a:ext cx="155412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5" name="TextBox 32"/>
          <p:cNvSpPr/>
          <p:nvPr/>
        </p:nvSpPr>
        <p:spPr>
          <a:xfrm>
            <a:off x="5943600" y="4126320"/>
            <a:ext cx="14626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目标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3</a:t>
            </a: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：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A↔B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Rectangle 33"/>
          <p:cNvSpPr/>
          <p:nvPr/>
        </p:nvSpPr>
        <p:spPr>
          <a:xfrm>
            <a:off x="914400" y="5230440"/>
            <a:ext cx="4891680" cy="749520"/>
          </a:xfrm>
          <a:prstGeom prst="rect">
            <a:avLst/>
          </a:prstGeom>
          <a:solidFill>
            <a:srgbClr val="efec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7" name="Rectangle 34"/>
          <p:cNvSpPr/>
          <p:nvPr/>
        </p:nvSpPr>
        <p:spPr>
          <a:xfrm>
            <a:off x="914400" y="5230440"/>
            <a:ext cx="63720" cy="749520"/>
          </a:xfrm>
          <a:prstGeom prst="rect">
            <a:avLst/>
          </a:prstGeom>
          <a:solidFill>
            <a:srgbClr val="62556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TextBox 35"/>
          <p:cNvSpPr/>
          <p:nvPr/>
        </p:nvSpPr>
        <p:spPr>
          <a:xfrm>
            <a:off x="1078920" y="5367600"/>
            <a:ext cx="459900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完全无中心时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Box 36"/>
          <p:cNvSpPr/>
          <p:nvPr/>
        </p:nvSpPr>
        <p:spPr>
          <a:xfrm>
            <a:off x="1078920" y="5751720"/>
            <a:ext cx="45990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各无人机交换带时间戳的局部轨迹摘要、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bbox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尺度历史和候选集合；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D4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原子联盟确认后才能执行。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Rectangle 37"/>
          <p:cNvSpPr/>
          <p:nvPr/>
        </p:nvSpPr>
        <p:spPr>
          <a:xfrm>
            <a:off x="6172200" y="5230440"/>
            <a:ext cx="5074560" cy="74952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1" name="Rectangle 38"/>
          <p:cNvSpPr/>
          <p:nvPr/>
        </p:nvSpPr>
        <p:spPr>
          <a:xfrm>
            <a:off x="6172200" y="5230440"/>
            <a:ext cx="63720" cy="74952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2" name="TextBox 39"/>
          <p:cNvSpPr/>
          <p:nvPr/>
        </p:nvSpPr>
        <p:spPr>
          <a:xfrm>
            <a:off x="6336720" y="5367600"/>
            <a:ext cx="478188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不采用的捷径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40"/>
          <p:cNvSpPr/>
          <p:nvPr/>
        </p:nvSpPr>
        <p:spPr>
          <a:xfrm>
            <a:off x="6336720" y="5751720"/>
            <a:ext cx="478188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不使用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AirSim detection truth ID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在线匹配；不把本地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MOT ID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当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global_track_id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；不因“最近”自动换目标。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ectangle 41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5" name="TextBox 42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43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D7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比例导引：雷达中段到视觉末端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保持经典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PN/PNG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核心公式，重点完善安全切换条件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2" name="Rectangle 6"/>
          <p:cNvSpPr/>
          <p:nvPr/>
        </p:nvSpPr>
        <p:spPr>
          <a:xfrm>
            <a:off x="594360" y="1508760"/>
            <a:ext cx="1919880" cy="785880"/>
          </a:xfrm>
          <a:prstGeom prst="rect">
            <a:avLst/>
          </a:prstGeom>
          <a:solidFill>
            <a:srgbClr val="ebf1ed"/>
          </a:solidFill>
          <a:ln w="1270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3" name="TextBox 7"/>
          <p:cNvSpPr/>
          <p:nvPr/>
        </p:nvSpPr>
        <p:spPr>
          <a:xfrm>
            <a:off x="722520" y="1618560"/>
            <a:ext cx="50256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477358"/>
                </a:solidFill>
                <a:latin typeface="Noto Sans CJK SC"/>
              </a:rPr>
              <a:t>D7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8"/>
          <p:cNvSpPr/>
          <p:nvPr/>
        </p:nvSpPr>
        <p:spPr>
          <a:xfrm>
            <a:off x="1252800" y="1600200"/>
            <a:ext cx="1142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比例导引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9"/>
          <p:cNvSpPr/>
          <p:nvPr/>
        </p:nvSpPr>
        <p:spPr>
          <a:xfrm>
            <a:off x="1252800" y="1892880"/>
            <a:ext cx="1142640" cy="3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位置 </a:t>
            </a:r>
            <a:r>
              <a:rPr b="0" lang="en-US" sz="900" spc="-1" strike="noStrike">
                <a:solidFill>
                  <a:srgbClr val="596673"/>
                </a:solidFill>
                <a:latin typeface="Noto Sans CJK SC"/>
              </a:rPr>
              <a:t>PN → </a:t>
            </a: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视觉 </a:t>
            </a:r>
            <a:r>
              <a:rPr b="0" lang="en-US" sz="900" spc="-1" strike="noStrike">
                <a:solidFill>
                  <a:srgbClr val="596673"/>
                </a:solidFill>
                <a:latin typeface="Noto Sans CJK SC"/>
              </a:rPr>
              <a:t>PNG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ectangle 10"/>
          <p:cNvSpPr/>
          <p:nvPr/>
        </p:nvSpPr>
        <p:spPr>
          <a:xfrm>
            <a:off x="777240" y="2743200"/>
            <a:ext cx="2011320" cy="804240"/>
          </a:xfrm>
          <a:prstGeom prst="rect">
            <a:avLst/>
          </a:prstGeom>
          <a:solidFill>
            <a:srgbClr val="eaf0f5"/>
          </a:solidFill>
          <a:ln w="1524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7" name="TextBox 11"/>
          <p:cNvSpPr/>
          <p:nvPr/>
        </p:nvSpPr>
        <p:spPr>
          <a:xfrm>
            <a:off x="887040" y="2853000"/>
            <a:ext cx="17917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315b82"/>
                </a:solidFill>
                <a:latin typeface="Noto Sans CJK SC"/>
              </a:rPr>
              <a:t>雷达中段 </a:t>
            </a:r>
            <a:r>
              <a:rPr b="1" lang="en-US" sz="1300" spc="-1" strike="noStrike">
                <a:solidFill>
                  <a:srgbClr val="315b82"/>
                </a:solidFill>
                <a:latin typeface="Noto Sans CJK SC"/>
              </a:rPr>
              <a:t>PN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12"/>
          <p:cNvSpPr/>
          <p:nvPr/>
        </p:nvSpPr>
        <p:spPr>
          <a:xfrm>
            <a:off x="887040" y="3154680"/>
            <a:ext cx="1791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GlobalTrack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位置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速度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ectangle 13"/>
          <p:cNvSpPr/>
          <p:nvPr/>
        </p:nvSpPr>
        <p:spPr>
          <a:xfrm>
            <a:off x="3154680" y="2743200"/>
            <a:ext cx="2011320" cy="804240"/>
          </a:xfrm>
          <a:prstGeom prst="rect">
            <a:avLst/>
          </a:prstGeom>
          <a:solidFill>
            <a:srgbClr val="f5f0e6"/>
          </a:solidFill>
          <a:ln w="1524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0" name="TextBox 14"/>
          <p:cNvSpPr/>
          <p:nvPr/>
        </p:nvSpPr>
        <p:spPr>
          <a:xfrm>
            <a:off x="3264480" y="2853000"/>
            <a:ext cx="17917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97422"/>
                </a:solidFill>
                <a:latin typeface="Noto Sans CJK SC"/>
              </a:rPr>
              <a:t>交接准备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15"/>
          <p:cNvSpPr/>
          <p:nvPr/>
        </p:nvSpPr>
        <p:spPr>
          <a:xfrm>
            <a:off x="3264480" y="3154680"/>
            <a:ext cx="1791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距离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检测框稳定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Rectangle 16"/>
          <p:cNvSpPr/>
          <p:nvPr/>
        </p:nvSpPr>
        <p:spPr>
          <a:xfrm>
            <a:off x="5532120" y="2743200"/>
            <a:ext cx="2011320" cy="804240"/>
          </a:xfrm>
          <a:prstGeom prst="rect">
            <a:avLst/>
          </a:prstGeom>
          <a:solidFill>
            <a:srgbClr val="efecf2"/>
          </a:solidFill>
          <a:ln w="15240">
            <a:solidFill>
              <a:srgbClr val="6255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3" name="TextBox 17"/>
          <p:cNvSpPr/>
          <p:nvPr/>
        </p:nvSpPr>
        <p:spPr>
          <a:xfrm>
            <a:off x="5641920" y="2853000"/>
            <a:ext cx="17917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2556f"/>
                </a:solidFill>
                <a:latin typeface="Noto Sans CJK SC"/>
              </a:rPr>
              <a:t>D3/D4/D5 </a:t>
            </a:r>
            <a:r>
              <a:rPr b="1" lang="zh-CN" sz="1300" spc="-1" strike="noStrike">
                <a:solidFill>
                  <a:srgbClr val="62556f"/>
                </a:solidFill>
                <a:latin typeface="Noto Sans CJK SC"/>
              </a:rPr>
              <a:t>门控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18"/>
          <p:cNvSpPr/>
          <p:nvPr/>
        </p:nvSpPr>
        <p:spPr>
          <a:xfrm>
            <a:off x="5641920" y="3154680"/>
            <a:ext cx="1791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身份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版本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联盟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机动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Rectangle 19"/>
          <p:cNvSpPr/>
          <p:nvPr/>
        </p:nvSpPr>
        <p:spPr>
          <a:xfrm>
            <a:off x="7909560" y="2743200"/>
            <a:ext cx="2011320" cy="804240"/>
          </a:xfrm>
          <a:prstGeom prst="rect">
            <a:avLst/>
          </a:prstGeom>
          <a:solidFill>
            <a:srgbClr val="ebf1ed"/>
          </a:solidFill>
          <a:ln w="1524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6" name="TextBox 20"/>
          <p:cNvSpPr/>
          <p:nvPr/>
        </p:nvSpPr>
        <p:spPr>
          <a:xfrm>
            <a:off x="8019360" y="2853000"/>
            <a:ext cx="17917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477358"/>
                </a:solidFill>
                <a:latin typeface="Noto Sans CJK SC"/>
              </a:rPr>
              <a:t>视觉 </a:t>
            </a:r>
            <a:r>
              <a:rPr b="1" lang="en-US" sz="1300" spc="-1" strike="noStrike">
                <a:solidFill>
                  <a:srgbClr val="477358"/>
                </a:solidFill>
                <a:latin typeface="Noto Sans CJK SC"/>
              </a:rPr>
              <a:t>PNG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TextBox 21"/>
          <p:cNvSpPr/>
          <p:nvPr/>
        </p:nvSpPr>
        <p:spPr>
          <a:xfrm>
            <a:off x="8019360" y="3154680"/>
            <a:ext cx="1791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LOS rate + TTC/VM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08" name="Connector 22"/>
          <p:cNvCxnSpPr/>
          <p:nvPr/>
        </p:nvCxnSpPr>
        <p:spPr>
          <a:xfrm>
            <a:off x="2816280" y="3154680"/>
            <a:ext cx="29304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cxnSp>
        <p:nvCxnSpPr>
          <p:cNvPr id="709" name="Connector 23"/>
          <p:cNvCxnSpPr/>
          <p:nvPr/>
        </p:nvCxnSpPr>
        <p:spPr>
          <a:xfrm>
            <a:off x="5193720" y="3154680"/>
            <a:ext cx="29304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cxnSp>
        <p:nvCxnSpPr>
          <p:cNvPr id="710" name="Connector 24"/>
          <p:cNvCxnSpPr/>
          <p:nvPr/>
        </p:nvCxnSpPr>
        <p:spPr>
          <a:xfrm>
            <a:off x="7571160" y="3154680"/>
            <a:ext cx="293040" cy="360"/>
          </a:xfrm>
          <a:prstGeom prst="straightConnector1">
            <a:avLst/>
          </a:prstGeom>
          <a:ln w="17780">
            <a:solidFill>
              <a:srgbClr val="596673"/>
            </a:solidFill>
            <a:round/>
          </a:ln>
        </p:spPr>
      </p:cxnSp>
      <p:sp>
        <p:nvSpPr>
          <p:cNvPr id="711" name="Rectangle 25"/>
          <p:cNvSpPr/>
          <p:nvPr/>
        </p:nvSpPr>
        <p:spPr>
          <a:xfrm>
            <a:off x="914400" y="4160520"/>
            <a:ext cx="4937400" cy="1051200"/>
          </a:xfrm>
          <a:prstGeom prst="rect">
            <a:avLst/>
          </a:prstGeom>
          <a:solidFill>
            <a:srgbClr val="ebf1ed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2" name="Rectangle 26"/>
          <p:cNvSpPr/>
          <p:nvPr/>
        </p:nvSpPr>
        <p:spPr>
          <a:xfrm>
            <a:off x="914400" y="4160520"/>
            <a:ext cx="63720" cy="1051200"/>
          </a:xfrm>
          <a:prstGeom prst="rect">
            <a:avLst/>
          </a:prstGeom>
          <a:solidFill>
            <a:srgbClr val="4773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3" name="TextBox 27"/>
          <p:cNvSpPr/>
          <p:nvPr/>
        </p:nvSpPr>
        <p:spPr>
          <a:xfrm>
            <a:off x="1078920" y="4297680"/>
            <a:ext cx="46447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切换必须同时满足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28"/>
          <p:cNvSpPr/>
          <p:nvPr/>
        </p:nvSpPr>
        <p:spPr>
          <a:xfrm>
            <a:off x="1078920" y="4681800"/>
            <a:ext cx="46447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分配一致、联盟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committed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D5 locked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、相机质量、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LOS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稳定、机动余量和剩余窗口。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Rectangle 29"/>
          <p:cNvSpPr/>
          <p:nvPr/>
        </p:nvSpPr>
        <p:spPr>
          <a:xfrm>
            <a:off x="6172200" y="4160520"/>
            <a:ext cx="4937400" cy="105120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6" name="Rectangle 30"/>
          <p:cNvSpPr/>
          <p:nvPr/>
        </p:nvSpPr>
        <p:spPr>
          <a:xfrm>
            <a:off x="6172200" y="4160520"/>
            <a:ext cx="63720" cy="105120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7" name="TextBox 31"/>
          <p:cNvSpPr/>
          <p:nvPr/>
        </p:nvSpPr>
        <p:spPr>
          <a:xfrm>
            <a:off x="6336720" y="4297680"/>
            <a:ext cx="46447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任何一项不满足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32"/>
          <p:cNvSpPr/>
          <p:nvPr/>
        </p:nvSpPr>
        <p:spPr>
          <a:xfrm>
            <a:off x="6336720" y="4681800"/>
            <a:ext cx="46447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保持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radar_midcourse / hold / reacquire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；不得绕过门控，不得激活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standby reserve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Rectangle 33"/>
          <p:cNvSpPr/>
          <p:nvPr/>
        </p:nvSpPr>
        <p:spPr>
          <a:xfrm>
            <a:off x="1920240" y="5623560"/>
            <a:ext cx="1416960" cy="310680"/>
          </a:xfrm>
          <a:prstGeom prst="rect">
            <a:avLst/>
          </a:prstGeom>
          <a:solidFill>
            <a:srgbClr val="eaf0f5"/>
          </a:solidFill>
          <a:ln>
            <a:solidFill>
              <a:srgbClr val="eaf0f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0" name="TextBox 34"/>
          <p:cNvSpPr/>
          <p:nvPr/>
        </p:nvSpPr>
        <p:spPr>
          <a:xfrm>
            <a:off x="1965960" y="5653440"/>
            <a:ext cx="1325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315b82"/>
                </a:solidFill>
                <a:latin typeface="Noto Sans CJK SC"/>
              </a:rPr>
              <a:t>P2</a:t>
            </a: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：</a:t>
            </a:r>
            <a:r>
              <a:rPr b="1" lang="en-US" sz="1050" spc="-1" strike="noStrike">
                <a:solidFill>
                  <a:srgbClr val="315b82"/>
                </a:solidFill>
                <a:latin typeface="Noto Sans CJK SC"/>
              </a:rPr>
              <a:t>3D PN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Rectangle 35"/>
          <p:cNvSpPr/>
          <p:nvPr/>
        </p:nvSpPr>
        <p:spPr>
          <a:xfrm>
            <a:off x="3566160" y="5623560"/>
            <a:ext cx="123408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TextBox 36"/>
          <p:cNvSpPr/>
          <p:nvPr/>
        </p:nvSpPr>
        <p:spPr>
          <a:xfrm>
            <a:off x="3611880" y="5653440"/>
            <a:ext cx="11426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True PN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Rectangle 37"/>
          <p:cNvSpPr/>
          <p:nvPr/>
        </p:nvSpPr>
        <p:spPr>
          <a:xfrm>
            <a:off x="5029200" y="5623560"/>
            <a:ext cx="1096920" cy="310680"/>
          </a:xfrm>
          <a:prstGeom prst="rect">
            <a:avLst/>
          </a:prstGeom>
          <a:solidFill>
            <a:srgbClr val="ebf1ed"/>
          </a:solidFill>
          <a:ln>
            <a:solidFill>
              <a:srgbClr val="ebf1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4" name="TextBox 38"/>
          <p:cNvSpPr/>
          <p:nvPr/>
        </p:nvSpPr>
        <p:spPr>
          <a:xfrm>
            <a:off x="5074920" y="5653440"/>
            <a:ext cx="10054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477358"/>
                </a:solidFill>
                <a:latin typeface="Noto Sans CJK SC"/>
              </a:rPr>
              <a:t>APN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ectangle 39"/>
          <p:cNvSpPr/>
          <p:nvPr/>
        </p:nvSpPr>
        <p:spPr>
          <a:xfrm>
            <a:off x="6355080" y="5623560"/>
            <a:ext cx="1919880" cy="310680"/>
          </a:xfrm>
          <a:prstGeom prst="rect">
            <a:avLst/>
          </a:prstGeom>
          <a:solidFill>
            <a:srgbClr val="efecf2"/>
          </a:solidFill>
          <a:ln>
            <a:solidFill>
              <a:srgbClr val="efec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TextBox 40"/>
          <p:cNvSpPr/>
          <p:nvPr/>
        </p:nvSpPr>
        <p:spPr>
          <a:xfrm>
            <a:off x="6400800" y="5653440"/>
            <a:ext cx="1828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62556f"/>
                </a:solidFill>
                <a:latin typeface="Noto Sans CJK SC"/>
              </a:rPr>
              <a:t>FRPN </a:t>
            </a:r>
            <a:r>
              <a:rPr b="1" lang="zh-CN" sz="1050" spc="-1" strike="noStrike">
                <a:solidFill>
                  <a:srgbClr val="62556f"/>
                </a:solidFill>
                <a:latin typeface="Noto Sans CJK SC"/>
              </a:rPr>
              <a:t>研究近似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41"/>
          <p:cNvSpPr/>
          <p:nvPr/>
        </p:nvSpPr>
        <p:spPr>
          <a:xfrm>
            <a:off x="8458200" y="5650920"/>
            <a:ext cx="288000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96673"/>
                </a:solidFill>
                <a:latin typeface="Noto Sans CJK SC"/>
              </a:rPr>
              <a:t>P2 </a:t>
            </a:r>
            <a:r>
              <a:rPr b="1" lang="zh-CN" sz="1000" spc="-1" strike="noStrike">
                <a:solidFill>
                  <a:srgbClr val="596673"/>
                </a:solidFill>
                <a:latin typeface="Noto Sans CJK SC"/>
              </a:rPr>
              <a:t>仅离线质点对照，未替换默认位置 </a:t>
            </a:r>
            <a:r>
              <a:rPr b="1" lang="en-US" sz="1000" spc="-1" strike="noStrike">
                <a:solidFill>
                  <a:srgbClr val="596673"/>
                </a:solidFill>
                <a:latin typeface="Noto Sans CJK SC"/>
              </a:rPr>
              <a:t>PN / </a:t>
            </a:r>
            <a:r>
              <a:rPr b="1" lang="zh-CN" sz="1000" spc="-1" strike="noStrike">
                <a:solidFill>
                  <a:srgbClr val="596673"/>
                </a:solidFill>
                <a:latin typeface="Noto Sans CJK SC"/>
              </a:rPr>
              <a:t>视觉 </a:t>
            </a:r>
            <a:r>
              <a:rPr b="1" lang="en-US" sz="1000" spc="-1" strike="noStrike">
                <a:solidFill>
                  <a:srgbClr val="596673"/>
                </a:solidFill>
                <a:latin typeface="Noto Sans CJK SC"/>
              </a:rPr>
              <a:t>PNG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Rectangle 42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9" name="TextBox 43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TextBox 44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20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2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全流程仿真已经形成可回放闭环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质点模型用于算法闭环，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AirSim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用于接口、视觉和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SimpleFlight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控制验证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6" name="Rectangle 6"/>
          <p:cNvSpPr/>
          <p:nvPr/>
        </p:nvSpPr>
        <p:spPr>
          <a:xfrm>
            <a:off x="594360" y="1572840"/>
            <a:ext cx="5486040" cy="448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7" name="Picture 7" descr="global_process_2d.gif"/>
          <p:cNvPicPr/>
          <p:nvPr/>
        </p:nvPicPr>
        <p:blipFill>
          <a:blip r:embed="rId1"/>
          <a:stretch/>
        </p:blipFill>
        <p:spPr>
          <a:xfrm>
            <a:off x="631080" y="1929240"/>
            <a:ext cx="5412960" cy="3767040"/>
          </a:xfrm>
          <a:prstGeom prst="rect">
            <a:avLst/>
          </a:prstGeom>
          <a:ln w="0">
            <a:noFill/>
          </a:ln>
        </p:spPr>
      </p:pic>
      <p:sp>
        <p:nvSpPr>
          <p:cNvPr id="738" name="Rectangle 8"/>
          <p:cNvSpPr/>
          <p:nvPr/>
        </p:nvSpPr>
        <p:spPr>
          <a:xfrm>
            <a:off x="6309360" y="1572840"/>
            <a:ext cx="5284800" cy="448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9" name="Picture 9" descr="airsim_3d_intercept_trajectories.png"/>
          <p:cNvPicPr/>
          <p:nvPr/>
        </p:nvPicPr>
        <p:blipFill>
          <a:blip r:embed="rId2"/>
          <a:stretch/>
        </p:blipFill>
        <p:spPr>
          <a:xfrm>
            <a:off x="6346080" y="2154240"/>
            <a:ext cx="5211720" cy="3317760"/>
          </a:xfrm>
          <a:prstGeom prst="rect">
            <a:avLst/>
          </a:prstGeom>
          <a:ln w="0">
            <a:noFill/>
          </a:ln>
        </p:spPr>
      </p:pic>
      <p:sp>
        <p:nvSpPr>
          <p:cNvPr id="740" name="Rectangle 10"/>
          <p:cNvSpPr/>
          <p:nvPr/>
        </p:nvSpPr>
        <p:spPr>
          <a:xfrm>
            <a:off x="1737360" y="6053400"/>
            <a:ext cx="246852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1" name="TextBox 11"/>
          <p:cNvSpPr/>
          <p:nvPr/>
        </p:nvSpPr>
        <p:spPr>
          <a:xfrm>
            <a:off x="1783080" y="6083280"/>
            <a:ext cx="23770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左：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2D </a:t>
            </a:r>
            <a:r>
              <a:rPr b="1" lang="zh-CN" sz="1050" spc="-1" strike="noStrike">
                <a:solidFill>
                  <a:srgbClr val="28777c"/>
                </a:solidFill>
                <a:latin typeface="Noto Sans CJK SC"/>
              </a:rPr>
              <a:t>全局流程 </a:t>
            </a:r>
            <a:r>
              <a:rPr b="1" lang="en-US" sz="1050" spc="-1" strike="noStrike">
                <a:solidFill>
                  <a:srgbClr val="28777c"/>
                </a:solidFill>
                <a:latin typeface="Noto Sans CJK SC"/>
              </a:rPr>
              <a:t>GIF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Rectangle 12"/>
          <p:cNvSpPr/>
          <p:nvPr/>
        </p:nvSpPr>
        <p:spPr>
          <a:xfrm>
            <a:off x="7680960" y="6053400"/>
            <a:ext cx="2605680" cy="310680"/>
          </a:xfrm>
          <a:prstGeom prst="rect">
            <a:avLst/>
          </a:prstGeom>
          <a:solidFill>
            <a:srgbClr val="eaf0f5"/>
          </a:solidFill>
          <a:ln>
            <a:solidFill>
              <a:srgbClr val="eaf0f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3" name="TextBox 13"/>
          <p:cNvSpPr/>
          <p:nvPr/>
        </p:nvSpPr>
        <p:spPr>
          <a:xfrm>
            <a:off x="7726680" y="6083280"/>
            <a:ext cx="2514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右：</a:t>
            </a:r>
            <a:r>
              <a:rPr b="1" lang="en-US" sz="1050" spc="-1" strike="noStrike">
                <a:solidFill>
                  <a:srgbClr val="315b82"/>
                </a:solidFill>
                <a:latin typeface="Noto Sans CJK SC"/>
              </a:rPr>
              <a:t>AirSim </a:t>
            </a: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受控 </a:t>
            </a:r>
            <a:r>
              <a:rPr b="1" lang="en-US" sz="1050" spc="-1" strike="noStrike">
                <a:solidFill>
                  <a:srgbClr val="315b82"/>
                </a:solidFill>
                <a:latin typeface="Noto Sans CJK SC"/>
              </a:rPr>
              <a:t>3D </a:t>
            </a:r>
            <a:r>
              <a:rPr b="1" lang="zh-CN" sz="1050" spc="-1" strike="noStrike">
                <a:solidFill>
                  <a:srgbClr val="315b82"/>
                </a:solidFill>
                <a:latin typeface="Noto Sans CJK SC"/>
              </a:rPr>
              <a:t>轨迹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Rectangle 14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5" name="TextBox 15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Box 16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21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8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D6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系统级评估指标体系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检测、跟踪、分配、降级、末端视觉、安全和物理结果统一进入评估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2" name="Rectangle 6"/>
          <p:cNvSpPr/>
          <p:nvPr/>
        </p:nvSpPr>
        <p:spPr>
          <a:xfrm>
            <a:off x="594360" y="1508760"/>
            <a:ext cx="1919880" cy="78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1c27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3" name="TextBox 7"/>
          <p:cNvSpPr/>
          <p:nvPr/>
        </p:nvSpPr>
        <p:spPr>
          <a:xfrm>
            <a:off x="722520" y="1618560"/>
            <a:ext cx="50256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c2733"/>
                </a:solidFill>
                <a:latin typeface="Noto Sans CJK SC"/>
              </a:rPr>
              <a:t>D6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TextBox 8"/>
          <p:cNvSpPr/>
          <p:nvPr/>
        </p:nvSpPr>
        <p:spPr>
          <a:xfrm>
            <a:off x="1252800" y="1600200"/>
            <a:ext cx="1142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评估指标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TextBox 9"/>
          <p:cNvSpPr/>
          <p:nvPr/>
        </p:nvSpPr>
        <p:spPr>
          <a:xfrm>
            <a:off x="1252800" y="1892880"/>
            <a:ext cx="11426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900" spc="-1" strike="noStrike">
                <a:solidFill>
                  <a:srgbClr val="596673"/>
                </a:solidFill>
                <a:latin typeface="Noto Sans CJK SC"/>
              </a:rPr>
              <a:t>日志消费与批量报告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Rectangle 10"/>
          <p:cNvSpPr/>
          <p:nvPr/>
        </p:nvSpPr>
        <p:spPr>
          <a:xfrm>
            <a:off x="777240" y="2743200"/>
            <a:ext cx="3337200" cy="868320"/>
          </a:xfrm>
          <a:prstGeom prst="rect">
            <a:avLst/>
          </a:prstGeom>
          <a:solidFill>
            <a:srgbClr val="eaf0f5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7" name="Rectangle 11"/>
          <p:cNvSpPr/>
          <p:nvPr/>
        </p:nvSpPr>
        <p:spPr>
          <a:xfrm>
            <a:off x="777240" y="2743200"/>
            <a:ext cx="63720" cy="868320"/>
          </a:xfrm>
          <a:prstGeom prst="rect">
            <a:avLst/>
          </a:prstGeom>
          <a:solidFill>
            <a:srgbClr val="315b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8" name="TextBox 12"/>
          <p:cNvSpPr/>
          <p:nvPr/>
        </p:nvSpPr>
        <p:spPr>
          <a:xfrm>
            <a:off x="941760" y="2880360"/>
            <a:ext cx="30445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1c2733"/>
                </a:solidFill>
                <a:latin typeface="Noto Sans CJK SC"/>
              </a:rPr>
              <a:t>探测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TextBox 13"/>
          <p:cNvSpPr/>
          <p:nvPr/>
        </p:nvSpPr>
        <p:spPr>
          <a:xfrm>
            <a:off x="941760" y="3264480"/>
            <a:ext cx="30445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Pd / FAR /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漏检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Rectangle 14"/>
          <p:cNvSpPr/>
          <p:nvPr/>
        </p:nvSpPr>
        <p:spPr>
          <a:xfrm>
            <a:off x="4572000" y="2743200"/>
            <a:ext cx="3337200" cy="868320"/>
          </a:xfrm>
          <a:prstGeom prst="rect">
            <a:avLst/>
          </a:prstGeom>
          <a:solidFill>
            <a:srgbClr val="eaf2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1" name="Rectangle 15"/>
          <p:cNvSpPr/>
          <p:nvPr/>
        </p:nvSpPr>
        <p:spPr>
          <a:xfrm>
            <a:off x="4572000" y="2743200"/>
            <a:ext cx="63720" cy="868320"/>
          </a:xfrm>
          <a:prstGeom prst="rect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2" name="TextBox 16"/>
          <p:cNvSpPr/>
          <p:nvPr/>
        </p:nvSpPr>
        <p:spPr>
          <a:xfrm>
            <a:off x="4736520" y="2880360"/>
            <a:ext cx="30445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1c2733"/>
                </a:solidFill>
                <a:latin typeface="Noto Sans CJK SC"/>
              </a:rPr>
              <a:t>跟踪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17"/>
          <p:cNvSpPr/>
          <p:nvPr/>
        </p:nvSpPr>
        <p:spPr>
          <a:xfrm>
            <a:off x="4736520" y="3264480"/>
            <a:ext cx="30445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RMSE / continuity / IDSW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Rectangle 18"/>
          <p:cNvSpPr/>
          <p:nvPr/>
        </p:nvSpPr>
        <p:spPr>
          <a:xfrm>
            <a:off x="8366760" y="2743200"/>
            <a:ext cx="3337200" cy="868320"/>
          </a:xfrm>
          <a:prstGeom prst="rect">
            <a:avLst/>
          </a:prstGeom>
          <a:solidFill>
            <a:srgbClr val="f5f0e6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5" name="Rectangle 19"/>
          <p:cNvSpPr/>
          <p:nvPr/>
        </p:nvSpPr>
        <p:spPr>
          <a:xfrm>
            <a:off x="8366760" y="2743200"/>
            <a:ext cx="63720" cy="868320"/>
          </a:xfrm>
          <a:prstGeom prst="rect">
            <a:avLst/>
          </a:prstGeom>
          <a:solidFill>
            <a:srgbClr val="a974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6" name="TextBox 20"/>
          <p:cNvSpPr/>
          <p:nvPr/>
        </p:nvSpPr>
        <p:spPr>
          <a:xfrm>
            <a:off x="8531280" y="2880360"/>
            <a:ext cx="30445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1c2733"/>
                </a:solidFill>
                <a:latin typeface="Noto Sans CJK SC"/>
              </a:rPr>
              <a:t>分配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Box 21"/>
          <p:cNvSpPr/>
          <p:nvPr/>
        </p:nvSpPr>
        <p:spPr>
          <a:xfrm>
            <a:off x="8531280" y="3264480"/>
            <a:ext cx="30445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重复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未分配高威胁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Rectangle 22"/>
          <p:cNvSpPr/>
          <p:nvPr/>
        </p:nvSpPr>
        <p:spPr>
          <a:xfrm>
            <a:off x="777240" y="3913560"/>
            <a:ext cx="3337200" cy="868320"/>
          </a:xfrm>
          <a:prstGeom prst="rect">
            <a:avLst/>
          </a:prstGeom>
          <a:solidFill>
            <a:srgbClr val="efec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9" name="Rectangle 23"/>
          <p:cNvSpPr/>
          <p:nvPr/>
        </p:nvSpPr>
        <p:spPr>
          <a:xfrm>
            <a:off x="777240" y="3913560"/>
            <a:ext cx="63720" cy="868320"/>
          </a:xfrm>
          <a:prstGeom prst="rect">
            <a:avLst/>
          </a:prstGeom>
          <a:solidFill>
            <a:srgbClr val="62556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0" name="TextBox 24"/>
          <p:cNvSpPr/>
          <p:nvPr/>
        </p:nvSpPr>
        <p:spPr>
          <a:xfrm>
            <a:off x="941760" y="4050720"/>
            <a:ext cx="30445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1c2733"/>
                </a:solidFill>
                <a:latin typeface="Noto Sans CJK SC"/>
              </a:rPr>
              <a:t>降级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Box 25"/>
          <p:cNvSpPr/>
          <p:nvPr/>
        </p:nvSpPr>
        <p:spPr>
          <a:xfrm>
            <a:off x="941760" y="4434840"/>
            <a:ext cx="30445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接管时间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/ ACK /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共识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Rectangle 26"/>
          <p:cNvSpPr/>
          <p:nvPr/>
        </p:nvSpPr>
        <p:spPr>
          <a:xfrm>
            <a:off x="4572000" y="3913560"/>
            <a:ext cx="3337200" cy="86832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3" name="Rectangle 27"/>
          <p:cNvSpPr/>
          <p:nvPr/>
        </p:nvSpPr>
        <p:spPr>
          <a:xfrm>
            <a:off x="4572000" y="3913560"/>
            <a:ext cx="63720" cy="86832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4" name="TextBox 28"/>
          <p:cNvSpPr/>
          <p:nvPr/>
        </p:nvSpPr>
        <p:spPr>
          <a:xfrm>
            <a:off x="4736520" y="4050720"/>
            <a:ext cx="30445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1c2733"/>
                </a:solidFill>
                <a:latin typeface="Noto Sans CJK SC"/>
              </a:rPr>
              <a:t>末端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29"/>
          <p:cNvSpPr/>
          <p:nvPr/>
        </p:nvSpPr>
        <p:spPr>
          <a:xfrm>
            <a:off x="4736520" y="4434840"/>
            <a:ext cx="30445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锁定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模糊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/ hold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Rectangle 30"/>
          <p:cNvSpPr/>
          <p:nvPr/>
        </p:nvSpPr>
        <p:spPr>
          <a:xfrm>
            <a:off x="8366760" y="3913560"/>
            <a:ext cx="3337200" cy="868320"/>
          </a:xfrm>
          <a:prstGeom prst="rect">
            <a:avLst/>
          </a:prstGeom>
          <a:solidFill>
            <a:srgbClr val="ebf1ed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7" name="Rectangle 31"/>
          <p:cNvSpPr/>
          <p:nvPr/>
        </p:nvSpPr>
        <p:spPr>
          <a:xfrm>
            <a:off x="8366760" y="3913560"/>
            <a:ext cx="63720" cy="868320"/>
          </a:xfrm>
          <a:prstGeom prst="rect">
            <a:avLst/>
          </a:prstGeom>
          <a:solidFill>
            <a:srgbClr val="4773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8" name="TextBox 32"/>
          <p:cNvSpPr/>
          <p:nvPr/>
        </p:nvSpPr>
        <p:spPr>
          <a:xfrm>
            <a:off x="8531280" y="4050720"/>
            <a:ext cx="30445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1c2733"/>
                </a:solidFill>
                <a:latin typeface="Noto Sans CJK SC"/>
              </a:rPr>
              <a:t>安全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Box 33"/>
          <p:cNvSpPr/>
          <p:nvPr/>
        </p:nvSpPr>
        <p:spPr>
          <a:xfrm>
            <a:off x="8531280" y="4434840"/>
            <a:ext cx="30445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约束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人工覆盖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Rectangle 34"/>
          <p:cNvSpPr/>
          <p:nvPr/>
        </p:nvSpPr>
        <p:spPr>
          <a:xfrm>
            <a:off x="960120" y="5285160"/>
            <a:ext cx="1014948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1" name="TextBox 35"/>
          <p:cNvSpPr/>
          <p:nvPr/>
        </p:nvSpPr>
        <p:spPr>
          <a:xfrm>
            <a:off x="1188720" y="5468040"/>
            <a:ext cx="18284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83b3b"/>
                </a:solidFill>
                <a:latin typeface="Noto Sans CJK SC"/>
              </a:rPr>
              <a:t>四层结果必须分开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Rectangle 36"/>
          <p:cNvSpPr/>
          <p:nvPr/>
        </p:nvSpPr>
        <p:spPr>
          <a:xfrm>
            <a:off x="3154680" y="5459040"/>
            <a:ext cx="1737000" cy="310680"/>
          </a:xfrm>
          <a:prstGeom prst="rect">
            <a:avLst/>
          </a:prstGeom>
          <a:solidFill>
            <a:srgbClr val="eaf0f5"/>
          </a:solidFill>
          <a:ln>
            <a:solidFill>
              <a:srgbClr val="eaf0f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3" name="TextBox 37"/>
          <p:cNvSpPr/>
          <p:nvPr/>
        </p:nvSpPr>
        <p:spPr>
          <a:xfrm>
            <a:off x="3200400" y="5498640"/>
            <a:ext cx="164556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contract_allowed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Rectangle 38"/>
          <p:cNvSpPr/>
          <p:nvPr/>
        </p:nvSpPr>
        <p:spPr>
          <a:xfrm>
            <a:off x="5120640" y="5459040"/>
            <a:ext cx="1645560" cy="310680"/>
          </a:xfrm>
          <a:prstGeom prst="rect">
            <a:avLst/>
          </a:prstGeom>
          <a:solidFill>
            <a:srgbClr val="eaf2f2"/>
          </a:solidFill>
          <a:ln>
            <a:solidFill>
              <a:srgbClr val="eaf2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5" name="TextBox 39"/>
          <p:cNvSpPr/>
          <p:nvPr/>
        </p:nvSpPr>
        <p:spPr>
          <a:xfrm>
            <a:off x="5166360" y="5498640"/>
            <a:ext cx="155412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8777c"/>
                </a:solidFill>
                <a:latin typeface="Noto Sans CJK SC"/>
              </a:rPr>
              <a:t>control_allowed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Rectangle 40"/>
          <p:cNvSpPr/>
          <p:nvPr/>
        </p:nvSpPr>
        <p:spPr>
          <a:xfrm>
            <a:off x="6995160" y="5459040"/>
            <a:ext cx="1508400" cy="310680"/>
          </a:xfrm>
          <a:prstGeom prst="rect">
            <a:avLst/>
          </a:prstGeom>
          <a:solidFill>
            <a:srgbClr val="f5f0e6"/>
          </a:solidFill>
          <a:ln>
            <a:solidFill>
              <a:srgbClr val="f5f0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7" name="TextBox 41"/>
          <p:cNvSpPr/>
          <p:nvPr/>
        </p:nvSpPr>
        <p:spPr>
          <a:xfrm>
            <a:off x="7040880" y="5498640"/>
            <a:ext cx="141696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a97422"/>
                </a:solidFill>
                <a:latin typeface="Noto Sans CJK SC"/>
              </a:rPr>
              <a:t>mode_switched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Rectangle 42"/>
          <p:cNvSpPr/>
          <p:nvPr/>
        </p:nvSpPr>
        <p:spPr>
          <a:xfrm>
            <a:off x="8732520" y="5459040"/>
            <a:ext cx="1965600" cy="310680"/>
          </a:xfrm>
          <a:prstGeom prst="rect">
            <a:avLst/>
          </a:prstGeom>
          <a:solidFill>
            <a:srgbClr val="ebf1ed"/>
          </a:solidFill>
          <a:ln>
            <a:solidFill>
              <a:srgbClr val="ebf1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9" name="TextBox 43"/>
          <p:cNvSpPr/>
          <p:nvPr/>
        </p:nvSpPr>
        <p:spPr>
          <a:xfrm>
            <a:off x="8778240" y="5498640"/>
            <a:ext cx="187416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477358"/>
                </a:solidFill>
                <a:latin typeface="Noto Sans CJK SC"/>
              </a:rPr>
              <a:t>physical_intercept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TextBox 44"/>
          <p:cNvSpPr/>
          <p:nvPr/>
        </p:nvSpPr>
        <p:spPr>
          <a:xfrm>
            <a:off x="3931920" y="6126480"/>
            <a:ext cx="43887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596673"/>
                </a:solidFill>
                <a:latin typeface="Noto Sans CJK SC"/>
              </a:rPr>
              <a:t>D6 </a:t>
            </a: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只消费日志，不参与控制。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Rectangle 45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2" name="TextBox 46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extBox 47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22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5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P1 / P2 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成熟度与技术边界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9" name="Rectangle 6"/>
          <p:cNvSpPr/>
          <p:nvPr/>
        </p:nvSpPr>
        <p:spPr>
          <a:xfrm>
            <a:off x="594360" y="1627560"/>
            <a:ext cx="1279800" cy="456840"/>
          </a:xfrm>
          <a:prstGeom prst="rect">
            <a:avLst/>
          </a:prstGeom>
          <a:solidFill>
            <a:srgbClr val="1c2733"/>
          </a:solidFill>
          <a:ln w="12700">
            <a:solidFill>
              <a:srgbClr val="1c27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0" name="TextBox 7"/>
          <p:cNvSpPr/>
          <p:nvPr/>
        </p:nvSpPr>
        <p:spPr>
          <a:xfrm>
            <a:off x="640080" y="1746360"/>
            <a:ext cx="118836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Noto Sans CJK SC"/>
              </a:rPr>
              <a:t>模块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Rectangle 8"/>
          <p:cNvSpPr/>
          <p:nvPr/>
        </p:nvSpPr>
        <p:spPr>
          <a:xfrm>
            <a:off x="2057400" y="1627560"/>
            <a:ext cx="2559960" cy="456840"/>
          </a:xfrm>
          <a:prstGeom prst="rect">
            <a:avLst/>
          </a:prstGeom>
          <a:solidFill>
            <a:srgbClr val="1c2733"/>
          </a:solidFill>
          <a:ln w="12700">
            <a:solidFill>
              <a:srgbClr val="1c27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2" name="TextBox 9"/>
          <p:cNvSpPr/>
          <p:nvPr/>
        </p:nvSpPr>
        <p:spPr>
          <a:xfrm>
            <a:off x="2103120" y="1746360"/>
            <a:ext cx="24685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Noto Sans CJK SC"/>
              </a:rPr>
              <a:t>P1 </a:t>
            </a:r>
            <a:r>
              <a:rPr b="1" lang="zh-CN" sz="1100" spc="-1" strike="noStrike">
                <a:solidFill>
                  <a:srgbClr val="ffffff"/>
                </a:solidFill>
                <a:latin typeface="Noto Sans CJK SC"/>
              </a:rPr>
              <a:t>合同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ectangle 10"/>
          <p:cNvSpPr/>
          <p:nvPr/>
        </p:nvSpPr>
        <p:spPr>
          <a:xfrm>
            <a:off x="4800600" y="1627560"/>
            <a:ext cx="3291480" cy="456840"/>
          </a:xfrm>
          <a:prstGeom prst="rect">
            <a:avLst/>
          </a:prstGeom>
          <a:solidFill>
            <a:srgbClr val="1c2733"/>
          </a:solidFill>
          <a:ln w="12700">
            <a:solidFill>
              <a:srgbClr val="1c27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4" name="TextBox 11"/>
          <p:cNvSpPr/>
          <p:nvPr/>
        </p:nvSpPr>
        <p:spPr>
          <a:xfrm>
            <a:off x="4846320" y="1746360"/>
            <a:ext cx="32000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Noto Sans CJK SC"/>
              </a:rPr>
              <a:t>P1 </a:t>
            </a:r>
            <a:r>
              <a:rPr b="1" lang="zh-CN" sz="1100" spc="-1" strike="noStrike">
                <a:solidFill>
                  <a:srgbClr val="ffffff"/>
                </a:solidFill>
                <a:latin typeface="Noto Sans CJK SC"/>
              </a:rPr>
              <a:t>物理</a:t>
            </a:r>
            <a:r>
              <a:rPr b="1" lang="en-US" sz="1100" spc="-1" strike="noStrike">
                <a:solidFill>
                  <a:srgbClr val="ffffff"/>
                </a:solidFill>
                <a:latin typeface="Noto Sans CJK SC"/>
              </a:rPr>
              <a:t>/</a:t>
            </a:r>
            <a:r>
              <a:rPr b="1" lang="zh-CN" sz="1100" spc="-1" strike="noStrike">
                <a:solidFill>
                  <a:srgbClr val="ffffff"/>
                </a:solidFill>
                <a:latin typeface="Noto Sans CJK SC"/>
              </a:rPr>
              <a:t>长期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Rectangle 12"/>
          <p:cNvSpPr/>
          <p:nvPr/>
        </p:nvSpPr>
        <p:spPr>
          <a:xfrm>
            <a:off x="8275320" y="1627560"/>
            <a:ext cx="3337200" cy="456840"/>
          </a:xfrm>
          <a:prstGeom prst="rect">
            <a:avLst/>
          </a:prstGeom>
          <a:solidFill>
            <a:srgbClr val="1c2733"/>
          </a:solidFill>
          <a:ln w="12700">
            <a:solidFill>
              <a:srgbClr val="1c27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6" name="TextBox 13"/>
          <p:cNvSpPr/>
          <p:nvPr/>
        </p:nvSpPr>
        <p:spPr>
          <a:xfrm>
            <a:off x="8321040" y="1746360"/>
            <a:ext cx="324576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Noto Sans CJK SC"/>
              </a:rPr>
              <a:t>P2 </a:t>
            </a:r>
            <a:r>
              <a:rPr b="1" lang="zh-CN" sz="1100" spc="-1" strike="noStrike">
                <a:solidFill>
                  <a:srgbClr val="ffffff"/>
                </a:solidFill>
                <a:latin typeface="Noto Sans CJK SC"/>
              </a:rPr>
              <a:t>对照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Rectangle 14"/>
          <p:cNvSpPr/>
          <p:nvPr/>
        </p:nvSpPr>
        <p:spPr>
          <a:xfrm>
            <a:off x="594360" y="2148840"/>
            <a:ext cx="127980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8" name="TextBox 15"/>
          <p:cNvSpPr/>
          <p:nvPr/>
        </p:nvSpPr>
        <p:spPr>
          <a:xfrm>
            <a:off x="649080" y="2258640"/>
            <a:ext cx="11700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D1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Rectangle 16"/>
          <p:cNvSpPr/>
          <p:nvPr/>
        </p:nvSpPr>
        <p:spPr>
          <a:xfrm>
            <a:off x="2057400" y="2148840"/>
            <a:ext cx="255996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0" name="TextBox 17"/>
          <p:cNvSpPr/>
          <p:nvPr/>
        </p:nvSpPr>
        <p:spPr>
          <a:xfrm>
            <a:off x="2112120" y="2258640"/>
            <a:ext cx="245016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20" spc="-1" strike="noStrike">
                <a:solidFill>
                  <a:srgbClr val="477358"/>
                </a:solidFill>
                <a:latin typeface="Noto Sans CJK SC"/>
              </a:rPr>
              <a:t>完成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Rectangle 18"/>
          <p:cNvSpPr/>
          <p:nvPr/>
        </p:nvSpPr>
        <p:spPr>
          <a:xfrm>
            <a:off x="4800600" y="2148840"/>
            <a:ext cx="329148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2" name="TextBox 19"/>
          <p:cNvSpPr/>
          <p:nvPr/>
        </p:nvSpPr>
        <p:spPr>
          <a:xfrm>
            <a:off x="4855320" y="2258640"/>
            <a:ext cx="3181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长 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replay / CI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标定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Rectangle 20"/>
          <p:cNvSpPr/>
          <p:nvPr/>
        </p:nvSpPr>
        <p:spPr>
          <a:xfrm>
            <a:off x="8275320" y="2148840"/>
            <a:ext cx="333720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4" name="TextBox 21"/>
          <p:cNvSpPr/>
          <p:nvPr/>
        </p:nvSpPr>
        <p:spPr>
          <a:xfrm>
            <a:off x="8330040" y="2258640"/>
            <a:ext cx="32274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未启动第三方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Rectangle 22"/>
          <p:cNvSpPr/>
          <p:nvPr/>
        </p:nvSpPr>
        <p:spPr>
          <a:xfrm>
            <a:off x="594360" y="2688480"/>
            <a:ext cx="127980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6" name="TextBox 23"/>
          <p:cNvSpPr/>
          <p:nvPr/>
        </p:nvSpPr>
        <p:spPr>
          <a:xfrm>
            <a:off x="649080" y="2797920"/>
            <a:ext cx="11700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D2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Rectangle 24"/>
          <p:cNvSpPr/>
          <p:nvPr/>
        </p:nvSpPr>
        <p:spPr>
          <a:xfrm>
            <a:off x="2057400" y="2688480"/>
            <a:ext cx="255996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8" name="TextBox 25"/>
          <p:cNvSpPr/>
          <p:nvPr/>
        </p:nvSpPr>
        <p:spPr>
          <a:xfrm>
            <a:off x="2112120" y="2797920"/>
            <a:ext cx="245016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20" spc="-1" strike="noStrike">
                <a:solidFill>
                  <a:srgbClr val="477358"/>
                </a:solidFill>
                <a:latin typeface="Noto Sans CJK SC"/>
              </a:rPr>
              <a:t>完成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Rectangle 26"/>
          <p:cNvSpPr/>
          <p:nvPr/>
        </p:nvSpPr>
        <p:spPr>
          <a:xfrm>
            <a:off x="4800600" y="2688480"/>
            <a:ext cx="329148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0" name="TextBox 27"/>
          <p:cNvSpPr/>
          <p:nvPr/>
        </p:nvSpPr>
        <p:spPr>
          <a:xfrm>
            <a:off x="4855320" y="2797920"/>
            <a:ext cx="3181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真实 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crossing replay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Rectangle 28"/>
          <p:cNvSpPr/>
          <p:nvPr/>
        </p:nvSpPr>
        <p:spPr>
          <a:xfrm>
            <a:off x="8275320" y="2688480"/>
            <a:ext cx="333720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2" name="TextBox 29"/>
          <p:cNvSpPr/>
          <p:nvPr/>
        </p:nvSpPr>
        <p:spPr>
          <a:xfrm>
            <a:off x="8330040" y="2797920"/>
            <a:ext cx="32274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Stone Soup/FilterPy adapter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Rectangle 30"/>
          <p:cNvSpPr/>
          <p:nvPr/>
        </p:nvSpPr>
        <p:spPr>
          <a:xfrm>
            <a:off x="594360" y="3227760"/>
            <a:ext cx="127980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4" name="TextBox 31"/>
          <p:cNvSpPr/>
          <p:nvPr/>
        </p:nvSpPr>
        <p:spPr>
          <a:xfrm>
            <a:off x="649080" y="3337560"/>
            <a:ext cx="11700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D3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Rectangle 32"/>
          <p:cNvSpPr/>
          <p:nvPr/>
        </p:nvSpPr>
        <p:spPr>
          <a:xfrm>
            <a:off x="2057400" y="3227760"/>
            <a:ext cx="255996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6" name="TextBox 33"/>
          <p:cNvSpPr/>
          <p:nvPr/>
        </p:nvSpPr>
        <p:spPr>
          <a:xfrm>
            <a:off x="2112120" y="3337560"/>
            <a:ext cx="245016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20" spc="-1" strike="noStrike">
                <a:solidFill>
                  <a:srgbClr val="477358"/>
                </a:solidFill>
                <a:latin typeface="Noto Sans CJK SC"/>
              </a:rPr>
              <a:t>完成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Rectangle 34"/>
          <p:cNvSpPr/>
          <p:nvPr/>
        </p:nvSpPr>
        <p:spPr>
          <a:xfrm>
            <a:off x="4800600" y="3227760"/>
            <a:ext cx="329148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8" name="TextBox 35"/>
          <p:cNvSpPr/>
          <p:nvPr/>
        </p:nvSpPr>
        <p:spPr>
          <a:xfrm>
            <a:off x="4855320" y="3337560"/>
            <a:ext cx="3181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动态非等量标定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Rectangle 36"/>
          <p:cNvSpPr/>
          <p:nvPr/>
        </p:nvSpPr>
        <p:spPr>
          <a:xfrm>
            <a:off x="8275320" y="3227760"/>
            <a:ext cx="333720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0" name="TextBox 37"/>
          <p:cNvSpPr/>
          <p:nvPr/>
        </p:nvSpPr>
        <p:spPr>
          <a:xfrm>
            <a:off x="8330040" y="3337560"/>
            <a:ext cx="32274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OR-Tools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仅接口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Rectangle 38"/>
          <p:cNvSpPr/>
          <p:nvPr/>
        </p:nvSpPr>
        <p:spPr>
          <a:xfrm>
            <a:off x="594360" y="3767400"/>
            <a:ext cx="127980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2" name="TextBox 39"/>
          <p:cNvSpPr/>
          <p:nvPr/>
        </p:nvSpPr>
        <p:spPr>
          <a:xfrm>
            <a:off x="649080" y="3877200"/>
            <a:ext cx="11700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D4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Rectangle 40"/>
          <p:cNvSpPr/>
          <p:nvPr/>
        </p:nvSpPr>
        <p:spPr>
          <a:xfrm>
            <a:off x="2057400" y="3767400"/>
            <a:ext cx="255996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4" name="TextBox 41"/>
          <p:cNvSpPr/>
          <p:nvPr/>
        </p:nvSpPr>
        <p:spPr>
          <a:xfrm>
            <a:off x="2112120" y="3877200"/>
            <a:ext cx="245016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20" spc="-1" strike="noStrike">
                <a:solidFill>
                  <a:srgbClr val="477358"/>
                </a:solidFill>
                <a:latin typeface="Noto Sans CJK SC"/>
              </a:rPr>
              <a:t>完成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Rectangle 42"/>
          <p:cNvSpPr/>
          <p:nvPr/>
        </p:nvSpPr>
        <p:spPr>
          <a:xfrm>
            <a:off x="4800600" y="3767400"/>
            <a:ext cx="329148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6" name="TextBox 43"/>
          <p:cNvSpPr/>
          <p:nvPr/>
        </p:nvSpPr>
        <p:spPr>
          <a:xfrm>
            <a:off x="4855320" y="3877200"/>
            <a:ext cx="3181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扰动矩阵 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/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重构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Rectangle 44"/>
          <p:cNvSpPr/>
          <p:nvPr/>
        </p:nvSpPr>
        <p:spPr>
          <a:xfrm>
            <a:off x="8275320" y="3767400"/>
            <a:ext cx="333720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8" name="TextBox 45"/>
          <p:cNvSpPr/>
          <p:nvPr/>
        </p:nvSpPr>
        <p:spPr>
          <a:xfrm>
            <a:off x="8330040" y="3877200"/>
            <a:ext cx="32274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外部 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CBBA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未接入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Rectangle 46"/>
          <p:cNvSpPr/>
          <p:nvPr/>
        </p:nvSpPr>
        <p:spPr>
          <a:xfrm>
            <a:off x="594360" y="4306680"/>
            <a:ext cx="127980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0" name="TextBox 47"/>
          <p:cNvSpPr/>
          <p:nvPr/>
        </p:nvSpPr>
        <p:spPr>
          <a:xfrm>
            <a:off x="649080" y="4416480"/>
            <a:ext cx="11700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D5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Rectangle 48"/>
          <p:cNvSpPr/>
          <p:nvPr/>
        </p:nvSpPr>
        <p:spPr>
          <a:xfrm>
            <a:off x="2057400" y="4306680"/>
            <a:ext cx="255996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TextBox 49"/>
          <p:cNvSpPr/>
          <p:nvPr/>
        </p:nvSpPr>
        <p:spPr>
          <a:xfrm>
            <a:off x="2112120" y="4416480"/>
            <a:ext cx="245016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20" spc="-1" strike="noStrike">
                <a:solidFill>
                  <a:srgbClr val="477358"/>
                </a:solidFill>
                <a:latin typeface="Noto Sans CJK SC"/>
              </a:rPr>
              <a:t>8/10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Rectangle 50"/>
          <p:cNvSpPr/>
          <p:nvPr/>
        </p:nvSpPr>
        <p:spPr>
          <a:xfrm>
            <a:off x="4800600" y="4306680"/>
            <a:ext cx="329148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4" name="TextBox 51"/>
          <p:cNvSpPr/>
          <p:nvPr/>
        </p:nvSpPr>
        <p:spPr>
          <a:xfrm>
            <a:off x="4855320" y="4416480"/>
            <a:ext cx="3181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持续检测 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/ control gate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Rectangle 52"/>
          <p:cNvSpPr/>
          <p:nvPr/>
        </p:nvSpPr>
        <p:spPr>
          <a:xfrm>
            <a:off x="8275320" y="4306680"/>
            <a:ext cx="333720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6" name="TextBox 53"/>
          <p:cNvSpPr/>
          <p:nvPr/>
        </p:nvSpPr>
        <p:spPr>
          <a:xfrm>
            <a:off x="8330040" y="4416480"/>
            <a:ext cx="32274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PnP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合成对照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Rectangle 54"/>
          <p:cNvSpPr/>
          <p:nvPr/>
        </p:nvSpPr>
        <p:spPr>
          <a:xfrm>
            <a:off x="594360" y="4846320"/>
            <a:ext cx="127980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8" name="TextBox 55"/>
          <p:cNvSpPr/>
          <p:nvPr/>
        </p:nvSpPr>
        <p:spPr>
          <a:xfrm>
            <a:off x="649080" y="4956120"/>
            <a:ext cx="11700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D6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Rectangle 56"/>
          <p:cNvSpPr/>
          <p:nvPr/>
        </p:nvSpPr>
        <p:spPr>
          <a:xfrm>
            <a:off x="2057400" y="4846320"/>
            <a:ext cx="255996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0" name="TextBox 57"/>
          <p:cNvSpPr/>
          <p:nvPr/>
        </p:nvSpPr>
        <p:spPr>
          <a:xfrm>
            <a:off x="2112120" y="4956120"/>
            <a:ext cx="245016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20" spc="-1" strike="noStrike">
                <a:solidFill>
                  <a:srgbClr val="477358"/>
                </a:solidFill>
                <a:latin typeface="Noto Sans CJK SC"/>
              </a:rPr>
              <a:t>完成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Rectangle 58"/>
          <p:cNvSpPr/>
          <p:nvPr/>
        </p:nvSpPr>
        <p:spPr>
          <a:xfrm>
            <a:off x="4800600" y="4846320"/>
            <a:ext cx="329148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2" name="TextBox 59"/>
          <p:cNvSpPr/>
          <p:nvPr/>
        </p:nvSpPr>
        <p:spPr>
          <a:xfrm>
            <a:off x="4855320" y="4956120"/>
            <a:ext cx="3181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长期场景库 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/ CI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Rectangle 60"/>
          <p:cNvSpPr/>
          <p:nvPr/>
        </p:nvSpPr>
        <p:spPr>
          <a:xfrm>
            <a:off x="8275320" y="4846320"/>
            <a:ext cx="3337200" cy="475200"/>
          </a:xfrm>
          <a:prstGeom prst="rect">
            <a:avLst/>
          </a:prstGeom>
          <a:solidFill>
            <a:srgbClr val="eef1f4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4" name="TextBox 61"/>
          <p:cNvSpPr/>
          <p:nvPr/>
        </p:nvSpPr>
        <p:spPr>
          <a:xfrm>
            <a:off x="8330040" y="4956120"/>
            <a:ext cx="32274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motmetrics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两帧 </a:t>
            </a: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smoke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Rectangle 62"/>
          <p:cNvSpPr/>
          <p:nvPr/>
        </p:nvSpPr>
        <p:spPr>
          <a:xfrm>
            <a:off x="594360" y="5385960"/>
            <a:ext cx="127980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6" name="TextBox 63"/>
          <p:cNvSpPr/>
          <p:nvPr/>
        </p:nvSpPr>
        <p:spPr>
          <a:xfrm>
            <a:off x="649080" y="5495400"/>
            <a:ext cx="11700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D7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Rectangle 64"/>
          <p:cNvSpPr/>
          <p:nvPr/>
        </p:nvSpPr>
        <p:spPr>
          <a:xfrm>
            <a:off x="2057400" y="5385960"/>
            <a:ext cx="255996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8" name="TextBox 65"/>
          <p:cNvSpPr/>
          <p:nvPr/>
        </p:nvSpPr>
        <p:spPr>
          <a:xfrm>
            <a:off x="2112120" y="5495400"/>
            <a:ext cx="245016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20" spc="-1" strike="noStrike">
                <a:solidFill>
                  <a:srgbClr val="477358"/>
                </a:solidFill>
                <a:latin typeface="Noto Sans CJK SC"/>
              </a:rPr>
              <a:t>完成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Rectangle 66"/>
          <p:cNvSpPr/>
          <p:nvPr/>
        </p:nvSpPr>
        <p:spPr>
          <a:xfrm>
            <a:off x="4800600" y="5385960"/>
            <a:ext cx="329148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0" name="TextBox 67"/>
          <p:cNvSpPr/>
          <p:nvPr/>
        </p:nvSpPr>
        <p:spPr>
          <a:xfrm>
            <a:off x="4855320" y="5495400"/>
            <a:ext cx="3181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0/30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物理闭环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Rectangle 68"/>
          <p:cNvSpPr/>
          <p:nvPr/>
        </p:nvSpPr>
        <p:spPr>
          <a:xfrm>
            <a:off x="8275320" y="5385960"/>
            <a:ext cx="3337200" cy="4752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2" name="TextBox 69"/>
          <p:cNvSpPr/>
          <p:nvPr/>
        </p:nvSpPr>
        <p:spPr>
          <a:xfrm>
            <a:off x="8330040" y="5495400"/>
            <a:ext cx="322740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20" spc="-1" strike="noStrike">
                <a:solidFill>
                  <a:srgbClr val="1c2733"/>
                </a:solidFill>
                <a:latin typeface="Noto Sans CJK SC"/>
              </a:rPr>
              <a:t>3D/APN/FRPN </a:t>
            </a:r>
            <a:r>
              <a:rPr b="0" lang="zh-CN" sz="1020" spc="-1" strike="noStrike">
                <a:solidFill>
                  <a:srgbClr val="1c2733"/>
                </a:solidFill>
                <a:latin typeface="Noto Sans CJK SC"/>
              </a:rPr>
              <a:t>质点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Rectangle 70"/>
          <p:cNvSpPr/>
          <p:nvPr/>
        </p:nvSpPr>
        <p:spPr>
          <a:xfrm>
            <a:off x="960120" y="6053400"/>
            <a:ext cx="10240920" cy="456840"/>
          </a:xfrm>
          <a:prstGeom prst="rect">
            <a:avLst/>
          </a:prstGeom>
          <a:solidFill>
            <a:srgbClr val="eaf0f5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4" name="Rectangle 71"/>
          <p:cNvSpPr/>
          <p:nvPr/>
        </p:nvSpPr>
        <p:spPr>
          <a:xfrm>
            <a:off x="960120" y="6053400"/>
            <a:ext cx="63720" cy="456840"/>
          </a:xfrm>
          <a:prstGeom prst="rect">
            <a:avLst/>
          </a:prstGeom>
          <a:solidFill>
            <a:srgbClr val="315b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5" name="TextBox 72"/>
          <p:cNvSpPr/>
          <p:nvPr/>
        </p:nvSpPr>
        <p:spPr>
          <a:xfrm>
            <a:off x="1124640" y="6190560"/>
            <a:ext cx="994824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150" spc="-1" strike="noStrike">
                <a:solidFill>
                  <a:srgbClr val="1c2733"/>
                </a:solidFill>
                <a:latin typeface="Noto Sans CJK SC"/>
              </a:rPr>
              <a:t>总体判断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TextBox 73"/>
          <p:cNvSpPr/>
          <p:nvPr/>
        </p:nvSpPr>
        <p:spPr>
          <a:xfrm>
            <a:off x="1124640" y="6391800"/>
            <a:ext cx="9948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P1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合同层可支撑继续仿真集成；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P1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物理闭环是下一阶段主线；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P2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只做隔离对照，不替换默认算法。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Rectangle 74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8" name="TextBox 75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Box 76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24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1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下一阶段工作计划与资源建议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先关闭物理闭环，再进入更真实飞控和硬件联试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5" name="Rectangle 6"/>
          <p:cNvSpPr/>
          <p:nvPr/>
        </p:nvSpPr>
        <p:spPr>
          <a:xfrm>
            <a:off x="731520" y="1691640"/>
            <a:ext cx="2514240" cy="804240"/>
          </a:xfrm>
          <a:prstGeom prst="rect">
            <a:avLst/>
          </a:prstGeom>
          <a:solidFill>
            <a:srgbClr val="f4eaea"/>
          </a:solidFill>
          <a:ln w="15240">
            <a:solidFill>
              <a:srgbClr val="a83b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6" name="TextBox 7"/>
          <p:cNvSpPr/>
          <p:nvPr/>
        </p:nvSpPr>
        <p:spPr>
          <a:xfrm>
            <a:off x="841320" y="1801440"/>
            <a:ext cx="22946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83b3b"/>
                </a:solidFill>
                <a:latin typeface="Noto Sans CJK SC"/>
              </a:rPr>
              <a:t>阶段 </a:t>
            </a:r>
            <a:r>
              <a:rPr b="1" lang="en-US" sz="1300" spc="-1" strike="noStrike">
                <a:solidFill>
                  <a:srgbClr val="a83b3b"/>
                </a:solidFill>
                <a:latin typeface="Noto Sans CJK SC"/>
              </a:rPr>
              <a:t>1</a:t>
            </a:r>
            <a:r>
              <a:rPr b="1" lang="zh-CN" sz="1300" spc="-1" strike="noStrike">
                <a:solidFill>
                  <a:srgbClr val="a83b3b"/>
                </a:solidFill>
                <a:latin typeface="Noto Sans CJK SC"/>
              </a:rPr>
              <a:t>：视觉漏斗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TextBox 8"/>
          <p:cNvSpPr/>
          <p:nvPr/>
        </p:nvSpPr>
        <p:spPr>
          <a:xfrm>
            <a:off x="841320" y="2103120"/>
            <a:ext cx="2294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检测持续性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 MOT /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外参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Rectangle 9"/>
          <p:cNvSpPr/>
          <p:nvPr/>
        </p:nvSpPr>
        <p:spPr>
          <a:xfrm>
            <a:off x="3520440" y="1691640"/>
            <a:ext cx="2514240" cy="804240"/>
          </a:xfrm>
          <a:prstGeom prst="rect">
            <a:avLst/>
          </a:prstGeom>
          <a:solidFill>
            <a:srgbClr val="f5f0e6"/>
          </a:solidFill>
          <a:ln w="1524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9" name="TextBox 10"/>
          <p:cNvSpPr/>
          <p:nvPr/>
        </p:nvSpPr>
        <p:spPr>
          <a:xfrm>
            <a:off x="3630240" y="1801440"/>
            <a:ext cx="22946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97422"/>
                </a:solidFill>
                <a:latin typeface="Noto Sans CJK SC"/>
              </a:rPr>
              <a:t>阶段 </a:t>
            </a:r>
            <a:r>
              <a:rPr b="1" lang="en-US" sz="1300" spc="-1" strike="noStrike">
                <a:solidFill>
                  <a:srgbClr val="a97422"/>
                </a:solidFill>
                <a:latin typeface="Noto Sans CJK SC"/>
              </a:rPr>
              <a:t>2</a:t>
            </a:r>
            <a:r>
              <a:rPr b="1" lang="zh-CN" sz="1300" spc="-1" strike="noStrike">
                <a:solidFill>
                  <a:srgbClr val="a97422"/>
                </a:solidFill>
                <a:latin typeface="Noto Sans CJK SC"/>
              </a:rPr>
              <a:t>：物理闭环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TextBox 11"/>
          <p:cNvSpPr/>
          <p:nvPr/>
        </p:nvSpPr>
        <p:spPr>
          <a:xfrm>
            <a:off x="3630240" y="2103120"/>
            <a:ext cx="2294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90 s /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更高频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多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seed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Rectangle 12"/>
          <p:cNvSpPr/>
          <p:nvPr/>
        </p:nvSpPr>
        <p:spPr>
          <a:xfrm>
            <a:off x="6309360" y="1691640"/>
            <a:ext cx="2514240" cy="804240"/>
          </a:xfrm>
          <a:prstGeom prst="rect">
            <a:avLst/>
          </a:prstGeom>
          <a:solidFill>
            <a:srgbClr val="eaf2f2"/>
          </a:solidFill>
          <a:ln w="1524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2" name="TextBox 13"/>
          <p:cNvSpPr/>
          <p:nvPr/>
        </p:nvSpPr>
        <p:spPr>
          <a:xfrm>
            <a:off x="6419160" y="1801440"/>
            <a:ext cx="22946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28777c"/>
                </a:solidFill>
                <a:latin typeface="Noto Sans CJK SC"/>
              </a:rPr>
              <a:t>阶段 </a:t>
            </a:r>
            <a:r>
              <a:rPr b="1" lang="en-US" sz="1300" spc="-1" strike="noStrike">
                <a:solidFill>
                  <a:srgbClr val="28777c"/>
                </a:solidFill>
                <a:latin typeface="Noto Sans CJK SC"/>
              </a:rPr>
              <a:t>3</a:t>
            </a:r>
            <a:r>
              <a:rPr b="1" lang="zh-CN" sz="1300" spc="-1" strike="noStrike">
                <a:solidFill>
                  <a:srgbClr val="28777c"/>
                </a:solidFill>
                <a:latin typeface="Noto Sans CJK SC"/>
              </a:rPr>
              <a:t>：鲁棒协同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Box 14"/>
          <p:cNvSpPr/>
          <p:nvPr/>
        </p:nvSpPr>
        <p:spPr>
          <a:xfrm>
            <a:off x="6419160" y="2103120"/>
            <a:ext cx="2294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成员重构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网络分区 </a:t>
            </a: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/ 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恢复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Rectangle 15"/>
          <p:cNvSpPr/>
          <p:nvPr/>
        </p:nvSpPr>
        <p:spPr>
          <a:xfrm>
            <a:off x="9098280" y="1691640"/>
            <a:ext cx="2331360" cy="804240"/>
          </a:xfrm>
          <a:prstGeom prst="rect">
            <a:avLst/>
          </a:prstGeom>
          <a:solidFill>
            <a:srgbClr val="eaf0f5"/>
          </a:solidFill>
          <a:ln w="1524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5" name="TextBox 16"/>
          <p:cNvSpPr/>
          <p:nvPr/>
        </p:nvSpPr>
        <p:spPr>
          <a:xfrm>
            <a:off x="9208080" y="1801440"/>
            <a:ext cx="2111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315b82"/>
                </a:solidFill>
                <a:latin typeface="Noto Sans CJK SC"/>
              </a:rPr>
              <a:t>阶段 </a:t>
            </a:r>
            <a:r>
              <a:rPr b="1" lang="en-US" sz="1300" spc="-1" strike="noStrike">
                <a:solidFill>
                  <a:srgbClr val="315b82"/>
                </a:solidFill>
                <a:latin typeface="Noto Sans CJK SC"/>
              </a:rPr>
              <a:t>4</a:t>
            </a:r>
            <a:r>
              <a:rPr b="1" lang="zh-CN" sz="1300" spc="-1" strike="noStrike">
                <a:solidFill>
                  <a:srgbClr val="315b82"/>
                </a:solidFill>
                <a:latin typeface="Noto Sans CJK SC"/>
              </a:rPr>
              <a:t>：工程化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TextBox 17"/>
          <p:cNvSpPr/>
          <p:nvPr/>
        </p:nvSpPr>
        <p:spPr>
          <a:xfrm>
            <a:off x="9208080" y="2103120"/>
            <a:ext cx="2111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596673"/>
                </a:solidFill>
                <a:latin typeface="Noto Sans CJK SC"/>
              </a:rPr>
              <a:t>PX4/ROS2/</a:t>
            </a:r>
            <a:r>
              <a:rPr b="0" lang="zh-CN" sz="950" spc="-1" strike="noStrike">
                <a:solidFill>
                  <a:srgbClr val="596673"/>
                </a:solidFill>
                <a:latin typeface="Noto Sans CJK SC"/>
              </a:rPr>
              <a:t>硬件在环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87" name="Connector 18"/>
          <p:cNvCxnSpPr/>
          <p:nvPr/>
        </p:nvCxnSpPr>
        <p:spPr>
          <a:xfrm>
            <a:off x="3273480" y="2084760"/>
            <a:ext cx="219600" cy="360"/>
          </a:xfrm>
          <a:prstGeom prst="straightConnector1">
            <a:avLst/>
          </a:prstGeom>
          <a:ln w="19050">
            <a:solidFill>
              <a:srgbClr val="596673"/>
            </a:solidFill>
            <a:round/>
          </a:ln>
        </p:spPr>
      </p:cxnSp>
      <p:cxnSp>
        <p:nvCxnSpPr>
          <p:cNvPr id="888" name="Connector 19"/>
          <p:cNvCxnSpPr/>
          <p:nvPr/>
        </p:nvCxnSpPr>
        <p:spPr>
          <a:xfrm>
            <a:off x="6062400" y="2084760"/>
            <a:ext cx="219600" cy="360"/>
          </a:xfrm>
          <a:prstGeom prst="straightConnector1">
            <a:avLst/>
          </a:prstGeom>
          <a:ln w="19050">
            <a:solidFill>
              <a:srgbClr val="596673"/>
            </a:solidFill>
            <a:round/>
          </a:ln>
        </p:spPr>
      </p:cxnSp>
      <p:cxnSp>
        <p:nvCxnSpPr>
          <p:cNvPr id="889" name="Connector 20"/>
          <p:cNvCxnSpPr/>
          <p:nvPr/>
        </p:nvCxnSpPr>
        <p:spPr>
          <a:xfrm>
            <a:off x="8851320" y="2084760"/>
            <a:ext cx="219600" cy="360"/>
          </a:xfrm>
          <a:prstGeom prst="straightConnector1">
            <a:avLst/>
          </a:prstGeom>
          <a:ln w="19050">
            <a:solidFill>
              <a:srgbClr val="596673"/>
            </a:solidFill>
            <a:round/>
          </a:ln>
        </p:spPr>
      </p:cxnSp>
      <p:sp>
        <p:nvSpPr>
          <p:cNvPr id="890" name="TextBox 21"/>
          <p:cNvSpPr/>
          <p:nvPr/>
        </p:nvSpPr>
        <p:spPr>
          <a:xfrm>
            <a:off x="822960" y="3063240"/>
            <a:ext cx="16455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c2733"/>
                </a:solidFill>
                <a:latin typeface="Noto Sans CJK SC"/>
              </a:rPr>
              <a:t>资源与组织建议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Rectangle 22"/>
          <p:cNvSpPr/>
          <p:nvPr/>
        </p:nvSpPr>
        <p:spPr>
          <a:xfrm>
            <a:off x="822960" y="3566160"/>
            <a:ext cx="5074560" cy="868320"/>
          </a:xfrm>
          <a:prstGeom prst="rect">
            <a:avLst/>
          </a:prstGeom>
          <a:solidFill>
            <a:srgbClr val="f4eaea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2" name="Rectangle 23"/>
          <p:cNvSpPr/>
          <p:nvPr/>
        </p:nvSpPr>
        <p:spPr>
          <a:xfrm>
            <a:off x="822960" y="3566160"/>
            <a:ext cx="63720" cy="86832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3" name="TextBox 24"/>
          <p:cNvSpPr/>
          <p:nvPr/>
        </p:nvSpPr>
        <p:spPr>
          <a:xfrm>
            <a:off x="987480" y="3703320"/>
            <a:ext cx="47818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资源聚焦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TextBox 25"/>
          <p:cNvSpPr/>
          <p:nvPr/>
        </p:nvSpPr>
        <p:spPr>
          <a:xfrm>
            <a:off x="987480" y="4087440"/>
            <a:ext cx="47818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短期停止扩展新算法名录，集中攻克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D5/D7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物理闭环。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Rectangle 26"/>
          <p:cNvSpPr/>
          <p:nvPr/>
        </p:nvSpPr>
        <p:spPr>
          <a:xfrm>
            <a:off x="6309360" y="3566160"/>
            <a:ext cx="5074560" cy="868320"/>
          </a:xfrm>
          <a:prstGeom prst="rect">
            <a:avLst/>
          </a:prstGeom>
          <a:solidFill>
            <a:srgbClr val="ebf1ed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6" name="Rectangle 27"/>
          <p:cNvSpPr/>
          <p:nvPr/>
        </p:nvSpPr>
        <p:spPr>
          <a:xfrm>
            <a:off x="6309360" y="3566160"/>
            <a:ext cx="63720" cy="868320"/>
          </a:xfrm>
          <a:prstGeom prst="rect">
            <a:avLst/>
          </a:prstGeom>
          <a:solidFill>
            <a:srgbClr val="4773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7" name="TextBox 28"/>
          <p:cNvSpPr/>
          <p:nvPr/>
        </p:nvSpPr>
        <p:spPr>
          <a:xfrm>
            <a:off x="6473880" y="3703320"/>
            <a:ext cx="47818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验证门槛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TextBox 29"/>
          <p:cNvSpPr/>
          <p:nvPr/>
        </p:nvSpPr>
        <p:spPr>
          <a:xfrm>
            <a:off x="6473880" y="4087440"/>
            <a:ext cx="47818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以长时多 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seed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、分层失败原因和可复现报告作为阶段验收。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Rectangle 30"/>
          <p:cNvSpPr/>
          <p:nvPr/>
        </p:nvSpPr>
        <p:spPr>
          <a:xfrm>
            <a:off x="822960" y="4645080"/>
            <a:ext cx="5074560" cy="868320"/>
          </a:xfrm>
          <a:prstGeom prst="rect">
            <a:avLst/>
          </a:prstGeom>
          <a:solidFill>
            <a:srgbClr val="eaf0f5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0" name="Rectangle 31"/>
          <p:cNvSpPr/>
          <p:nvPr/>
        </p:nvSpPr>
        <p:spPr>
          <a:xfrm>
            <a:off x="822960" y="4645080"/>
            <a:ext cx="63720" cy="868320"/>
          </a:xfrm>
          <a:prstGeom prst="rect">
            <a:avLst/>
          </a:prstGeom>
          <a:solidFill>
            <a:srgbClr val="315b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1" name="TextBox 32"/>
          <p:cNvSpPr/>
          <p:nvPr/>
        </p:nvSpPr>
        <p:spPr>
          <a:xfrm>
            <a:off x="987480" y="4782240"/>
            <a:ext cx="47818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平台路线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TextBox 33"/>
          <p:cNvSpPr/>
          <p:nvPr/>
        </p:nvSpPr>
        <p:spPr>
          <a:xfrm>
            <a:off x="987480" y="5166360"/>
            <a:ext cx="47818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AirSim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继续作为统一仿真入口；</a:t>
            </a:r>
            <a:r>
              <a:rPr b="0" lang="en-US" sz="1050" spc="-1" strike="noStrike">
                <a:solidFill>
                  <a:srgbClr val="596673"/>
                </a:solidFill>
                <a:latin typeface="Noto Sans CJK SC"/>
              </a:rPr>
              <a:t>P2 </a:t>
            </a: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依赖保持隔离，不污染主线。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Rectangle 34"/>
          <p:cNvSpPr/>
          <p:nvPr/>
        </p:nvSpPr>
        <p:spPr>
          <a:xfrm>
            <a:off x="6309360" y="4645080"/>
            <a:ext cx="5074560" cy="868320"/>
          </a:xfrm>
          <a:prstGeom prst="rect">
            <a:avLst/>
          </a:prstGeom>
          <a:solidFill>
            <a:srgbClr val="eaf2f2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4" name="Rectangle 35"/>
          <p:cNvSpPr/>
          <p:nvPr/>
        </p:nvSpPr>
        <p:spPr>
          <a:xfrm>
            <a:off x="6309360" y="4645080"/>
            <a:ext cx="63720" cy="868320"/>
          </a:xfrm>
          <a:prstGeom prst="rect">
            <a:avLst/>
          </a:prstGeom>
          <a:solidFill>
            <a:srgbClr val="2877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5" name="TextBox 36"/>
          <p:cNvSpPr/>
          <p:nvPr/>
        </p:nvSpPr>
        <p:spPr>
          <a:xfrm>
            <a:off x="6473880" y="4782240"/>
            <a:ext cx="47818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c2733"/>
                </a:solidFill>
                <a:latin typeface="Noto Sans CJK SC"/>
              </a:rPr>
              <a:t>工程准备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TextBox 37"/>
          <p:cNvSpPr/>
          <p:nvPr/>
        </p:nvSpPr>
        <p:spPr>
          <a:xfrm>
            <a:off x="6473880" y="5166360"/>
            <a:ext cx="47818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050" spc="-1" strike="noStrike">
                <a:solidFill>
                  <a:srgbClr val="596673"/>
                </a:solidFill>
                <a:latin typeface="Noto Sans CJK SC"/>
              </a:rPr>
              <a:t>同步冻结传感器、通信、算力和相机标定接口，为后续硬件在环做准备。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Rectangle 38"/>
          <p:cNvSpPr/>
          <p:nvPr/>
        </p:nvSpPr>
        <p:spPr>
          <a:xfrm>
            <a:off x="960120" y="5833800"/>
            <a:ext cx="10240920" cy="529920"/>
          </a:xfrm>
          <a:prstGeom prst="rect">
            <a:avLst/>
          </a:prstGeom>
          <a:solidFill>
            <a:srgbClr val="263746"/>
          </a:solidFill>
          <a:ln w="12700">
            <a:solidFill>
              <a:srgbClr val="26374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8" name="TextBox 39"/>
          <p:cNvSpPr/>
          <p:nvPr/>
        </p:nvSpPr>
        <p:spPr>
          <a:xfrm>
            <a:off x="1188720" y="5970960"/>
            <a:ext cx="97837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ffffff"/>
                </a:solidFill>
                <a:latin typeface="Noto Sans CJK SC"/>
              </a:rPr>
              <a:t>阶段验收目标：物理闭环完成，失败原因可分层统计，实验结果可复现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Rectangle 40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0" name="TextBox 41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领导汇报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Box 42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25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3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附录 </a:t>
            </a: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A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：主要节点能力指标建议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指标来自当前 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D1-D7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处理周期、</a:t>
            </a:r>
            <a:r>
              <a:rPr b="0" lang="en-US" sz="1150" spc="-1" strike="noStrike">
                <a:solidFill>
                  <a:srgbClr val="596673"/>
                </a:solidFill>
                <a:latin typeface="Noto Sans CJK SC"/>
              </a:rPr>
              <a:t>AirSim </a:t>
            </a: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验证条件和工程样机需求分解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7" name="Rectangle 6"/>
          <p:cNvSpPr/>
          <p:nvPr/>
        </p:nvSpPr>
        <p:spPr>
          <a:xfrm>
            <a:off x="685800" y="1572840"/>
            <a:ext cx="5348880" cy="2011320"/>
          </a:xfrm>
          <a:prstGeom prst="rect">
            <a:avLst/>
          </a:prstGeom>
          <a:solidFill>
            <a:srgbClr val="ffffff"/>
          </a:solidFill>
          <a:ln w="1651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8" name="Rectangle 7"/>
          <p:cNvSpPr/>
          <p:nvPr/>
        </p:nvSpPr>
        <p:spPr>
          <a:xfrm>
            <a:off x="685800" y="1572840"/>
            <a:ext cx="5348880" cy="438480"/>
          </a:xfrm>
          <a:prstGeom prst="rect">
            <a:avLst/>
          </a:prstGeom>
          <a:solidFill>
            <a:srgbClr val="eaf0f5"/>
          </a:solidFill>
          <a:ln w="10160">
            <a:solidFill>
              <a:srgbClr val="315b8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9" name="TextBox 8"/>
          <p:cNvSpPr/>
          <p:nvPr/>
        </p:nvSpPr>
        <p:spPr>
          <a:xfrm>
            <a:off x="850320" y="1682640"/>
            <a:ext cx="49831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315b82"/>
                </a:solidFill>
                <a:latin typeface="Noto Sans CJK SC"/>
              </a:rPr>
              <a:t>中心节点 </a:t>
            </a:r>
            <a:r>
              <a:rPr b="1" lang="en-US" sz="1400" spc="-1" strike="noStrike">
                <a:solidFill>
                  <a:srgbClr val="315b82"/>
                </a:solidFill>
                <a:latin typeface="Noto Sans CJK SC"/>
              </a:rPr>
              <a:t>C2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9"/>
          <p:cNvSpPr/>
          <p:nvPr/>
        </p:nvSpPr>
        <p:spPr>
          <a:xfrm>
            <a:off x="868680" y="2139840"/>
            <a:ext cx="4891680" cy="11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18360" tIns="18360" bIns="45000" anchor="t">
            <a:spAutoFit/>
          </a:bodyPr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CPU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16-32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内存：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64-128 GB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存储：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4-8 TB NVMe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GPU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NVIDIA L4 / RTX 6000 Ada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级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航迹到新计划：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&lt;300 ms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Rectangle 10"/>
          <p:cNvSpPr/>
          <p:nvPr/>
        </p:nvSpPr>
        <p:spPr>
          <a:xfrm>
            <a:off x="6355080" y="1572840"/>
            <a:ext cx="5348880" cy="2011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2" name="Rectangle 11"/>
          <p:cNvSpPr/>
          <p:nvPr/>
        </p:nvSpPr>
        <p:spPr>
          <a:xfrm>
            <a:off x="6355080" y="1572840"/>
            <a:ext cx="5348880" cy="438480"/>
          </a:xfrm>
          <a:prstGeom prst="rect">
            <a:avLst/>
          </a:prstGeom>
          <a:solidFill>
            <a:srgbClr val="eaf2f2"/>
          </a:solidFill>
          <a:ln w="10160">
            <a:solidFill>
              <a:srgbClr val="28777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3" name="TextBox 12"/>
          <p:cNvSpPr/>
          <p:nvPr/>
        </p:nvSpPr>
        <p:spPr>
          <a:xfrm>
            <a:off x="6519600" y="1682640"/>
            <a:ext cx="49831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28777c"/>
                </a:solidFill>
                <a:latin typeface="Noto Sans CJK SC"/>
              </a:rPr>
              <a:t>地面雷达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TextBox 13"/>
          <p:cNvSpPr/>
          <p:nvPr/>
        </p:nvSpPr>
        <p:spPr>
          <a:xfrm>
            <a:off x="6537960" y="2139840"/>
            <a:ext cx="4891680" cy="11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18360" tIns="18360" bIns="45000" anchor="t">
            <a:spAutoFit/>
          </a:bodyPr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更新率：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10 Hz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或更高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角精度：约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0.5 deg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级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距离误差：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1-6 m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量级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端到端延时：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&lt;100-200 ms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必须输出时间戳、协方差和质量状态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Rectangle 14"/>
          <p:cNvSpPr/>
          <p:nvPr/>
        </p:nvSpPr>
        <p:spPr>
          <a:xfrm>
            <a:off x="685800" y="3904560"/>
            <a:ext cx="5348880" cy="2011320"/>
          </a:xfrm>
          <a:prstGeom prst="rect">
            <a:avLst/>
          </a:prstGeom>
          <a:solidFill>
            <a:srgbClr val="ffffff"/>
          </a:solidFill>
          <a:ln w="16510">
            <a:solidFill>
              <a:srgbClr val="6255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6" name="Rectangle 15"/>
          <p:cNvSpPr/>
          <p:nvPr/>
        </p:nvSpPr>
        <p:spPr>
          <a:xfrm>
            <a:off x="685800" y="3904560"/>
            <a:ext cx="5348880" cy="438480"/>
          </a:xfrm>
          <a:prstGeom prst="rect">
            <a:avLst/>
          </a:prstGeom>
          <a:solidFill>
            <a:srgbClr val="efecf2"/>
          </a:solidFill>
          <a:ln w="10160">
            <a:solidFill>
              <a:srgbClr val="6255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7" name="TextBox 16"/>
          <p:cNvSpPr/>
          <p:nvPr/>
        </p:nvSpPr>
        <p:spPr>
          <a:xfrm>
            <a:off x="850320" y="4014360"/>
            <a:ext cx="49831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62556f"/>
                </a:solidFill>
                <a:latin typeface="Noto Sans CJK SC"/>
              </a:rPr>
              <a:t>高空侦察二级节点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17"/>
          <p:cNvSpPr/>
          <p:nvPr/>
        </p:nvSpPr>
        <p:spPr>
          <a:xfrm>
            <a:off x="868680" y="4471560"/>
            <a:ext cx="4891680" cy="11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18360" tIns="18360" bIns="45000" anchor="t">
            <a:spAutoFit/>
          </a:bodyPr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试验高度：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50-200 m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分档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续航：机动平台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30-60 min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；系留备选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24-50 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载荷：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2-5 kg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EO/IR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4K/40MP +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热成像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+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云台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/LRF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数据链：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MANET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；系留备选可提供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100 Mbps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Rectangle 18"/>
          <p:cNvSpPr/>
          <p:nvPr/>
        </p:nvSpPr>
        <p:spPr>
          <a:xfrm>
            <a:off x="6355080" y="3904560"/>
            <a:ext cx="5348880" cy="2011320"/>
          </a:xfrm>
          <a:prstGeom prst="rect">
            <a:avLst/>
          </a:prstGeom>
          <a:solidFill>
            <a:srgbClr val="ffffff"/>
          </a:solidFill>
          <a:ln w="1651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0" name="Rectangle 19"/>
          <p:cNvSpPr/>
          <p:nvPr/>
        </p:nvSpPr>
        <p:spPr>
          <a:xfrm>
            <a:off x="6355080" y="3904560"/>
            <a:ext cx="5348880" cy="438480"/>
          </a:xfrm>
          <a:prstGeom prst="rect">
            <a:avLst/>
          </a:prstGeom>
          <a:solidFill>
            <a:srgbClr val="ebf1ed"/>
          </a:solidFill>
          <a:ln w="10160">
            <a:solidFill>
              <a:srgbClr val="4773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1" name="TextBox 20"/>
          <p:cNvSpPr/>
          <p:nvPr/>
        </p:nvSpPr>
        <p:spPr>
          <a:xfrm>
            <a:off x="6519600" y="4014360"/>
            <a:ext cx="49831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477358"/>
                </a:solidFill>
                <a:latin typeface="Noto Sans CJK SC"/>
              </a:rPr>
              <a:t>拦截无人机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TextBox 21"/>
          <p:cNvSpPr/>
          <p:nvPr/>
        </p:nvSpPr>
        <p:spPr>
          <a:xfrm>
            <a:off x="6537960" y="4471560"/>
            <a:ext cx="4891680" cy="11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18360" tIns="18360" bIns="45000" anchor="t">
            <a:spAutoFit/>
          </a:bodyPr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速度比：拦截机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/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目标 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&gt;=1.5-2.0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相机：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2-4 MP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全局快门、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60 fps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机载算力：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Orin Nano/NX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级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续航：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10-20 min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热备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/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巡逻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73"/>
              </a:spcAft>
            </a:pP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• </a:t>
            </a:r>
            <a:r>
              <a:rPr b="0" lang="zh-CN" sz="1050" spc="-1" strike="noStrike">
                <a:solidFill>
                  <a:srgbClr val="1c2733"/>
                </a:solidFill>
                <a:latin typeface="Noto Sans CJK SC"/>
              </a:rPr>
              <a:t>热备起飞响应：</a:t>
            </a:r>
            <a:r>
              <a:rPr b="0" lang="en-US" sz="1050" spc="-1" strike="noStrike">
                <a:solidFill>
                  <a:srgbClr val="1c2733"/>
                </a:solidFill>
                <a:latin typeface="Noto Sans CJK SC"/>
              </a:rPr>
              <a:t>2-10 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Rectangle 22"/>
          <p:cNvSpPr/>
          <p:nvPr/>
        </p:nvSpPr>
        <p:spPr>
          <a:xfrm>
            <a:off x="685800" y="6282000"/>
            <a:ext cx="10972440" cy="200880"/>
          </a:xfrm>
          <a:prstGeom prst="rect">
            <a:avLst/>
          </a:prstGeom>
          <a:solidFill>
            <a:srgbClr val="f2f4f6"/>
          </a:solidFill>
          <a:ln w="1270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4" name="TextBox 23"/>
          <p:cNvSpPr/>
          <p:nvPr/>
        </p:nvSpPr>
        <p:spPr>
          <a:xfrm>
            <a:off x="960120" y="6172200"/>
            <a:ext cx="1042380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工程含义：</a:t>
            </a:r>
            <a:r>
              <a:rPr b="1" lang="en-US" sz="1050" spc="-1" strike="noStrike">
                <a:solidFill>
                  <a:srgbClr val="596673"/>
                </a:solidFill>
                <a:latin typeface="Noto Sans CJK SC"/>
              </a:rPr>
              <a:t>D1-D4 </a:t>
            </a: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的数学计算量较小，主要资源消耗集中在 </a:t>
            </a:r>
            <a:r>
              <a:rPr b="1" lang="en-US" sz="1050" spc="-1" strike="noStrike">
                <a:solidFill>
                  <a:srgbClr val="596673"/>
                </a:solidFill>
                <a:latin typeface="Noto Sans CJK SC"/>
              </a:rPr>
              <a:t>D5 </a:t>
            </a: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多路视频</a:t>
            </a:r>
            <a:r>
              <a:rPr b="1" lang="en-US" sz="1050" spc="-1" strike="noStrike">
                <a:solidFill>
                  <a:srgbClr val="596673"/>
                </a:solidFill>
                <a:latin typeface="Noto Sans CJK SC"/>
              </a:rPr>
              <a:t>/MOT</a:t>
            </a: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、二级视频 </a:t>
            </a:r>
            <a:r>
              <a:rPr b="1" lang="en-US" sz="1050" spc="-1" strike="noStrike">
                <a:solidFill>
                  <a:srgbClr val="596673"/>
                </a:solidFill>
                <a:latin typeface="Noto Sans CJK SC"/>
              </a:rPr>
              <a:t>cue </a:t>
            </a: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和 </a:t>
            </a:r>
            <a:r>
              <a:rPr b="1" lang="en-US" sz="1050" spc="-1" strike="noStrike">
                <a:solidFill>
                  <a:srgbClr val="596673"/>
                </a:solidFill>
                <a:latin typeface="Noto Sans CJK SC"/>
              </a:rPr>
              <a:t>D6 </a:t>
            </a:r>
            <a:r>
              <a:rPr b="1" lang="zh-CN" sz="1050" spc="-1" strike="noStrike">
                <a:solidFill>
                  <a:srgbClr val="596673"/>
                </a:solidFill>
                <a:latin typeface="Noto Sans CJK SC"/>
              </a:rPr>
              <a:t>批量日志。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Rectangle 24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6" name="TextBox 25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26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26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9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附录 </a:t>
            </a: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B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：通信带宽与响应时间预算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默认传输结构化元数据；视频只在指定区域、指定资源之间定向传输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3" name="Rectangle 6"/>
          <p:cNvSpPr/>
          <p:nvPr/>
        </p:nvSpPr>
        <p:spPr>
          <a:xfrm>
            <a:off x="594360" y="1600200"/>
            <a:ext cx="2057040" cy="475200"/>
          </a:xfrm>
          <a:prstGeom prst="rect">
            <a:avLst/>
          </a:prstGeom>
          <a:solidFill>
            <a:srgbClr val="263746"/>
          </a:solidFill>
          <a:ln w="12700">
            <a:solidFill>
              <a:srgbClr val="26374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4" name="TextBox 7"/>
          <p:cNvSpPr/>
          <p:nvPr/>
        </p:nvSpPr>
        <p:spPr>
          <a:xfrm>
            <a:off x="649080" y="1728360"/>
            <a:ext cx="19472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链路</a:t>
            </a:r>
            <a:r>
              <a:rPr b="1" lang="en-US" sz="1050" spc="-1" strike="noStrike">
                <a:solidFill>
                  <a:srgbClr val="ffffff"/>
                </a:solidFill>
                <a:latin typeface="Noto Sans CJK SC"/>
              </a:rPr>
              <a:t>/</a:t>
            </a: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模块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Rectangle 8"/>
          <p:cNvSpPr/>
          <p:nvPr/>
        </p:nvSpPr>
        <p:spPr>
          <a:xfrm>
            <a:off x="2743200" y="1600200"/>
            <a:ext cx="2285640" cy="475200"/>
          </a:xfrm>
          <a:prstGeom prst="rect">
            <a:avLst/>
          </a:prstGeom>
          <a:solidFill>
            <a:srgbClr val="263746"/>
          </a:solidFill>
          <a:ln w="12700">
            <a:solidFill>
              <a:srgbClr val="26374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6" name="TextBox 9"/>
          <p:cNvSpPr/>
          <p:nvPr/>
        </p:nvSpPr>
        <p:spPr>
          <a:xfrm>
            <a:off x="2797920" y="1728360"/>
            <a:ext cx="21758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结构化数据预算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Rectangle 10"/>
          <p:cNvSpPr/>
          <p:nvPr/>
        </p:nvSpPr>
        <p:spPr>
          <a:xfrm>
            <a:off x="5120640" y="1600200"/>
            <a:ext cx="3245760" cy="475200"/>
          </a:xfrm>
          <a:prstGeom prst="rect">
            <a:avLst/>
          </a:prstGeom>
          <a:solidFill>
            <a:srgbClr val="263746"/>
          </a:solidFill>
          <a:ln w="12700">
            <a:solidFill>
              <a:srgbClr val="26374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8" name="TextBox 11"/>
          <p:cNvSpPr/>
          <p:nvPr/>
        </p:nvSpPr>
        <p:spPr>
          <a:xfrm>
            <a:off x="5175360" y="1728360"/>
            <a:ext cx="313596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工程建议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Rectangle 12"/>
          <p:cNvSpPr/>
          <p:nvPr/>
        </p:nvSpPr>
        <p:spPr>
          <a:xfrm>
            <a:off x="8458200" y="1600200"/>
            <a:ext cx="3154320" cy="475200"/>
          </a:xfrm>
          <a:prstGeom prst="rect">
            <a:avLst/>
          </a:prstGeom>
          <a:solidFill>
            <a:srgbClr val="263746"/>
          </a:solidFill>
          <a:ln w="12700">
            <a:solidFill>
              <a:srgbClr val="26374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TextBox 13"/>
          <p:cNvSpPr/>
          <p:nvPr/>
        </p:nvSpPr>
        <p:spPr>
          <a:xfrm>
            <a:off x="8512920" y="1728360"/>
            <a:ext cx="30445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时延</a:t>
            </a:r>
            <a:r>
              <a:rPr b="1" lang="en-US" sz="1050" spc="-1" strike="noStrike">
                <a:solidFill>
                  <a:srgbClr val="ffffff"/>
                </a:solidFill>
                <a:latin typeface="Noto Sans CJK SC"/>
              </a:rPr>
              <a:t>/</a:t>
            </a: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响应要求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Rectangle 14"/>
          <p:cNvSpPr/>
          <p:nvPr/>
        </p:nvSpPr>
        <p:spPr>
          <a:xfrm>
            <a:off x="594360" y="2094120"/>
            <a:ext cx="20570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2" name="TextBox 15"/>
          <p:cNvSpPr/>
          <p:nvPr/>
        </p:nvSpPr>
        <p:spPr>
          <a:xfrm>
            <a:off x="658440" y="2212920"/>
            <a:ext cx="19288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80" spc="-1" strike="noStrike">
                <a:solidFill>
                  <a:srgbClr val="1c2733"/>
                </a:solidFill>
                <a:latin typeface="Noto Sans CJK SC"/>
              </a:rPr>
              <a:t>C2—</a:t>
            </a:r>
            <a:r>
              <a:rPr b="1" lang="zh-CN" sz="980" spc="-1" strike="noStrike">
                <a:solidFill>
                  <a:srgbClr val="1c2733"/>
                </a:solidFill>
                <a:latin typeface="Noto Sans CJK SC"/>
              </a:rPr>
              <a:t>雷达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Rectangle 16"/>
          <p:cNvSpPr/>
          <p:nvPr/>
        </p:nvSpPr>
        <p:spPr>
          <a:xfrm>
            <a:off x="2743200" y="2094120"/>
            <a:ext cx="22856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4" name="TextBox 17"/>
          <p:cNvSpPr/>
          <p:nvPr/>
        </p:nvSpPr>
        <p:spPr>
          <a:xfrm>
            <a:off x="2807280" y="2212920"/>
            <a:ext cx="21574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&lt;10 Mbps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Rectangle 18"/>
          <p:cNvSpPr/>
          <p:nvPr/>
        </p:nvSpPr>
        <p:spPr>
          <a:xfrm>
            <a:off x="5120640" y="2094120"/>
            <a:ext cx="324576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6" name="TextBox 19"/>
          <p:cNvSpPr/>
          <p:nvPr/>
        </p:nvSpPr>
        <p:spPr>
          <a:xfrm>
            <a:off x="5184720" y="2212920"/>
            <a:ext cx="311760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1 GbE/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专线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+ 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时间同步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Rectangle 20"/>
          <p:cNvSpPr/>
          <p:nvPr/>
        </p:nvSpPr>
        <p:spPr>
          <a:xfrm>
            <a:off x="8458200" y="2094120"/>
            <a:ext cx="315432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8" name="TextBox 21"/>
          <p:cNvSpPr/>
          <p:nvPr/>
        </p:nvSpPr>
        <p:spPr>
          <a:xfrm>
            <a:off x="8522280" y="2212920"/>
            <a:ext cx="302616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雷达端到端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&lt;100-200 ms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Rectangle 22"/>
          <p:cNvSpPr/>
          <p:nvPr/>
        </p:nvSpPr>
        <p:spPr>
          <a:xfrm>
            <a:off x="594360" y="261504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0" name="TextBox 23"/>
          <p:cNvSpPr/>
          <p:nvPr/>
        </p:nvSpPr>
        <p:spPr>
          <a:xfrm>
            <a:off x="658440" y="2734200"/>
            <a:ext cx="19288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C2—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二级节点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Rectangle 24"/>
          <p:cNvSpPr/>
          <p:nvPr/>
        </p:nvSpPr>
        <p:spPr>
          <a:xfrm>
            <a:off x="2743200" y="2615040"/>
            <a:ext cx="22856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2" name="TextBox 25"/>
          <p:cNvSpPr/>
          <p:nvPr/>
        </p:nvSpPr>
        <p:spPr>
          <a:xfrm>
            <a:off x="2807280" y="2734200"/>
            <a:ext cx="21574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1-10 Mbps metadata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Rectangle 26"/>
          <p:cNvSpPr/>
          <p:nvPr/>
        </p:nvSpPr>
        <p:spPr>
          <a:xfrm>
            <a:off x="5120640" y="2615040"/>
            <a:ext cx="324576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4" name="TextBox 27"/>
          <p:cNvSpPr/>
          <p:nvPr/>
        </p:nvSpPr>
        <p:spPr>
          <a:xfrm>
            <a:off x="5184720" y="2734200"/>
            <a:ext cx="311760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系留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100 Mbps + 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无线备份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Rectangle 28"/>
          <p:cNvSpPr/>
          <p:nvPr/>
        </p:nvSpPr>
        <p:spPr>
          <a:xfrm>
            <a:off x="8458200" y="2615040"/>
            <a:ext cx="315432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TextBox 29"/>
          <p:cNvSpPr/>
          <p:nvPr/>
        </p:nvSpPr>
        <p:spPr>
          <a:xfrm>
            <a:off x="8522280" y="2734200"/>
            <a:ext cx="302616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heartbeat stale 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约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2 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Rectangle 30"/>
          <p:cNvSpPr/>
          <p:nvPr/>
        </p:nvSpPr>
        <p:spPr>
          <a:xfrm>
            <a:off x="594360" y="3136320"/>
            <a:ext cx="20570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8" name="TextBox 31"/>
          <p:cNvSpPr/>
          <p:nvPr/>
        </p:nvSpPr>
        <p:spPr>
          <a:xfrm>
            <a:off x="658440" y="3255120"/>
            <a:ext cx="19288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二级—拦截机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Rectangle 32"/>
          <p:cNvSpPr/>
          <p:nvPr/>
        </p:nvSpPr>
        <p:spPr>
          <a:xfrm>
            <a:off x="2743200" y="3136320"/>
            <a:ext cx="22856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0" name="TextBox 33"/>
          <p:cNvSpPr/>
          <p:nvPr/>
        </p:nvSpPr>
        <p:spPr>
          <a:xfrm>
            <a:off x="2807280" y="3255120"/>
            <a:ext cx="21574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1-10 Mbps metadata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Rectangle 34"/>
          <p:cNvSpPr/>
          <p:nvPr/>
        </p:nvSpPr>
        <p:spPr>
          <a:xfrm>
            <a:off x="5120640" y="3136320"/>
            <a:ext cx="324576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2" name="TextBox 35"/>
          <p:cNvSpPr/>
          <p:nvPr/>
        </p:nvSpPr>
        <p:spPr>
          <a:xfrm>
            <a:off x="5184720" y="3255120"/>
            <a:ext cx="311760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10-100 Mbps MANET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；视频定向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Rectangle 36"/>
          <p:cNvSpPr/>
          <p:nvPr/>
        </p:nvSpPr>
        <p:spPr>
          <a:xfrm>
            <a:off x="8458200" y="3136320"/>
            <a:ext cx="315432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4" name="TextBox 37"/>
          <p:cNvSpPr/>
          <p:nvPr/>
        </p:nvSpPr>
        <p:spPr>
          <a:xfrm>
            <a:off x="8522280" y="3255120"/>
            <a:ext cx="302616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跨相机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skew &lt;50-100 ms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Rectangle 38"/>
          <p:cNvSpPr/>
          <p:nvPr/>
        </p:nvSpPr>
        <p:spPr>
          <a:xfrm>
            <a:off x="594360" y="365760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6" name="TextBox 39"/>
          <p:cNvSpPr/>
          <p:nvPr/>
        </p:nvSpPr>
        <p:spPr>
          <a:xfrm>
            <a:off x="658440" y="3776400"/>
            <a:ext cx="19288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C2—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拦截机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Rectangle 40"/>
          <p:cNvSpPr/>
          <p:nvPr/>
        </p:nvSpPr>
        <p:spPr>
          <a:xfrm>
            <a:off x="2743200" y="3657600"/>
            <a:ext cx="22856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8" name="TextBox 41"/>
          <p:cNvSpPr/>
          <p:nvPr/>
        </p:nvSpPr>
        <p:spPr>
          <a:xfrm>
            <a:off x="2807280" y="3776400"/>
            <a:ext cx="21574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0.5-2 Mbps/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架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Rectangle 42"/>
          <p:cNvSpPr/>
          <p:nvPr/>
        </p:nvSpPr>
        <p:spPr>
          <a:xfrm>
            <a:off x="5120640" y="3657600"/>
            <a:ext cx="324576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TextBox 43"/>
          <p:cNvSpPr/>
          <p:nvPr/>
        </p:nvSpPr>
        <p:spPr>
          <a:xfrm>
            <a:off x="5184720" y="3776400"/>
            <a:ext cx="311760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控制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/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状态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QoS 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高于视频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Rectangle 44"/>
          <p:cNvSpPr/>
          <p:nvPr/>
        </p:nvSpPr>
        <p:spPr>
          <a:xfrm>
            <a:off x="8458200" y="3657600"/>
            <a:ext cx="315432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2" name="TextBox 45"/>
          <p:cNvSpPr/>
          <p:nvPr/>
        </p:nvSpPr>
        <p:spPr>
          <a:xfrm>
            <a:off x="8522280" y="3776400"/>
            <a:ext cx="302616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计划与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bbox &lt;100-200 ms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Rectangle 46"/>
          <p:cNvSpPr/>
          <p:nvPr/>
        </p:nvSpPr>
        <p:spPr>
          <a:xfrm>
            <a:off x="594360" y="4178880"/>
            <a:ext cx="20570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4" name="TextBox 47"/>
          <p:cNvSpPr/>
          <p:nvPr/>
        </p:nvSpPr>
        <p:spPr>
          <a:xfrm>
            <a:off x="658440" y="4297680"/>
            <a:ext cx="19288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拦截机—拦截机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Rectangle 48"/>
          <p:cNvSpPr/>
          <p:nvPr/>
        </p:nvSpPr>
        <p:spPr>
          <a:xfrm>
            <a:off x="2743200" y="4178880"/>
            <a:ext cx="22856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6" name="TextBox 49"/>
          <p:cNvSpPr/>
          <p:nvPr/>
        </p:nvSpPr>
        <p:spPr>
          <a:xfrm>
            <a:off x="2807280" y="4297680"/>
            <a:ext cx="21574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0.1-1 Mbps/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架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Rectangle 50"/>
          <p:cNvSpPr/>
          <p:nvPr/>
        </p:nvSpPr>
        <p:spPr>
          <a:xfrm>
            <a:off x="5120640" y="4178880"/>
            <a:ext cx="324576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8" name="TextBox 51"/>
          <p:cNvSpPr/>
          <p:nvPr/>
        </p:nvSpPr>
        <p:spPr>
          <a:xfrm>
            <a:off x="5184720" y="4297680"/>
            <a:ext cx="311760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低时延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MANET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；丢包可观测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Rectangle 52"/>
          <p:cNvSpPr/>
          <p:nvPr/>
        </p:nvSpPr>
        <p:spPr>
          <a:xfrm>
            <a:off x="8458200" y="4178880"/>
            <a:ext cx="315432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0" name="TextBox 53"/>
          <p:cNvSpPr/>
          <p:nvPr/>
        </p:nvSpPr>
        <p:spPr>
          <a:xfrm>
            <a:off x="8522280" y="4297680"/>
            <a:ext cx="302616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CBBA round 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约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0.5 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Rectangle 54"/>
          <p:cNvSpPr/>
          <p:nvPr/>
        </p:nvSpPr>
        <p:spPr>
          <a:xfrm>
            <a:off x="594360" y="470016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2" name="TextBox 55"/>
          <p:cNvSpPr/>
          <p:nvPr/>
        </p:nvSpPr>
        <p:spPr>
          <a:xfrm>
            <a:off x="658440" y="4818960"/>
            <a:ext cx="19288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D7 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单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pair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Rectangle 56"/>
          <p:cNvSpPr/>
          <p:nvPr/>
        </p:nvSpPr>
        <p:spPr>
          <a:xfrm>
            <a:off x="2743200" y="4700160"/>
            <a:ext cx="22856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4" name="TextBox 57"/>
          <p:cNvSpPr/>
          <p:nvPr/>
        </p:nvSpPr>
        <p:spPr>
          <a:xfrm>
            <a:off x="2807280" y="4818960"/>
            <a:ext cx="21574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20-50 kB/s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Rectangle 58"/>
          <p:cNvSpPr/>
          <p:nvPr/>
        </p:nvSpPr>
        <p:spPr>
          <a:xfrm>
            <a:off x="5120640" y="4700160"/>
            <a:ext cx="324576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6" name="TextBox 59"/>
          <p:cNvSpPr/>
          <p:nvPr/>
        </p:nvSpPr>
        <p:spPr>
          <a:xfrm>
            <a:off x="5184720" y="4818960"/>
            <a:ext cx="311760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只传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Track/Plan/bbox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，不传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PNG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Rectangle 60"/>
          <p:cNvSpPr/>
          <p:nvPr/>
        </p:nvSpPr>
        <p:spPr>
          <a:xfrm>
            <a:off x="8458200" y="4700160"/>
            <a:ext cx="315432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8" name="TextBox 61"/>
          <p:cNvSpPr/>
          <p:nvPr/>
        </p:nvSpPr>
        <p:spPr>
          <a:xfrm>
            <a:off x="8522280" y="4818960"/>
            <a:ext cx="302616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单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pair 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计算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&lt;5 ms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；上限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0.35 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Rectangle 62"/>
          <p:cNvSpPr/>
          <p:nvPr/>
        </p:nvSpPr>
        <p:spPr>
          <a:xfrm>
            <a:off x="594360" y="5221080"/>
            <a:ext cx="20570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0" name="TextBox 63"/>
          <p:cNvSpPr/>
          <p:nvPr/>
        </p:nvSpPr>
        <p:spPr>
          <a:xfrm>
            <a:off x="658440" y="5340240"/>
            <a:ext cx="19288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视频 </a:t>
            </a: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cue / replay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Rectangle 64"/>
          <p:cNvSpPr/>
          <p:nvPr/>
        </p:nvSpPr>
        <p:spPr>
          <a:xfrm>
            <a:off x="2743200" y="5221080"/>
            <a:ext cx="22856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2" name="TextBox 65"/>
          <p:cNvSpPr/>
          <p:nvPr/>
        </p:nvSpPr>
        <p:spPr>
          <a:xfrm>
            <a:off x="2807280" y="5340240"/>
            <a:ext cx="215748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80" spc="-1" strike="noStrike">
                <a:solidFill>
                  <a:srgbClr val="1c2733"/>
                </a:solidFill>
                <a:latin typeface="Noto Sans CJK SC"/>
              </a:rPr>
              <a:t>5-50 Mbps/</a:t>
            </a: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路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Rectangle 66"/>
          <p:cNvSpPr/>
          <p:nvPr/>
        </p:nvSpPr>
        <p:spPr>
          <a:xfrm>
            <a:off x="5120640" y="5221080"/>
            <a:ext cx="324576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4" name="TextBox 67"/>
          <p:cNvSpPr/>
          <p:nvPr/>
        </p:nvSpPr>
        <p:spPr>
          <a:xfrm>
            <a:off x="5184720" y="5340240"/>
            <a:ext cx="311760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局部回传或离线保存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Rectangle 68"/>
          <p:cNvSpPr/>
          <p:nvPr/>
        </p:nvSpPr>
        <p:spPr>
          <a:xfrm>
            <a:off x="8458200" y="5221080"/>
            <a:ext cx="315432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6" name="TextBox 69"/>
          <p:cNvSpPr/>
          <p:nvPr/>
        </p:nvSpPr>
        <p:spPr>
          <a:xfrm>
            <a:off x="8522280" y="5340240"/>
            <a:ext cx="302616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80" spc="-1" strike="noStrike">
                <a:solidFill>
                  <a:srgbClr val="1c2733"/>
                </a:solidFill>
                <a:latin typeface="Noto Sans CJK SC"/>
              </a:rPr>
              <a:t>不进入控制安全链路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Rectangle 70"/>
          <p:cNvSpPr/>
          <p:nvPr/>
        </p:nvSpPr>
        <p:spPr>
          <a:xfrm>
            <a:off x="731520" y="5925240"/>
            <a:ext cx="10698120" cy="502560"/>
          </a:xfrm>
          <a:prstGeom prst="rect">
            <a:avLst/>
          </a:prstGeom>
          <a:solidFill>
            <a:srgbClr val="f5f0e6"/>
          </a:solidFill>
          <a:ln w="12700">
            <a:solidFill>
              <a:srgbClr val="a974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8" name="TextBox 71"/>
          <p:cNvSpPr/>
          <p:nvPr/>
        </p:nvSpPr>
        <p:spPr>
          <a:xfrm>
            <a:off x="960120" y="6062400"/>
            <a:ext cx="1019520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250" spc="-1" strike="noStrike">
                <a:solidFill>
                  <a:srgbClr val="1c2733"/>
                </a:solidFill>
                <a:latin typeface="Noto Sans CJK SC"/>
              </a:rPr>
              <a:t>带宽设计原则：控制与安全状态优先，态势元数据持续传输，多路视频不得默认全网广播。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Rectangle 72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0" name="TextBox 73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TextBox 74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27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6374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3" name="TextBox 2"/>
          <p:cNvSpPr/>
          <p:nvPr/>
        </p:nvSpPr>
        <p:spPr>
          <a:xfrm>
            <a:off x="502920" y="246960"/>
            <a:ext cx="255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315b82"/>
                </a:solidFill>
                <a:latin typeface="Noto Sans CJK SC"/>
              </a:rPr>
              <a:t>MSM C-UAS · </a:t>
            </a:r>
            <a:r>
              <a:rPr b="1" lang="zh-CN" sz="920" spc="-1" strike="noStrike">
                <a:solidFill>
                  <a:srgbClr val="315b82"/>
                </a:solidFill>
                <a:latin typeface="Noto Sans CJK SC"/>
              </a:rPr>
              <a:t>阶段技术汇报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Box 3"/>
          <p:cNvSpPr/>
          <p:nvPr/>
        </p:nvSpPr>
        <p:spPr>
          <a:xfrm>
            <a:off x="502920" y="511920"/>
            <a:ext cx="110638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附录 </a:t>
            </a:r>
            <a:r>
              <a:rPr b="1" lang="en-US" sz="2500" spc="-1" strike="noStrike">
                <a:solidFill>
                  <a:srgbClr val="1c2733"/>
                </a:solidFill>
                <a:latin typeface="Noto Sans CJK SC"/>
              </a:rPr>
              <a:t>C</a:t>
            </a:r>
            <a:r>
              <a:rPr b="1" lang="zh-CN" sz="2500" spc="-1" strike="noStrike">
                <a:solidFill>
                  <a:srgbClr val="1c2733"/>
                </a:solidFill>
                <a:latin typeface="Noto Sans CJK SC"/>
              </a:rPr>
              <a:t>：关键部件选型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4"/>
          <p:cNvSpPr/>
          <p:nvPr/>
        </p:nvSpPr>
        <p:spPr>
          <a:xfrm>
            <a:off x="530280" y="978480"/>
            <a:ext cx="1088100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zh-CN" sz="1150" spc="-1" strike="noStrike">
                <a:solidFill>
                  <a:srgbClr val="596673"/>
                </a:solidFill>
                <a:latin typeface="Noto Sans CJK SC"/>
              </a:rPr>
              <a:t>参考公开产品能力与市场资料；具体型号、价格和合规条件需在样机阶段询价确认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Rectangle 5"/>
          <p:cNvSpPr/>
          <p:nvPr/>
        </p:nvSpPr>
        <p:spPr>
          <a:xfrm>
            <a:off x="502920" y="1307520"/>
            <a:ext cx="594000" cy="45360"/>
          </a:xfrm>
          <a:prstGeom prst="rect">
            <a:avLst/>
          </a:prstGeom>
          <a:solidFill>
            <a:srgbClr val="a83b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7" name="Rectangle 6"/>
          <p:cNvSpPr/>
          <p:nvPr/>
        </p:nvSpPr>
        <p:spPr>
          <a:xfrm>
            <a:off x="594360" y="1600200"/>
            <a:ext cx="1737000" cy="475200"/>
          </a:xfrm>
          <a:prstGeom prst="rect">
            <a:avLst/>
          </a:prstGeom>
          <a:solidFill>
            <a:srgbClr val="263746"/>
          </a:solidFill>
          <a:ln w="12700">
            <a:solidFill>
              <a:srgbClr val="26374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8" name="TextBox 7"/>
          <p:cNvSpPr/>
          <p:nvPr/>
        </p:nvSpPr>
        <p:spPr>
          <a:xfrm>
            <a:off x="649080" y="1728360"/>
            <a:ext cx="162720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系统层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Rectangle 8"/>
          <p:cNvSpPr/>
          <p:nvPr/>
        </p:nvSpPr>
        <p:spPr>
          <a:xfrm>
            <a:off x="2423160" y="1600200"/>
            <a:ext cx="6400440" cy="475200"/>
          </a:xfrm>
          <a:prstGeom prst="rect">
            <a:avLst/>
          </a:prstGeom>
          <a:solidFill>
            <a:srgbClr val="263746"/>
          </a:solidFill>
          <a:ln w="12700">
            <a:solidFill>
              <a:srgbClr val="26374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0" name="TextBox 9"/>
          <p:cNvSpPr/>
          <p:nvPr/>
        </p:nvSpPr>
        <p:spPr>
          <a:xfrm>
            <a:off x="2477880" y="1728360"/>
            <a:ext cx="62906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建议配置</a:t>
            </a:r>
            <a:r>
              <a:rPr b="1" lang="en-US" sz="1050" spc="-1" strike="noStrike">
                <a:solidFill>
                  <a:srgbClr val="ffffff"/>
                </a:solidFill>
                <a:latin typeface="Noto Sans CJK SC"/>
              </a:rPr>
              <a:t>/</a:t>
            </a: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参考产品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TextBox 11"/>
          <p:cNvSpPr/>
          <p:nvPr/>
        </p:nvSpPr>
        <p:spPr>
          <a:xfrm>
            <a:off x="8970120" y="1728360"/>
            <a:ext cx="254160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1050" spc="-1" strike="noStrike">
                <a:solidFill>
                  <a:srgbClr val="ffffff"/>
                </a:solidFill>
                <a:latin typeface="Noto Sans CJK SC"/>
              </a:rPr>
              <a:t>预算级成本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Rectangle 12"/>
          <p:cNvSpPr/>
          <p:nvPr/>
        </p:nvSpPr>
        <p:spPr>
          <a:xfrm>
            <a:off x="594360" y="2094120"/>
            <a:ext cx="173700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3" name="TextBox 13"/>
          <p:cNvSpPr/>
          <p:nvPr/>
        </p:nvSpPr>
        <p:spPr>
          <a:xfrm>
            <a:off x="658440" y="2203560"/>
            <a:ext cx="1608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1c2733"/>
                </a:solidFill>
                <a:latin typeface="Noto Sans CJK SC"/>
              </a:rPr>
              <a:t>中心 </a:t>
            </a:r>
            <a:r>
              <a:rPr b="1" lang="en-US" sz="950" spc="-1" strike="noStrike">
                <a:solidFill>
                  <a:srgbClr val="1c2733"/>
                </a:solidFill>
                <a:latin typeface="Noto Sans CJK SC"/>
              </a:rPr>
              <a:t>C2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Rectangle 14"/>
          <p:cNvSpPr/>
          <p:nvPr/>
        </p:nvSpPr>
        <p:spPr>
          <a:xfrm>
            <a:off x="2423160" y="2094120"/>
            <a:ext cx="64004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5" name="TextBox 15"/>
          <p:cNvSpPr/>
          <p:nvPr/>
        </p:nvSpPr>
        <p:spPr>
          <a:xfrm>
            <a:off x="2487240" y="2203560"/>
            <a:ext cx="6272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16-32 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核、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64-128 GB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、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4-8 TB NVMe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、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L4/RTX 6000 Ada 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级 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GPU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Rectangle 18"/>
          <p:cNvSpPr/>
          <p:nvPr/>
        </p:nvSpPr>
        <p:spPr>
          <a:xfrm>
            <a:off x="594360" y="2615040"/>
            <a:ext cx="173700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7" name="TextBox 19"/>
          <p:cNvSpPr/>
          <p:nvPr/>
        </p:nvSpPr>
        <p:spPr>
          <a:xfrm>
            <a:off x="658440" y="2724840"/>
            <a:ext cx="1608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1c2733"/>
                </a:solidFill>
                <a:latin typeface="Noto Sans CJK SC"/>
              </a:rPr>
              <a:t>主雷达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Rectangle 20"/>
          <p:cNvSpPr/>
          <p:nvPr/>
        </p:nvSpPr>
        <p:spPr>
          <a:xfrm>
            <a:off x="2423160" y="2615040"/>
            <a:ext cx="64004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9" name="TextBox 21"/>
          <p:cNvSpPr/>
          <p:nvPr/>
        </p:nvSpPr>
        <p:spPr>
          <a:xfrm>
            <a:off x="2487240" y="2724840"/>
            <a:ext cx="6272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EchoShield/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同级 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4D C-UAS 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雷达；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10 Hz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、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0.5 deg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、带协方差航迹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Rectangle 24"/>
          <p:cNvSpPr/>
          <p:nvPr/>
        </p:nvSpPr>
        <p:spPr>
          <a:xfrm>
            <a:off x="594360" y="3136320"/>
            <a:ext cx="173700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1" name="TextBox 25"/>
          <p:cNvSpPr/>
          <p:nvPr/>
        </p:nvSpPr>
        <p:spPr>
          <a:xfrm>
            <a:off x="658440" y="3246120"/>
            <a:ext cx="1608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1c2733"/>
                </a:solidFill>
                <a:latin typeface="Noto Sans CJK SC"/>
              </a:rPr>
              <a:t>二级侦察平台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Rectangle 26"/>
          <p:cNvSpPr/>
          <p:nvPr/>
        </p:nvSpPr>
        <p:spPr>
          <a:xfrm>
            <a:off x="2423160" y="3136320"/>
            <a:ext cx="64004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3" name="TextBox 27"/>
          <p:cNvSpPr/>
          <p:nvPr/>
        </p:nvSpPr>
        <p:spPr>
          <a:xfrm>
            <a:off x="2487240" y="3246120"/>
            <a:ext cx="6272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机动高空平台为当前主线；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Elistair Orion 2.2 TE/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同级作为长期值守备选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Rectangle 30"/>
          <p:cNvSpPr/>
          <p:nvPr/>
        </p:nvSpPr>
        <p:spPr>
          <a:xfrm>
            <a:off x="594360" y="3657600"/>
            <a:ext cx="173700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5" name="TextBox 31"/>
          <p:cNvSpPr/>
          <p:nvPr/>
        </p:nvSpPr>
        <p:spPr>
          <a:xfrm>
            <a:off x="658440" y="3767400"/>
            <a:ext cx="1608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1c2733"/>
                </a:solidFill>
                <a:latin typeface="Noto Sans CJK SC"/>
              </a:rPr>
              <a:t>二级 </a:t>
            </a:r>
            <a:r>
              <a:rPr b="1" lang="en-US" sz="950" spc="-1" strike="noStrike">
                <a:solidFill>
                  <a:srgbClr val="1c2733"/>
                </a:solidFill>
                <a:latin typeface="Noto Sans CJK SC"/>
              </a:rPr>
              <a:t>EO/IR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ectangle 32"/>
          <p:cNvSpPr/>
          <p:nvPr/>
        </p:nvSpPr>
        <p:spPr>
          <a:xfrm>
            <a:off x="2423160" y="3657600"/>
            <a:ext cx="64004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7" name="TextBox 33"/>
          <p:cNvSpPr/>
          <p:nvPr/>
        </p:nvSpPr>
        <p:spPr>
          <a:xfrm>
            <a:off x="2487240" y="3767400"/>
            <a:ext cx="6272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DJI H30T 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级或更高端 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ISR 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吊舱；高分辨率 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EO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、热成像、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LRF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Rectangle 36"/>
          <p:cNvSpPr/>
          <p:nvPr/>
        </p:nvSpPr>
        <p:spPr>
          <a:xfrm>
            <a:off x="594360" y="4178880"/>
            <a:ext cx="173700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9" name="TextBox 37"/>
          <p:cNvSpPr/>
          <p:nvPr/>
        </p:nvSpPr>
        <p:spPr>
          <a:xfrm>
            <a:off x="658440" y="4288680"/>
            <a:ext cx="1608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1c2733"/>
                </a:solidFill>
                <a:latin typeface="Noto Sans CJK SC"/>
              </a:rPr>
              <a:t>拦截无人机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Rectangle 38"/>
          <p:cNvSpPr/>
          <p:nvPr/>
        </p:nvSpPr>
        <p:spPr>
          <a:xfrm>
            <a:off x="2423160" y="4178880"/>
            <a:ext cx="64004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1" name="TextBox 39"/>
          <p:cNvSpPr/>
          <p:nvPr/>
        </p:nvSpPr>
        <p:spPr>
          <a:xfrm>
            <a:off x="2487240" y="4288680"/>
            <a:ext cx="6272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Pixhawk 6X/PX4 + Orin Nano/NX + 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全局快门相机 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+ MANET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ectangle 42"/>
          <p:cNvSpPr/>
          <p:nvPr/>
        </p:nvSpPr>
        <p:spPr>
          <a:xfrm>
            <a:off x="594360" y="4700160"/>
            <a:ext cx="173700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3" name="TextBox 43"/>
          <p:cNvSpPr/>
          <p:nvPr/>
        </p:nvSpPr>
        <p:spPr>
          <a:xfrm>
            <a:off x="658440" y="4809600"/>
            <a:ext cx="1608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1c2733"/>
                </a:solidFill>
                <a:latin typeface="Noto Sans CJK SC"/>
              </a:rPr>
              <a:t>MANET </a:t>
            </a:r>
            <a:r>
              <a:rPr b="1" lang="zh-CN" sz="950" spc="-1" strike="noStrike">
                <a:solidFill>
                  <a:srgbClr val="1c2733"/>
                </a:solidFill>
                <a:latin typeface="Noto Sans CJK SC"/>
              </a:rPr>
              <a:t>节点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Rectangle 44"/>
          <p:cNvSpPr/>
          <p:nvPr/>
        </p:nvSpPr>
        <p:spPr>
          <a:xfrm>
            <a:off x="2423160" y="4700160"/>
            <a:ext cx="64004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5" name="TextBox 45"/>
          <p:cNvSpPr/>
          <p:nvPr/>
        </p:nvSpPr>
        <p:spPr>
          <a:xfrm>
            <a:off x="2487240" y="4809600"/>
            <a:ext cx="6272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Doodle Labs / Silvus / Microhard 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等；</a:t>
            </a: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metadata 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优先，视频定向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Rectangle 48"/>
          <p:cNvSpPr/>
          <p:nvPr/>
        </p:nvSpPr>
        <p:spPr>
          <a:xfrm>
            <a:off x="594360" y="5221080"/>
            <a:ext cx="173700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7" name="TextBox 49"/>
          <p:cNvSpPr/>
          <p:nvPr/>
        </p:nvSpPr>
        <p:spPr>
          <a:xfrm>
            <a:off x="658440" y="5330880"/>
            <a:ext cx="1608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zh-CN" sz="950" spc="-1" strike="noStrike">
                <a:solidFill>
                  <a:srgbClr val="1c2733"/>
                </a:solidFill>
                <a:latin typeface="Noto Sans CJK SC"/>
              </a:rPr>
              <a:t>时间同步</a:t>
            </a:r>
            <a:r>
              <a:rPr b="1" lang="en-US" sz="950" spc="-1" strike="noStrike">
                <a:solidFill>
                  <a:srgbClr val="1c2733"/>
                </a:solidFill>
                <a:latin typeface="Noto Sans CJK SC"/>
              </a:rPr>
              <a:t>/</a:t>
            </a:r>
            <a:r>
              <a:rPr b="1" lang="zh-CN" sz="950" spc="-1" strike="noStrike">
                <a:solidFill>
                  <a:srgbClr val="1c2733"/>
                </a:solidFill>
                <a:latin typeface="Noto Sans CJK SC"/>
              </a:rPr>
              <a:t>标定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Rectangle 50"/>
          <p:cNvSpPr/>
          <p:nvPr/>
        </p:nvSpPr>
        <p:spPr>
          <a:xfrm>
            <a:off x="2423160" y="5221080"/>
            <a:ext cx="6400440" cy="475200"/>
          </a:xfrm>
          <a:prstGeom prst="rect">
            <a:avLst/>
          </a:prstGeom>
          <a:solidFill>
            <a:srgbClr val="f2f4f6"/>
          </a:solidFill>
          <a:ln w="6350">
            <a:solidFill>
              <a:srgbClr val="c8d0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9" name="TextBox 51"/>
          <p:cNvSpPr/>
          <p:nvPr/>
        </p:nvSpPr>
        <p:spPr>
          <a:xfrm>
            <a:off x="2487240" y="5330880"/>
            <a:ext cx="6272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c2733"/>
                </a:solidFill>
                <a:latin typeface="Noto Sans CJK SC"/>
              </a:rPr>
              <a:t>PTP/GNSS disciplined clock</a:t>
            </a:r>
            <a:r>
              <a:rPr b="0" lang="zh-CN" sz="950" spc="-1" strike="noStrike">
                <a:solidFill>
                  <a:srgbClr val="1c2733"/>
                </a:solidFill>
                <a:latin typeface="Noto Sans CJK SC"/>
              </a:rPr>
              <a:t>；相机内外参与多节点时间基准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Rectangle 58"/>
          <p:cNvSpPr/>
          <p:nvPr/>
        </p:nvSpPr>
        <p:spPr>
          <a:xfrm>
            <a:off x="502920" y="6473880"/>
            <a:ext cx="11109600" cy="864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1" name="TextBox 59"/>
          <p:cNvSpPr/>
          <p:nvPr/>
        </p:nvSpPr>
        <p:spPr>
          <a:xfrm>
            <a:off x="502920" y="6565320"/>
            <a:ext cx="38401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96673"/>
                </a:solidFill>
                <a:latin typeface="Noto Sans CJK SC"/>
              </a:rPr>
              <a:t>MSM C-UAS · </a:t>
            </a:r>
            <a:r>
              <a:rPr b="0" lang="zh-CN" sz="850" spc="-1" strike="noStrike">
                <a:solidFill>
                  <a:srgbClr val="596673"/>
                </a:solidFill>
                <a:latin typeface="Noto Sans CJK SC"/>
              </a:rPr>
              <a:t>阶段技术汇报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TextBox 60"/>
          <p:cNvSpPr/>
          <p:nvPr/>
        </p:nvSpPr>
        <p:spPr>
          <a:xfrm>
            <a:off x="11064240" y="6546960"/>
            <a:ext cx="566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27360" bIns="27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596673"/>
                </a:solidFill>
                <a:latin typeface="Noto Sans CJK SC"/>
              </a:rPr>
              <a:t>28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2026-07-11T19:22:07Z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